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ac0f47304d480c" /><Relationship Type="http://schemas.openxmlformats.org/officeDocument/2006/relationships/extended-properties" Target="/docProps/app.xml" Id="R963e945441514938" /><Relationship Type="http://schemas.openxmlformats.org/officeDocument/2006/relationships/officeDocument" Target="/ppt/presentation.xml" Id="R0c88d513b05c48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61bb5e5b4e4a78"/>
  </p:sldMasterIdLst>
  <p:notesMasterIdLst>
    <p:notesMasterId xmlns:r="http://schemas.openxmlformats.org/officeDocument/2006/relationships" r:id="Rc5ea36b51ff84776"/>
  </p:notesMasterIdLst>
  <p:sldIdLst>
    <p:sldId xmlns:r="http://schemas.openxmlformats.org/officeDocument/2006/relationships" id="256" r:id="R44f70094947f4060"/>
    <p:sldId xmlns:r="http://schemas.openxmlformats.org/officeDocument/2006/relationships" id="257" r:id="R64b28715cecb4583"/>
    <p:sldId xmlns:r="http://schemas.openxmlformats.org/officeDocument/2006/relationships" id="258" r:id="R331de17e583546ef"/>
    <p:sldId xmlns:r="http://schemas.openxmlformats.org/officeDocument/2006/relationships" id="259" r:id="Rd83027f62ee44457"/>
    <p:sldId xmlns:r="http://schemas.openxmlformats.org/officeDocument/2006/relationships" id="260" r:id="R091f1c3a9cb742de"/>
    <p:sldId xmlns:r="http://schemas.openxmlformats.org/officeDocument/2006/relationships" id="261" r:id="R66947c78829544e7"/>
    <p:sldId xmlns:r="http://schemas.openxmlformats.org/officeDocument/2006/relationships" id="262" r:id="R2f9f32d615bd492b"/>
    <p:sldId xmlns:r="http://schemas.openxmlformats.org/officeDocument/2006/relationships" id="263" r:id="R9edebe251b3340b3"/>
    <p:sldId xmlns:r="http://schemas.openxmlformats.org/officeDocument/2006/relationships" id="264" r:id="R2357e27f54c24b9d"/>
    <p:sldId xmlns:r="http://schemas.openxmlformats.org/officeDocument/2006/relationships" id="265" r:id="Re9ba1e573a8542e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1bb5e5b4e4a78" /><Relationship Type="http://schemas.openxmlformats.org/officeDocument/2006/relationships/theme" Target="/ppt/theme/theme1.xml" Id="R4617dff16eae4c68" /><Relationship Type="http://schemas.openxmlformats.org/officeDocument/2006/relationships/notesMaster" Target="/ppt/notesMasters/notesMaster1.xml" Id="Rc5ea36b51ff84776" /><Relationship Type="http://schemas.openxmlformats.org/officeDocument/2006/relationships/presProps" Target="/ppt/presProps.xml" Id="R09c1cb7a054d4465" /><Relationship Type="http://schemas.openxmlformats.org/officeDocument/2006/relationships/viewProps" Target="/ppt/viewProps.xml" Id="Re88b506f9b70463f" /><Relationship Type="http://schemas.openxmlformats.org/officeDocument/2006/relationships/tableStyles" Target="/ppt/tableStyles.xml" Id="R35142649cb40455f" /><Relationship Type="http://schemas.openxmlformats.org/officeDocument/2006/relationships/slide" Target="/ppt/slides/slide1.xml" Id="R44f70094947f4060" /><Relationship Type="http://schemas.openxmlformats.org/officeDocument/2006/relationships/slide" Target="/ppt/slides/slide2.xml" Id="R64b28715cecb4583" /><Relationship Type="http://schemas.openxmlformats.org/officeDocument/2006/relationships/slide" Target="/ppt/slides/slide3.xml" Id="R331de17e583546ef" /><Relationship Type="http://schemas.openxmlformats.org/officeDocument/2006/relationships/slide" Target="/ppt/slides/slide4.xml" Id="Rd83027f62ee44457" /><Relationship Type="http://schemas.openxmlformats.org/officeDocument/2006/relationships/slide" Target="/ppt/slides/slide5.xml" Id="R091f1c3a9cb742de" /><Relationship Type="http://schemas.openxmlformats.org/officeDocument/2006/relationships/slide" Target="/ppt/slides/slide6.xml" Id="R66947c78829544e7" /><Relationship Type="http://schemas.openxmlformats.org/officeDocument/2006/relationships/slide" Target="/ppt/slides/slide7.xml" Id="R2f9f32d615bd492b" /><Relationship Type="http://schemas.openxmlformats.org/officeDocument/2006/relationships/slide" Target="/ppt/slides/slide8.xml" Id="R9edebe251b3340b3" /><Relationship Type="http://schemas.openxmlformats.org/officeDocument/2006/relationships/slide" Target="/ppt/slides/slide9.xml" Id="R2357e27f54c24b9d" /><Relationship Type="http://schemas.openxmlformats.org/officeDocument/2006/relationships/slide" Target="/ppt/slides/slide10.xml" Id="Re9ba1e573a8542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42b3765e49f48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75896739464c10" /><Relationship Type="http://schemas.openxmlformats.org/officeDocument/2006/relationships/notesMaster" Target="/ppt/notesMasters/notesMaster1.xml" Id="R152cda6e08694e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80c75873664d58" /><Relationship Type="http://schemas.openxmlformats.org/officeDocument/2006/relationships/notesMaster" Target="/ppt/notesMasters/notesMaster1.xml" Id="Rd33167163c2941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6ad07872fb42b2" /><Relationship Type="http://schemas.openxmlformats.org/officeDocument/2006/relationships/notesMaster" Target="/ppt/notesMasters/notesMaster1.xml" Id="Rc9363172314943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bab1a55dac443f" /><Relationship Type="http://schemas.openxmlformats.org/officeDocument/2006/relationships/notesMaster" Target="/ppt/notesMasters/notesMaster1.xml" Id="R921065080e894a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1af5fdcead4a25" /><Relationship Type="http://schemas.openxmlformats.org/officeDocument/2006/relationships/notesMaster" Target="/ppt/notesMasters/notesMaster1.xml" Id="R2f4e03d874c943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4085dd8bce4314" /><Relationship Type="http://schemas.openxmlformats.org/officeDocument/2006/relationships/notesMaster" Target="/ppt/notesMasters/notesMaster1.xml" Id="R62e878c042e04e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bb92e9e0b045ba" /><Relationship Type="http://schemas.openxmlformats.org/officeDocument/2006/relationships/notesMaster" Target="/ppt/notesMasters/notesMaster1.xml" Id="Ref468bdb4a8845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fc15719e8342cf" /><Relationship Type="http://schemas.openxmlformats.org/officeDocument/2006/relationships/notesMaster" Target="/ppt/notesMasters/notesMaster1.xml" Id="Rc6c96c9b417b46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c0bcf2eef54a90" /><Relationship Type="http://schemas.openxmlformats.org/officeDocument/2006/relationships/notesMaster" Target="/ppt/notesMasters/notesMaster1.xml" Id="R562661845e2947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bed47336cf4c9e" /><Relationship Type="http://schemas.openxmlformats.org/officeDocument/2006/relationships/notesMaster" Target="/ppt/notesMasters/notesMaster1.xml" Id="R2de66140cb784e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d686c5e3e493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39eade2200544d3" /><Relationship Type="http://schemas.openxmlformats.org/officeDocument/2006/relationships/slideLayout" Target="/ppt/slideLayouts/slideLayout2.xml" Id="R8a464a9b6b054e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464a9b6b054e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ad14c7676a4dc7" /><Relationship Type="http://schemas.openxmlformats.org/officeDocument/2006/relationships/image" Target="/ppt/media/image.png" Id="Rd5af789a6b4a469a" /><Relationship Type="http://schemas.openxmlformats.org/officeDocument/2006/relationships/image" Target="/ppt/media/image2.png" Id="Rbd26763ddbbe450f" /><Relationship Type="http://schemas.openxmlformats.org/officeDocument/2006/relationships/notesSlide" Target="/ppt/notesSlides/notesSlide1.xml" Id="R48ba9a8430de43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cbc74e2d8f4d89" /><Relationship Type="http://schemas.openxmlformats.org/officeDocument/2006/relationships/image" Target="/ppt/media/image3.png" Id="R0c8cd5e7b34e40a8" /><Relationship Type="http://schemas.openxmlformats.org/officeDocument/2006/relationships/notesSlide" Target="/ppt/notesSlides/notesSlide2.xml" Id="R20c98ddf100444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f41eace06e4883" /><Relationship Type="http://schemas.openxmlformats.org/officeDocument/2006/relationships/image" Target="/ppt/media/image4.png" Id="Rd2ea3691bcba4576" /><Relationship Type="http://schemas.openxmlformats.org/officeDocument/2006/relationships/notesSlide" Target="/ppt/notesSlides/notesSlide3.xml" Id="Re8242a60718a4a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42c6d84280402c" /><Relationship Type="http://schemas.openxmlformats.org/officeDocument/2006/relationships/image" Target="/ppt/media/image5.png" Id="R89fb992533734cde" /><Relationship Type="http://schemas.openxmlformats.org/officeDocument/2006/relationships/notesSlide" Target="/ppt/notesSlides/notesSlide4.xml" Id="R8c7f05c2f5d54b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98c7abb3824fd6" /><Relationship Type="http://schemas.openxmlformats.org/officeDocument/2006/relationships/image" Target="/ppt/media/image6.png" Id="R94ce6bab9bc445e0" /><Relationship Type="http://schemas.openxmlformats.org/officeDocument/2006/relationships/image" Target="/ppt/media/image7.png" Id="R6bea4ce6d7104104" /><Relationship Type="http://schemas.openxmlformats.org/officeDocument/2006/relationships/notesSlide" Target="/ppt/notesSlides/notesSlide5.xml" Id="Ra7b9c54cea6345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62c74e356d49e3" /><Relationship Type="http://schemas.openxmlformats.org/officeDocument/2006/relationships/image" Target="/ppt/media/image8.png" Id="R23bacae91076405b" /><Relationship Type="http://schemas.openxmlformats.org/officeDocument/2006/relationships/notesSlide" Target="/ppt/notesSlides/notesSlide6.xml" Id="R2479e3fdcf734d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4fa6ce65884d27" /><Relationship Type="http://schemas.openxmlformats.org/officeDocument/2006/relationships/image" Target="/ppt/media/image9.png" Id="R4ac687ae2fd643fe" /><Relationship Type="http://schemas.openxmlformats.org/officeDocument/2006/relationships/image" Target="/ppt/media/image10.png" Id="R4c5780170ac14b7c" /><Relationship Type="http://schemas.openxmlformats.org/officeDocument/2006/relationships/notesSlide" Target="/ppt/notesSlides/notesSlide7.xml" Id="Rb9062e65ab9340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d6abe7803e47d8" /><Relationship Type="http://schemas.openxmlformats.org/officeDocument/2006/relationships/image" Target="/ppt/media/image11.png" Id="R691c2c6ece6e45bd" /><Relationship Type="http://schemas.openxmlformats.org/officeDocument/2006/relationships/notesSlide" Target="/ppt/notesSlides/notesSlide8.xml" Id="Rf5626006827943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3d88c8b926475d" /><Relationship Type="http://schemas.openxmlformats.org/officeDocument/2006/relationships/image" Target="/ppt/media/image12.png" Id="R9e77ea20dde043de" /><Relationship Type="http://schemas.openxmlformats.org/officeDocument/2006/relationships/image" Target="/ppt/media/image13.png" Id="R6ab808eea1ec41b6" /><Relationship Type="http://schemas.openxmlformats.org/officeDocument/2006/relationships/notesSlide" Target="/ppt/notesSlides/notesSlide9.xml" Id="Rb1fa1f6b3ec147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6e5c4950094fe8" /><Relationship Type="http://schemas.openxmlformats.org/officeDocument/2006/relationships/image" Target="/ppt/media/image14.png" Id="R9e88ad903fcf45d5" /><Relationship Type="http://schemas.openxmlformats.org/officeDocument/2006/relationships/image" Target="/ppt/media/image15.png" Id="Rde0a01edaab24862" /><Relationship Type="http://schemas.openxmlformats.org/officeDocument/2006/relationships/image" Target="/ppt/media/image16.png" Id="R957ad3ca0cf44db1" /><Relationship Type="http://schemas.openxmlformats.org/officeDocument/2006/relationships/image" Target="/ppt/media/image17.png" Id="R408c0c1efcf54228" /><Relationship Type="http://schemas.openxmlformats.org/officeDocument/2006/relationships/notesSlide" Target="/ppt/notesSlides/notesSlide10.xml" Id="Re2e6729e56e24f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slide-01.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f789a6b4a469a"/>
          <a:stretch xmlns:a="http://schemas.openxmlformats.org/drawingml/2006/main"/>
        </p:blipFill>
        <p:spPr>
          <a:xfrm xmlns:a="http://schemas.openxmlformats.org/drawingml/2006/main">
            <a:off x="1211683" y="647700"/>
            <a:ext cx="1853358" cy="647700"/>
          </a:xfrm>
          <a:prstGeom xmlns:a="http://schemas.openxmlformats.org/drawingml/2006/main" prst="rect">
            <a:avLst/>
          </a:prstGeom>
        </p:spPr>
      </p:pic>
      <p:pic>
        <p:nvPicPr>
          <p:cNvPr id="2" name="slide-01.dashbo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6763ddbbe450f"/>
          <a:srcRect xmlns:a="http://schemas.openxmlformats.org/drawingml/2006/main" l="19977" t="0" r="199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8417" y="647700"/>
            <a:ext cx="9598533" cy="8991600"/>
          </a:xfrm>
          <a:prstGeom xmlns:a="http://schemas.openxmlformats.org/drawingml/2006/main" prst="rect">
            <a:avLst/>
          </a:prstGeom>
        </p:spPr>
      </p:pic>
      <p:sp>
        <p:nvSpPr>
          <p:cNvPr id="3" name="kicker.Executive product demo">
            <a:extLst xmlns:a="http://schemas.openxmlformats.org/drawingml/2006/main">
              <a:ext uri="{FF2B5EF4-FFF2-40B4-BE49-F238E27FC236}">
                <a16:creationId xmlns:a16="http://schemas.microsoft.com/office/drawing/2014/main" id="{946267AA-4E94-46C2-BBC5-8A079269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EXECUTIVE PRODUCT DEMO</a:t>
            </a:r>
          </a:p>
        </p:txBody>
      </p:sp>
      <p:sp>
        <p:nvSpPr>
          <p:cNvPr id="4" name="title.Resource Utilizati">
            <a:extLst xmlns:a="http://schemas.openxmlformats.org/drawingml/2006/main">
              <a:ext uri="{FF2B5EF4-FFF2-40B4-BE49-F238E27FC236}">
                <a16:creationId xmlns:a16="http://schemas.microsoft.com/office/drawing/2014/main" id="{B6C31FC9-59D8-4F49-9EAF-33F3FEB8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56769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200" b="1">
                <a:solidFill>
                  <a:srgbClr val="003761"/>
                </a:solidFill>
              </a:defRPr>
            </a:pPr>
            <a:r>
              <a:rPr sz="4200" b="1">
                <a:solidFill>
                  <a:srgbClr val="003761"/>
                </a:solidFill>
              </a:rPr>
              <a:t>Boundaryless-WorkOS</a:t>
            </a:r>
          </a:p>
        </p:txBody>
      </p:sp>
      <p:sp>
        <p:nvSpPr>
          <p:cNvPr id="5" name="subtitle.A production-orien">
            <a:extLst xmlns:a="http://schemas.openxmlformats.org/drawingml/2006/main">
              <a:ext uri="{FF2B5EF4-FFF2-40B4-BE49-F238E27FC236}">
                <a16:creationId xmlns:a16="http://schemas.microsoft.com/office/drawing/2014/main" id="{09729C9D-14F2-473F-B74F-1604C4F4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56769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>
                <a:solidFill>
                  <a:srgbClr val="526375"/>
                </a:solidFill>
              </a:defRPr>
            </a:pPr>
            <a:r>
              <a:rPr sz="2100">
                <a:solidFill>
                  <a:srgbClr val="526375"/>
                </a:solidFill>
              </a:rPr>
              <a:t>A production-oriented command center for capacity, client delivery, weekly evidence, and governance.</a:t>
            </a:r>
          </a:p>
        </p:txBody>
      </p:sp>
      <p:sp>
        <p:nvSpPr>
          <p:cNvPr id="6" name="slide-01.rule">
            <a:extLst xmlns:a="http://schemas.openxmlformats.org/drawingml/2006/main">
              <a:ext uri="{FF2B5EF4-FFF2-40B4-BE49-F238E27FC236}">
                <a16:creationId xmlns:a16="http://schemas.microsoft.com/office/drawing/2014/main" id="{DFBB3895-560E-466B-BA20-B17AF160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7" name="slide-01.promise">
            <a:extLst xmlns:a="http://schemas.openxmlformats.org/drawingml/2006/main">
              <a:ext uri="{FF2B5EF4-FFF2-40B4-BE49-F238E27FC236}">
                <a16:creationId xmlns:a16="http://schemas.microsoft.com/office/drawing/2014/main" id="{C2D2D3B1-DC38-4DBA-855C-1ED14535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5372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61"/>
                </a:solidFill>
              </a:defRPr>
            </a:pPr>
            <a:r>
              <a:rPr sz="2400" b="1">
                <a:solidFill>
                  <a:srgbClr val="003761"/>
                </a:solidFill>
              </a:rPr>
              <a:t>Signal -&gt; drilldown -&gt; action -&gt; governance</a:t>
            </a:r>
          </a:p>
        </p:txBody>
      </p:sp>
      <p:sp>
        <p:nvSpPr>
          <p:cNvPr id="8" name="footer.1.rule">
            <a:extLst xmlns:a="http://schemas.openxmlformats.org/drawingml/2006/main">
              <a:ext uri="{FF2B5EF4-FFF2-40B4-BE49-F238E27FC236}">
                <a16:creationId xmlns:a16="http://schemas.microsoft.com/office/drawing/2014/main" id="{1BD2E305-1FF8-4093-9E88-BDC9702C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9" name="footer.1.text">
            <a:extLst xmlns:a="http://schemas.openxmlformats.org/drawingml/2006/main">
              <a:ext uri="{FF2B5EF4-FFF2-40B4-BE49-F238E27FC236}">
                <a16:creationId xmlns:a16="http://schemas.microsoft.com/office/drawing/2014/main" id="{34AB4A7D-AA90-47E0-8F91-0B9D9216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9486900"/>
            <a:ext cx="4610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Built from live localhost screenshots captured at 1600x900</a:t>
            </a:r>
          </a:p>
        </p:txBody>
      </p:sp>
      <p:sp>
        <p:nvSpPr>
          <p:cNvPr id="10" name="footer.1.num">
            <a:extLst xmlns:a="http://schemas.openxmlformats.org/drawingml/2006/main">
              <a:ext uri="{FF2B5EF4-FFF2-40B4-BE49-F238E27FC236}">
                <a16:creationId xmlns:a16="http://schemas.microsoft.com/office/drawing/2014/main" id="{BC22B1B6-D5E4-4155-BA63-48A333A9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94869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9754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2.title.kicker">
            <a:extLst xmlns:a="http://schemas.openxmlformats.org/drawingml/2006/main">
              <a:ext uri="{FF2B5EF4-FFF2-40B4-BE49-F238E27FC236}">
                <a16:creationId xmlns:a16="http://schemas.microsoft.com/office/drawing/2014/main" id="{431E9553-43DF-41FC-9703-27F15AE0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WHY THIS MATTERS</a:t>
            </a:r>
          </a:p>
        </p:txBody>
      </p:sp>
      <p:sp>
        <p:nvSpPr>
          <p:cNvPr id="2" name="slide-02.title.title">
            <a:extLst xmlns:a="http://schemas.openxmlformats.org/drawingml/2006/main">
              <a:ext uri="{FF2B5EF4-FFF2-40B4-BE49-F238E27FC236}">
                <a16:creationId xmlns:a16="http://schemas.microsoft.com/office/drawing/2014/main" id="{36C87F17-5749-4131-8466-93D5E816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65151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450" b="1">
                <a:solidFill>
                  <a:srgbClr val="003761"/>
                </a:solidFill>
              </a:defRPr>
            </a:pPr>
            <a:r>
              <a:rPr sz="3450" b="1">
                <a:solidFill>
                  <a:srgbClr val="003761"/>
                </a:solidFill>
              </a:rPr>
              <a:t>Utilization is only credible when the path from plan to approved effort is visible.</a:t>
            </a:r>
          </a:p>
        </p:txBody>
      </p:sp>
      <p:sp>
        <p:nvSpPr>
          <p:cNvPr id="3" name="slide-02.title.rule">
            <a:extLst xmlns:a="http://schemas.openxmlformats.org/drawingml/2006/main">
              <a:ext uri="{FF2B5EF4-FFF2-40B4-BE49-F238E27FC236}">
                <a16:creationId xmlns:a16="http://schemas.microsoft.com/office/drawing/2014/main" id="{3806EB75-5A74-491D-876D-1506B0C9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2.title.subtitle">
            <a:extLst xmlns:a="http://schemas.openxmlformats.org/drawingml/2006/main">
              <a:ext uri="{FF2B5EF4-FFF2-40B4-BE49-F238E27FC236}">
                <a16:creationId xmlns:a16="http://schemas.microsoft.com/office/drawing/2014/main" id="{258DD892-B837-450E-A2C7-94125EFD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666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The tracker turns scattered spreadsheets into a governed operating rhythm for leadership.</a:t>
            </a:r>
          </a:p>
        </p:txBody>
      </p:sp>
      <p:pic>
        <p:nvPicPr>
          <p:cNvPr id="5" name="slide-02.logi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cd5e7b34e40a8"/>
          <a:stretch xmlns:a="http://schemas.openxmlformats.org/drawingml/2006/main"/>
        </p:blipFill>
        <p:spPr>
          <a:xfrm xmlns:a="http://schemas.openxmlformats.org/drawingml/2006/main">
            <a:off x="8773287" y="2479512"/>
            <a:ext cx="8733663" cy="4912685"/>
          </a:xfrm>
          <a:prstGeom xmlns:a="http://schemas.openxmlformats.org/drawingml/2006/main" prst="rect">
            <a:avLst/>
          </a:prstGeom>
        </p:spPr>
      </p:pic>
      <p:sp>
        <p:nvSpPr>
          <p:cNvPr id="6" name="callout.One source of truth.label">
            <a:extLst xmlns:a="http://schemas.openxmlformats.org/drawingml/2006/main">
              <a:ext uri="{FF2B5EF4-FFF2-40B4-BE49-F238E27FC236}">
                <a16:creationId xmlns:a16="http://schemas.microsoft.com/office/drawing/2014/main" id="{326BA8EF-A70E-4118-8672-4C6AFE67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744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ONE SOURCE OF TRUTH</a:t>
            </a:r>
          </a:p>
        </p:txBody>
      </p:sp>
      <p:sp>
        <p:nvSpPr>
          <p:cNvPr id="7" name="callout.One source of truth.body">
            <a:extLst xmlns:a="http://schemas.openxmlformats.org/drawingml/2006/main">
              <a:ext uri="{FF2B5EF4-FFF2-40B4-BE49-F238E27FC236}">
                <a16:creationId xmlns:a16="http://schemas.microsoft.com/office/drawing/2014/main" id="{91229E94-0775-4E13-B626-40D1AD23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7448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People, clients, projects, allocations, timesheets, and audit all sit in one operating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DED7A-C43A-439B-803B-3AEB445B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744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9" name="callout.Role-based confidence.label">
            <a:extLst xmlns:a="http://schemas.openxmlformats.org/drawingml/2006/main">
              <a:ext uri="{FF2B5EF4-FFF2-40B4-BE49-F238E27FC236}">
                <a16:creationId xmlns:a16="http://schemas.microsoft.com/office/drawing/2014/main" id="{BDF6324B-1C88-46AC-9E1D-870706BC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744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ROLE-BASED CONFIDENCE</a:t>
            </a:r>
          </a:p>
        </p:txBody>
      </p:sp>
      <p:sp>
        <p:nvSpPr>
          <p:cNvPr id="10" name="callout.Role-based confidence.body">
            <a:extLst xmlns:a="http://schemas.openxmlformats.org/drawingml/2006/main">
              <a:ext uri="{FF2B5EF4-FFF2-40B4-BE49-F238E27FC236}">
                <a16:creationId xmlns:a16="http://schemas.microsoft.com/office/drawing/2014/main" id="{CF0A34DC-6190-4103-9705-1449333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7448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Admin, HR, Country Director, PM, Team Lead, and Employee screens expose the right depth of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0B094-8F18-4FC3-B22A-C44EB3BF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05550"/>
            <a:ext cx="744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12" name="callout.Production handover path.label">
            <a:extLst xmlns:a="http://schemas.openxmlformats.org/drawingml/2006/main">
              <a:ext uri="{FF2B5EF4-FFF2-40B4-BE49-F238E27FC236}">
                <a16:creationId xmlns:a16="http://schemas.microsoft.com/office/drawing/2014/main" id="{D7DE89A9-4317-4791-B2E2-E98D5E18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53200"/>
            <a:ext cx="744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PRODUCTION HANDOVER PATH</a:t>
            </a:r>
          </a:p>
        </p:txBody>
      </p:sp>
      <p:sp>
        <p:nvSpPr>
          <p:cNvPr id="13" name="callout.Production handover path.body">
            <a:extLst xmlns:a="http://schemas.openxmlformats.org/drawingml/2006/main">
              <a:ext uri="{FF2B5EF4-FFF2-40B4-BE49-F238E27FC236}">
                <a16:creationId xmlns:a16="http://schemas.microsoft.com/office/drawing/2014/main" id="{CC3791B9-56BF-4E59-88ED-DAB796E5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00850"/>
            <a:ext cx="7448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Demo data can be replaced by real records while preserving stable IDs, links, and governance flow.</a:t>
            </a:r>
          </a:p>
        </p:txBody>
      </p:sp>
      <p:sp>
        <p:nvSpPr>
          <p:cNvPr id="14" name="footer.2.rule">
            <a:extLst xmlns:a="http://schemas.openxmlformats.org/drawingml/2006/main">
              <a:ext uri="{FF2B5EF4-FFF2-40B4-BE49-F238E27FC236}">
                <a16:creationId xmlns:a16="http://schemas.microsoft.com/office/drawing/2014/main" id="{4973271D-9FD7-4CA2-97C6-14FF1C21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5" name="footer.2.text">
            <a:extLst xmlns:a="http://schemas.openxmlformats.org/drawingml/2006/main">
              <a:ext uri="{FF2B5EF4-FFF2-40B4-BE49-F238E27FC236}">
                <a16:creationId xmlns:a16="http://schemas.microsoft.com/office/drawing/2014/main" id="{5B42D202-DC5E-40AA-A33D-4CD91A21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9486900"/>
            <a:ext cx="539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Boundaryless-WorkOS | Leadership demo</a:t>
            </a:r>
          </a:p>
        </p:txBody>
      </p:sp>
      <p:sp>
        <p:nvSpPr>
          <p:cNvPr id="16" name="footer.2.num">
            <a:extLst xmlns:a="http://schemas.openxmlformats.org/drawingml/2006/main">
              <a:ext uri="{FF2B5EF4-FFF2-40B4-BE49-F238E27FC236}">
                <a16:creationId xmlns:a16="http://schemas.microsoft.com/office/drawing/2014/main" id="{39E6A752-BCA7-44FF-8786-2A5C8712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94869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19852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3.title.kicker">
            <a:extLst xmlns:a="http://schemas.openxmlformats.org/drawingml/2006/main">
              <a:ext uri="{FF2B5EF4-FFF2-40B4-BE49-F238E27FC236}">
                <a16:creationId xmlns:a16="http://schemas.microsoft.com/office/drawing/2014/main" id="{9ECCF470-335F-4402-83C8-A9969A91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COMMAND CENTER</a:t>
            </a:r>
          </a:p>
        </p:txBody>
      </p:sp>
      <p:sp>
        <p:nvSpPr>
          <p:cNvPr id="2" name="slide-03.title.title">
            <a:extLst xmlns:a="http://schemas.openxmlformats.org/drawingml/2006/main">
              <a:ext uri="{FF2B5EF4-FFF2-40B4-BE49-F238E27FC236}">
                <a16:creationId xmlns:a16="http://schemas.microsoft.com/office/drawing/2014/main" id="{E33C463C-815E-4700-93A2-89854E8D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96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225" b="1">
                <a:solidFill>
                  <a:srgbClr val="003761"/>
                </a:solidFill>
              </a:defRPr>
            </a:pPr>
            <a:r>
              <a:rPr sz="3225" b="1">
                <a:solidFill>
                  <a:srgbClr val="003761"/>
                </a:solidFill>
              </a:rPr>
              <a:t>Start every leadership review with portfolio health, not raw tables.</a:t>
            </a:r>
          </a:p>
        </p:txBody>
      </p:sp>
      <p:sp>
        <p:nvSpPr>
          <p:cNvPr id="3" name="slide-03.title.rule">
            <a:extLst xmlns:a="http://schemas.openxmlformats.org/drawingml/2006/main">
              <a:ext uri="{FF2B5EF4-FFF2-40B4-BE49-F238E27FC236}">
                <a16:creationId xmlns:a16="http://schemas.microsoft.com/office/drawing/2014/main" id="{54FEF421-C032-40D8-9C09-37EC00EE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3.title.subtitle">
            <a:extLst xmlns:a="http://schemas.openxmlformats.org/drawingml/2006/main">
              <a:ext uri="{FF2B5EF4-FFF2-40B4-BE49-F238E27FC236}">
                <a16:creationId xmlns:a16="http://schemas.microsoft.com/office/drawing/2014/main" id="{4FB21EEB-F0A5-4E07-9801-B933AA52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848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The dashboard surfaces load, missing logs, risk projects, and Country Director scope before anyone drills down.</a:t>
            </a:r>
          </a:p>
        </p:txBody>
      </p:sp>
      <p:pic>
        <p:nvPicPr>
          <p:cNvPr id="5" name="slide-03.dashbo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a3691bcba4576"/>
          <a:stretch xmlns:a="http://schemas.openxmlformats.org/drawingml/2006/main"/>
        </p:blipFill>
        <p:spPr>
          <a:xfrm xmlns:a="http://schemas.openxmlformats.org/drawingml/2006/main">
            <a:off x="685800" y="2923555"/>
            <a:ext cx="11148536" cy="6271052"/>
          </a:xfrm>
          <a:prstGeom xmlns:a="http://schemas.openxmlformats.org/drawingml/2006/main" prst="rect">
            <a:avLst/>
          </a:prstGeom>
        </p:spPr>
      </p:pic>
      <p:sp>
        <p:nvSpPr>
          <p:cNvPr id="6" name="callout.Signal.label">
            <a:extLst xmlns:a="http://schemas.openxmlformats.org/drawingml/2006/main">
              <a:ext uri="{FF2B5EF4-FFF2-40B4-BE49-F238E27FC236}">
                <a16:creationId xmlns:a16="http://schemas.microsoft.com/office/drawing/2014/main" id="{C06E22CA-1239-4C6C-8F6A-EC94F91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781300"/>
            <a:ext cx="537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SIGNAL</a:t>
            </a:r>
          </a:p>
        </p:txBody>
      </p:sp>
      <p:sp>
        <p:nvSpPr>
          <p:cNvPr id="7" name="callout.Signal.body">
            <a:extLst xmlns:a="http://schemas.openxmlformats.org/drawingml/2006/main">
              <a:ext uri="{FF2B5EF4-FFF2-40B4-BE49-F238E27FC236}">
                <a16:creationId xmlns:a16="http://schemas.microsoft.com/office/drawing/2014/main" id="{CCA7A9A2-D305-42C9-A2F5-671FB131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028950"/>
            <a:ext cx="5372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Global KPIs show total people, eligible delivery capacity, utilization, and pending work.</a:t>
            </a:r>
          </a:p>
        </p:txBody>
      </p:sp>
      <p:sp>
        <p:nvSpPr>
          <p:cNvPr id="8" name="callout.Scope.label">
            <a:extLst xmlns:a="http://schemas.openxmlformats.org/drawingml/2006/main">
              <a:ext uri="{FF2B5EF4-FFF2-40B4-BE49-F238E27FC236}">
                <a16:creationId xmlns:a16="http://schemas.microsoft.com/office/drawing/2014/main" id="{A6B0BA8F-F892-4F50-A8E3-9027A9D4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924300"/>
            <a:ext cx="537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SCOPE</a:t>
            </a:r>
          </a:p>
        </p:txBody>
      </p:sp>
      <p:sp>
        <p:nvSpPr>
          <p:cNvPr id="9" name="callout.Scope.body">
            <a:extLst xmlns:a="http://schemas.openxmlformats.org/drawingml/2006/main">
              <a:ext uri="{FF2B5EF4-FFF2-40B4-BE49-F238E27FC236}">
                <a16:creationId xmlns:a16="http://schemas.microsoft.com/office/drawing/2014/main" id="{13D6B253-B73E-46BE-86B2-824F612F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171950"/>
            <a:ext cx="5372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Country Director cards explain ownership without hiding multi-director employee mapping.</a:t>
            </a:r>
          </a:p>
        </p:txBody>
      </p:sp>
      <p:sp>
        <p:nvSpPr>
          <p:cNvPr id="10" name="callout.Action.label">
            <a:extLst xmlns:a="http://schemas.openxmlformats.org/drawingml/2006/main">
              <a:ext uri="{FF2B5EF4-FFF2-40B4-BE49-F238E27FC236}">
                <a16:creationId xmlns:a16="http://schemas.microsoft.com/office/drawing/2014/main" id="{C9A18A6A-F95A-47C6-8CBD-4F4A411E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086350"/>
            <a:ext cx="537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ACTION</a:t>
            </a:r>
          </a:p>
        </p:txBody>
      </p:sp>
      <p:sp>
        <p:nvSpPr>
          <p:cNvPr id="11" name="callout.Action.body">
            <a:extLst xmlns:a="http://schemas.openxmlformats.org/drawingml/2006/main">
              <a:ext uri="{FF2B5EF4-FFF2-40B4-BE49-F238E27FC236}">
                <a16:creationId xmlns:a16="http://schemas.microsoft.com/office/drawing/2014/main" id="{051F12FE-FB78-4FE4-BB70-AD2F1424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334000"/>
            <a:ext cx="5372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Immediate queues turn the dashboard into a follow-up surface, not a static report.</a:t>
            </a:r>
          </a:p>
        </p:txBody>
      </p:sp>
      <p:sp>
        <p:nvSpPr>
          <p:cNvPr id="12" name="footer.3.rule">
            <a:extLst xmlns:a="http://schemas.openxmlformats.org/drawingml/2006/main">
              <a:ext uri="{FF2B5EF4-FFF2-40B4-BE49-F238E27FC236}">
                <a16:creationId xmlns:a16="http://schemas.microsoft.com/office/drawing/2014/main" id="{E23FCA1E-B382-4D4E-B322-90775CF3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3" name="footer.3.text">
            <a:extLst xmlns:a="http://schemas.openxmlformats.org/drawingml/2006/main">
              <a:ext uri="{FF2B5EF4-FFF2-40B4-BE49-F238E27FC236}">
                <a16:creationId xmlns:a16="http://schemas.microsoft.com/office/drawing/2014/main" id="{5E101F7B-D3B1-4B05-8C0A-F8FD07D7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582150"/>
            <a:ext cx="908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Boundaryless-WorkOS | Leadership demo</a:t>
            </a:r>
          </a:p>
        </p:txBody>
      </p:sp>
      <p:sp>
        <p:nvSpPr>
          <p:cNvPr id="14" name="footer.3.num">
            <a:extLst xmlns:a="http://schemas.openxmlformats.org/drawingml/2006/main">
              <a:ext uri="{FF2B5EF4-FFF2-40B4-BE49-F238E27FC236}">
                <a16:creationId xmlns:a16="http://schemas.microsoft.com/office/drawing/2014/main" id="{1231C984-9133-4C44-98BA-8349A9CE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821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36125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4.title.kicker">
            <a:extLst xmlns:a="http://schemas.openxmlformats.org/drawingml/2006/main">
              <a:ext uri="{FF2B5EF4-FFF2-40B4-BE49-F238E27FC236}">
                <a16:creationId xmlns:a16="http://schemas.microsoft.com/office/drawing/2014/main" id="{61B6F9D9-F171-410B-B7C8-A9734EAD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3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CLIENT SCOPE</a:t>
            </a:r>
          </a:p>
        </p:txBody>
      </p:sp>
      <p:sp>
        <p:nvSpPr>
          <p:cNvPr id="2" name="slide-04.title.title">
            <a:extLst xmlns:a="http://schemas.openxmlformats.org/drawingml/2006/main">
              <a:ext uri="{FF2B5EF4-FFF2-40B4-BE49-F238E27FC236}">
                <a16:creationId xmlns:a16="http://schemas.microsoft.com/office/drawing/2014/main" id="{0C90E85B-5836-4916-93E2-A56DB63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762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2700" b="1">
                <a:solidFill>
                  <a:srgbClr val="003761"/>
                </a:solidFill>
              </a:defRPr>
            </a:pPr>
            <a:r>
              <a:rPr sz="2700" b="1">
                <a:solidFill>
                  <a:srgbClr val="003761"/>
                </a:solidFill>
              </a:rPr>
              <a:t>Country Directors need client and project scope, not one FTE count.</a:t>
            </a:r>
          </a:p>
        </p:txBody>
      </p:sp>
      <p:sp>
        <p:nvSpPr>
          <p:cNvPr id="3" name="slide-04.title.rule">
            <a:extLst xmlns:a="http://schemas.openxmlformats.org/drawingml/2006/main">
              <a:ext uri="{FF2B5EF4-FFF2-40B4-BE49-F238E27FC236}">
                <a16:creationId xmlns:a16="http://schemas.microsoft.com/office/drawing/2014/main" id="{6C8AE39D-4C58-43D0-B210-97E0D85A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4.title.subtitle">
            <a:extLst xmlns:a="http://schemas.openxmlformats.org/drawingml/2006/main">
              <a:ext uri="{FF2B5EF4-FFF2-40B4-BE49-F238E27FC236}">
                <a16:creationId xmlns:a16="http://schemas.microsoft.com/office/drawing/2014/main" id="{AC916BCC-3611-4B15-81B3-AA899BF7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21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526375"/>
                </a:solidFill>
              </a:defRPr>
            </a:pPr>
            <a:r>
              <a:rPr sz="1500">
                <a:solidFill>
                  <a:srgbClr val="526375"/>
                </a:solidFill>
              </a:rPr>
              <a:t>This view helps leadership see where the workforce is concentrated and which clients carry the most delivery weight.</a:t>
            </a:r>
          </a:p>
        </p:txBody>
      </p:sp>
      <p:pic>
        <p:nvPicPr>
          <p:cNvPr id="5" name="slide-04.clien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b992533734cde"/>
          <a:stretch xmlns:a="http://schemas.openxmlformats.org/drawingml/2006/main"/>
        </p:blipFill>
        <p:spPr>
          <a:xfrm xmlns:a="http://schemas.openxmlformats.org/drawingml/2006/main">
            <a:off x="6232208" y="1673275"/>
            <a:ext cx="11369992" cy="6395621"/>
          </a:xfrm>
          <a:prstGeom xmlns:a="http://schemas.openxmlformats.org/drawingml/2006/main" prst="rect">
            <a:avLst/>
          </a:prstGeom>
        </p:spPr>
      </p:pic>
      <p:sp>
        <p:nvSpPr>
          <p:cNvPr id="6" name="callout.Client concentration.label">
            <a:extLst xmlns:a="http://schemas.openxmlformats.org/drawingml/2006/main">
              <a:ext uri="{FF2B5EF4-FFF2-40B4-BE49-F238E27FC236}">
                <a16:creationId xmlns:a16="http://schemas.microsoft.com/office/drawing/2014/main" id="{7A3DD713-444A-47E2-8592-761151BF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10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CLIENT CONCENTRATION</a:t>
            </a:r>
          </a:p>
        </p:txBody>
      </p:sp>
      <p:sp>
        <p:nvSpPr>
          <p:cNvPr id="7" name="callout.Client concentration.body">
            <a:extLst xmlns:a="http://schemas.openxmlformats.org/drawingml/2006/main">
              <a:ext uri="{FF2B5EF4-FFF2-40B4-BE49-F238E27FC236}">
                <a16:creationId xmlns:a16="http://schemas.microsoft.com/office/drawing/2014/main" id="{48F1DB9F-6DEE-4952-B84A-3E4CAF25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105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Shows which clients have the largest active workforce footprint.</a:t>
            </a:r>
          </a:p>
        </p:txBody>
      </p:sp>
      <p:sp>
        <p:nvSpPr>
          <p:cNvPr id="8" name="callout.Portfolio ownership.label">
            <a:extLst xmlns:a="http://schemas.openxmlformats.org/drawingml/2006/main">
              <a:ext uri="{FF2B5EF4-FFF2-40B4-BE49-F238E27FC236}">
                <a16:creationId xmlns:a16="http://schemas.microsoft.com/office/drawing/2014/main" id="{B455759C-2628-4D9E-882E-1F323A4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10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PORTFOLIO OWNERSHIP</a:t>
            </a:r>
          </a:p>
        </p:txBody>
      </p:sp>
      <p:sp>
        <p:nvSpPr>
          <p:cNvPr id="9" name="callout.Portfolio ownership.body">
            <a:extLst xmlns:a="http://schemas.openxmlformats.org/drawingml/2006/main">
              <a:ext uri="{FF2B5EF4-FFF2-40B4-BE49-F238E27FC236}">
                <a16:creationId xmlns:a16="http://schemas.microsoft.com/office/drawing/2014/main" id="{2E54E873-30AE-435A-BC62-2846B6AC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105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Country Director mappings remain visible even when employees serve multiple scopes.</a:t>
            </a:r>
          </a:p>
        </p:txBody>
      </p:sp>
      <p:sp>
        <p:nvSpPr>
          <p:cNvPr id="10" name="callout.Executive read.label">
            <a:extLst xmlns:a="http://schemas.openxmlformats.org/drawingml/2006/main">
              <a:ext uri="{FF2B5EF4-FFF2-40B4-BE49-F238E27FC236}">
                <a16:creationId xmlns:a16="http://schemas.microsoft.com/office/drawing/2014/main" id="{FAF42F0D-A0DF-46C1-815F-60BA2A37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510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EXECUTIVE READ</a:t>
            </a:r>
          </a:p>
        </p:txBody>
      </p:sp>
      <p:sp>
        <p:nvSpPr>
          <p:cNvPr id="11" name="callout.Executive read.body">
            <a:extLst xmlns:a="http://schemas.openxmlformats.org/drawingml/2006/main">
              <a:ext uri="{FF2B5EF4-FFF2-40B4-BE49-F238E27FC236}">
                <a16:creationId xmlns:a16="http://schemas.microsoft.com/office/drawing/2014/main" id="{7BA162AF-962F-46E9-9D25-7E22441D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5105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A better leadership question than 'how many cards exist?' is 'where is our delivery capacity exposed?'</a:t>
            </a:r>
          </a:p>
        </p:txBody>
      </p:sp>
      <p:sp>
        <p:nvSpPr>
          <p:cNvPr id="12" name="footer.4.rule">
            <a:extLst xmlns:a="http://schemas.openxmlformats.org/drawingml/2006/main">
              <a:ext uri="{FF2B5EF4-FFF2-40B4-BE49-F238E27FC236}">
                <a16:creationId xmlns:a16="http://schemas.microsoft.com/office/drawing/2014/main" id="{9B2CF940-5D16-4B20-9C11-62CA2C84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3" name="footer.4.text">
            <a:extLst xmlns:a="http://schemas.openxmlformats.org/drawingml/2006/main">
              <a:ext uri="{FF2B5EF4-FFF2-40B4-BE49-F238E27FC236}">
                <a16:creationId xmlns:a16="http://schemas.microsoft.com/office/drawing/2014/main" id="{550831E2-23D5-4D9F-B06D-4D500E92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429750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Boundaryless-WorkOS | Leadership demo</a:t>
            </a:r>
          </a:p>
        </p:txBody>
      </p:sp>
      <p:sp>
        <p:nvSpPr>
          <p:cNvPr id="14" name="footer.4.num">
            <a:extLst xmlns:a="http://schemas.openxmlformats.org/drawingml/2006/main">
              <a:ext uri="{FF2B5EF4-FFF2-40B4-BE49-F238E27FC236}">
                <a16:creationId xmlns:a16="http://schemas.microsoft.com/office/drawing/2014/main" id="{0019CAF7-8853-40A6-988E-69C64F4E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4297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43252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5.title.kicker">
            <a:extLst xmlns:a="http://schemas.openxmlformats.org/drawingml/2006/main">
              <a:ext uri="{FF2B5EF4-FFF2-40B4-BE49-F238E27FC236}">
                <a16:creationId xmlns:a16="http://schemas.microsoft.com/office/drawing/2014/main" id="{8096238F-5937-4A86-A77E-0DBC33C4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TRACEABILITY</a:t>
            </a:r>
          </a:p>
        </p:txBody>
      </p:sp>
      <p:sp>
        <p:nvSpPr>
          <p:cNvPr id="2" name="slide-05.title.title">
            <a:extLst xmlns:a="http://schemas.openxmlformats.org/drawingml/2006/main">
              <a:ext uri="{FF2B5EF4-FFF2-40B4-BE49-F238E27FC236}">
                <a16:creationId xmlns:a16="http://schemas.microsoft.com/office/drawing/2014/main" id="{74130F2C-087C-4642-88C8-FC8A6289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9631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150" b="1">
                <a:solidFill>
                  <a:srgbClr val="003761"/>
                </a:solidFill>
              </a:defRPr>
            </a:pPr>
            <a:r>
              <a:rPr sz="3150" b="1">
                <a:solidFill>
                  <a:srgbClr val="003761"/>
                </a:solidFill>
              </a:rPr>
              <a:t>Every hyperlink should land on the exact operational object.</a:t>
            </a:r>
          </a:p>
        </p:txBody>
      </p:sp>
      <p:sp>
        <p:nvSpPr>
          <p:cNvPr id="3" name="slide-05.title.rule">
            <a:extLst xmlns:a="http://schemas.openxmlformats.org/drawingml/2006/main">
              <a:ext uri="{FF2B5EF4-FFF2-40B4-BE49-F238E27FC236}">
                <a16:creationId xmlns:a16="http://schemas.microsoft.com/office/drawing/2014/main" id="{FDD1EA78-618D-4163-AAC5-88D9136D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5.title.subtitle">
            <a:extLst xmlns:a="http://schemas.openxmlformats.org/drawingml/2006/main">
              <a:ext uri="{FF2B5EF4-FFF2-40B4-BE49-F238E27FC236}">
                <a16:creationId xmlns:a16="http://schemas.microsoft.com/office/drawing/2014/main" id="{29E4B1D8-9DD5-40C3-8E8C-CA65DF24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1963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Leadership trust improves when an employee, PM, project, client, or allocation link opens the owning detail screen at the right section.</a:t>
            </a:r>
          </a:p>
        </p:txBody>
      </p:sp>
      <p:pic>
        <p:nvPicPr>
          <p:cNvPr id="5" name="slide-05.employee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e6bab9bc445e0"/>
          <a:stretch xmlns:a="http://schemas.openxmlformats.org/drawingml/2006/main"/>
        </p:blipFill>
        <p:spPr>
          <a:xfrm xmlns:a="http://schemas.openxmlformats.org/drawingml/2006/main">
            <a:off x="666750" y="3284418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6" name="callout.Person view.label">
            <a:extLst xmlns:a="http://schemas.openxmlformats.org/drawingml/2006/main">
              <a:ext uri="{FF2B5EF4-FFF2-40B4-BE49-F238E27FC236}">
                <a16:creationId xmlns:a16="http://schemas.microsoft.com/office/drawing/2014/main" id="{6AEBFC51-271F-42D9-9108-E0F2642C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487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PERSON VIEW</a:t>
            </a:r>
          </a:p>
        </p:txBody>
      </p:sp>
      <p:sp>
        <p:nvSpPr>
          <p:cNvPr id="7" name="callout.Person view.body">
            <a:extLst xmlns:a="http://schemas.openxmlformats.org/drawingml/2006/main">
              <a:ext uri="{FF2B5EF4-FFF2-40B4-BE49-F238E27FC236}">
                <a16:creationId xmlns:a16="http://schemas.microsoft.com/office/drawing/2014/main" id="{73E59432-7C50-418B-BFFD-61F89B36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8963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Employee record, home role, mapped directors, assignments, and utilization history.</a:t>
            </a:r>
          </a:p>
        </p:txBody>
      </p:sp>
      <p:pic>
        <p:nvPicPr>
          <p:cNvPr id="8" name="slide-05.project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a4ce6d7104104"/>
          <a:stretch xmlns:a="http://schemas.openxmlformats.org/drawingml/2006/main"/>
        </p:blipFill>
        <p:spPr>
          <a:xfrm xmlns:a="http://schemas.openxmlformats.org/drawingml/2006/main">
            <a:off x="9305925" y="3284418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9" name="callout.Project view.label">
            <a:extLst xmlns:a="http://schemas.openxmlformats.org/drawingml/2006/main">
              <a:ext uri="{FF2B5EF4-FFF2-40B4-BE49-F238E27FC236}">
                <a16:creationId xmlns:a16="http://schemas.microsoft.com/office/drawing/2014/main" id="{69FD2EA7-372D-49A3-A14F-B3826172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6487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PROJECT VIEW</a:t>
            </a:r>
          </a:p>
        </p:txBody>
      </p:sp>
      <p:sp>
        <p:nvSpPr>
          <p:cNvPr id="10" name="callout.Project view.body">
            <a:extLst xmlns:a="http://schemas.openxmlformats.org/drawingml/2006/main">
              <a:ext uri="{FF2B5EF4-FFF2-40B4-BE49-F238E27FC236}">
                <a16:creationId xmlns:a16="http://schemas.microsoft.com/office/drawing/2014/main" id="{150DCDB8-0CAC-4756-8537-ABE1D2E4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8963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PM ownership, assigned consultants, planned allocation, and project actuals.</a:t>
            </a:r>
          </a:p>
        </p:txBody>
      </p:sp>
      <p:sp>
        <p:nvSpPr>
          <p:cNvPr id="11" name="footer.5.rule">
            <a:extLst xmlns:a="http://schemas.openxmlformats.org/drawingml/2006/main">
              <a:ext uri="{FF2B5EF4-FFF2-40B4-BE49-F238E27FC236}">
                <a16:creationId xmlns:a16="http://schemas.microsoft.com/office/drawing/2014/main" id="{885C65E8-781B-40E3-97A7-E46543AF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012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2" name="footer.5.text">
            <a:extLst xmlns:a="http://schemas.openxmlformats.org/drawingml/2006/main">
              <a:ext uri="{FF2B5EF4-FFF2-40B4-BE49-F238E27FC236}">
                <a16:creationId xmlns:a16="http://schemas.microsoft.com/office/drawing/2014/main" id="{22309925-9389-435E-9700-E77CD6A7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9601200"/>
            <a:ext cx="6267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Boundaryless-WorkOS | Leadership demo</a:t>
            </a:r>
          </a:p>
        </p:txBody>
      </p:sp>
      <p:sp>
        <p:nvSpPr>
          <p:cNvPr id="13" name="footer.5.num">
            <a:extLst xmlns:a="http://schemas.openxmlformats.org/drawingml/2006/main">
              <a:ext uri="{FF2B5EF4-FFF2-40B4-BE49-F238E27FC236}">
                <a16:creationId xmlns:a16="http://schemas.microsoft.com/office/drawing/2014/main" id="{2B702FAC-53AB-404D-8711-2AC7DCC6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96012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34962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6.title.kicker">
            <a:extLst xmlns:a="http://schemas.openxmlformats.org/drawingml/2006/main">
              <a:ext uri="{FF2B5EF4-FFF2-40B4-BE49-F238E27FC236}">
                <a16:creationId xmlns:a16="http://schemas.microsoft.com/office/drawing/2014/main" id="{216DA04D-1B7C-447F-82B4-15315C8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PLANNED UTILIZATION</a:t>
            </a:r>
          </a:p>
        </p:txBody>
      </p:sp>
      <p:sp>
        <p:nvSpPr>
          <p:cNvPr id="2" name="slide-06.title.title">
            <a:extLst xmlns:a="http://schemas.openxmlformats.org/drawingml/2006/main">
              <a:ext uri="{FF2B5EF4-FFF2-40B4-BE49-F238E27FC236}">
                <a16:creationId xmlns:a16="http://schemas.microsoft.com/office/drawing/2014/main" id="{28E7D19D-F2FD-40DF-9F6F-26331000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585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150" b="1">
                <a:solidFill>
                  <a:srgbClr val="003761"/>
                </a:solidFill>
              </a:defRPr>
            </a:pPr>
            <a:r>
              <a:rPr sz="3150" b="1">
                <a:solidFill>
                  <a:srgbClr val="003761"/>
                </a:solidFill>
              </a:rPr>
              <a:t>Allocation Control is the transactional source of planned capacity.</a:t>
            </a:r>
          </a:p>
        </p:txBody>
      </p:sp>
      <p:sp>
        <p:nvSpPr>
          <p:cNvPr id="3" name="slide-06.title.rule">
            <a:extLst xmlns:a="http://schemas.openxmlformats.org/drawingml/2006/main">
              <a:ext uri="{FF2B5EF4-FFF2-40B4-BE49-F238E27FC236}">
                <a16:creationId xmlns:a16="http://schemas.microsoft.com/office/drawing/2014/main" id="{77E2458F-99C4-40A5-BD21-2B84A1F5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6.title.subtitle">
            <a:extLst xmlns:a="http://schemas.openxmlformats.org/drawingml/2006/main">
              <a:ext uri="{FF2B5EF4-FFF2-40B4-BE49-F238E27FC236}">
                <a16:creationId xmlns:a16="http://schemas.microsoft.com/office/drawing/2014/main" id="{D3282956-B75B-4CB1-9D56-4E7EBC60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220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The right user experience is simple: choose person, project, role on project, date range, and percentage.</a:t>
            </a:r>
          </a:p>
        </p:txBody>
      </p:sp>
      <p:pic>
        <p:nvPicPr>
          <p:cNvPr id="5" name="slide-06.allocati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acae91076405b"/>
          <a:stretch xmlns:a="http://schemas.openxmlformats.org/drawingml/2006/main"/>
        </p:blipFill>
        <p:spPr>
          <a:xfrm xmlns:a="http://schemas.openxmlformats.org/drawingml/2006/main">
            <a:off x="685800" y="3231985"/>
            <a:ext cx="10570464" cy="5945886"/>
          </a:xfrm>
          <a:prstGeom xmlns:a="http://schemas.openxmlformats.org/drawingml/2006/main" prst="rect">
            <a:avLst/>
          </a:prstGeom>
        </p:spPr>
      </p:pic>
      <p:sp>
        <p:nvSpPr>
          <p:cNvPr id="6" name="callout.Editable where it belongs.label">
            <a:extLst xmlns:a="http://schemas.openxmlformats.org/drawingml/2006/main">
              <a:ext uri="{FF2B5EF4-FFF2-40B4-BE49-F238E27FC236}">
                <a16:creationId xmlns:a16="http://schemas.microsoft.com/office/drawing/2014/main" id="{A0AD2239-1BE2-441F-AD23-FB2414FA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048000"/>
            <a:ext cx="594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EDITABLE WHERE IT BELONGS</a:t>
            </a:r>
          </a:p>
        </p:txBody>
      </p:sp>
      <p:sp>
        <p:nvSpPr>
          <p:cNvPr id="7" name="callout.Editable where it belongs.body">
            <a:extLst xmlns:a="http://schemas.openxmlformats.org/drawingml/2006/main">
              <a:ext uri="{FF2B5EF4-FFF2-40B4-BE49-F238E27FC236}">
                <a16:creationId xmlns:a16="http://schemas.microsoft.com/office/drawing/2014/main" id="{650640C7-FC79-4386-8E18-D1338A2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295650"/>
            <a:ext cx="594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Planned percentage is controlled from allocation workflows and scoped detail actions.</a:t>
            </a:r>
          </a:p>
        </p:txBody>
      </p:sp>
      <p:sp>
        <p:nvSpPr>
          <p:cNvPr id="8" name="callout.Date-aware.label">
            <a:extLst xmlns:a="http://schemas.openxmlformats.org/drawingml/2006/main">
              <a:ext uri="{FF2B5EF4-FFF2-40B4-BE49-F238E27FC236}">
                <a16:creationId xmlns:a16="http://schemas.microsoft.com/office/drawing/2014/main" id="{AB14E51F-4FB2-421E-B246-E99BCEB3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171950"/>
            <a:ext cx="594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DATE-AWARE</a:t>
            </a:r>
          </a:p>
        </p:txBody>
      </p:sp>
      <p:sp>
        <p:nvSpPr>
          <p:cNvPr id="9" name="callout.Date-aware.body">
            <a:extLst xmlns:a="http://schemas.openxmlformats.org/drawingml/2006/main">
              <a:ext uri="{FF2B5EF4-FFF2-40B4-BE49-F238E27FC236}">
                <a16:creationId xmlns:a16="http://schemas.microsoft.com/office/drawing/2014/main" id="{EEBC0AB0-63FA-4489-B87C-58F95A6B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419600"/>
            <a:ext cx="594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Start and end dates decide whether capacity counts in current and forecast periods.</a:t>
            </a:r>
          </a:p>
        </p:txBody>
      </p:sp>
      <p:sp>
        <p:nvSpPr>
          <p:cNvPr id="10" name="callout.PM included correctly.label">
            <a:extLst xmlns:a="http://schemas.openxmlformats.org/drawingml/2006/main">
              <a:ext uri="{FF2B5EF4-FFF2-40B4-BE49-F238E27FC236}">
                <a16:creationId xmlns:a16="http://schemas.microsoft.com/office/drawing/2014/main" id="{C6CF97B9-3A02-4CF8-AEE6-9ECA0E8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276850"/>
            <a:ext cx="594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PM INCLUDED CORRECTLY</a:t>
            </a:r>
          </a:p>
        </p:txBody>
      </p:sp>
      <p:sp>
        <p:nvSpPr>
          <p:cNvPr id="11" name="callout.PM included correctly.body">
            <a:extLst xmlns:a="http://schemas.openxmlformats.org/drawingml/2006/main">
              <a:ext uri="{FF2B5EF4-FFF2-40B4-BE49-F238E27FC236}">
                <a16:creationId xmlns:a16="http://schemas.microsoft.com/office/drawing/2014/main" id="{C1C207DF-F1F4-40EC-82A9-654F0613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524500"/>
            <a:ext cx="594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Project Managers count only when they carry active project allocation.</a:t>
            </a:r>
          </a:p>
        </p:txBody>
      </p:sp>
      <p:sp>
        <p:nvSpPr>
          <p:cNvPr id="12" name="callout.Governance users excluded.label">
            <a:extLst xmlns:a="http://schemas.openxmlformats.org/drawingml/2006/main">
              <a:ext uri="{FF2B5EF4-FFF2-40B4-BE49-F238E27FC236}">
                <a16:creationId xmlns:a16="http://schemas.microsoft.com/office/drawing/2014/main" id="{EB10C9E2-0568-49F7-8442-56DB70AA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381750"/>
            <a:ext cx="594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GOVERNANCE USERS EXCLUDED</a:t>
            </a:r>
          </a:p>
        </p:txBody>
      </p:sp>
      <p:sp>
        <p:nvSpPr>
          <p:cNvPr id="13" name="callout.Governance users excluded.body">
            <a:extLst xmlns:a="http://schemas.openxmlformats.org/drawingml/2006/main">
              <a:ext uri="{FF2B5EF4-FFF2-40B4-BE49-F238E27FC236}">
                <a16:creationId xmlns:a16="http://schemas.microsoft.com/office/drawing/2014/main" id="{EB9C924A-8C4E-4EBB-AE42-E3B48C76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629400"/>
            <a:ext cx="594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Admin, HR, and Country Directors do not dilute delivery utilization averages.</a:t>
            </a:r>
          </a:p>
        </p:txBody>
      </p:sp>
      <p:sp>
        <p:nvSpPr>
          <p:cNvPr id="14" name="footer.6.rule">
            <a:extLst xmlns:a="http://schemas.openxmlformats.org/drawingml/2006/main">
              <a:ext uri="{FF2B5EF4-FFF2-40B4-BE49-F238E27FC236}">
                <a16:creationId xmlns:a16="http://schemas.microsoft.com/office/drawing/2014/main" id="{10A5171B-AEB2-450B-BC51-750EC43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5" name="footer.6.text">
            <a:extLst xmlns:a="http://schemas.openxmlformats.org/drawingml/2006/main">
              <a:ext uri="{FF2B5EF4-FFF2-40B4-BE49-F238E27FC236}">
                <a16:creationId xmlns:a16="http://schemas.microsoft.com/office/drawing/2014/main" id="{4CFBCDB7-F210-4B6A-A777-7B724557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58215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Boundaryless-WorkOS | Leadership demo</a:t>
            </a:r>
          </a:p>
        </p:txBody>
      </p:sp>
      <p:sp>
        <p:nvSpPr>
          <p:cNvPr id="16" name="footer.6.num">
            <a:extLst xmlns:a="http://schemas.openxmlformats.org/drawingml/2006/main">
              <a:ext uri="{FF2B5EF4-FFF2-40B4-BE49-F238E27FC236}">
                <a16:creationId xmlns:a16="http://schemas.microsoft.com/office/drawing/2014/main" id="{0A5C3637-A604-4278-95E0-663E16A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95821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15417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7.title.kicker">
            <a:extLst xmlns:a="http://schemas.openxmlformats.org/drawingml/2006/main">
              <a:ext uri="{FF2B5EF4-FFF2-40B4-BE49-F238E27FC236}">
                <a16:creationId xmlns:a16="http://schemas.microsoft.com/office/drawing/2014/main" id="{BAAE1408-B8E8-4290-86B6-63250A95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40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ACTUAL UTILIZATION</a:t>
            </a:r>
          </a:p>
        </p:txBody>
      </p:sp>
      <p:sp>
        <p:nvSpPr>
          <p:cNvPr id="2" name="slide-07.title.title">
            <a:extLst xmlns:a="http://schemas.openxmlformats.org/drawingml/2006/main">
              <a:ext uri="{FF2B5EF4-FFF2-40B4-BE49-F238E27FC236}">
                <a16:creationId xmlns:a16="http://schemas.microsoft.com/office/drawing/2014/main" id="{289398B8-EF09-4192-9A6C-57C17BC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86296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000" b="1">
                <a:solidFill>
                  <a:srgbClr val="003761"/>
                </a:solidFill>
              </a:defRPr>
            </a:pPr>
            <a:r>
              <a:rPr sz="3000" b="1">
                <a:solidFill>
                  <a:srgbClr val="003761"/>
                </a:solidFill>
              </a:rPr>
              <a:t>Weekly timesheets create approved delivery evidence.</a:t>
            </a:r>
          </a:p>
        </p:txBody>
      </p:sp>
      <p:sp>
        <p:nvSpPr>
          <p:cNvPr id="3" name="slide-07.title.rule">
            <a:extLst xmlns:a="http://schemas.openxmlformats.org/drawingml/2006/main">
              <a:ext uri="{FF2B5EF4-FFF2-40B4-BE49-F238E27FC236}">
                <a16:creationId xmlns:a16="http://schemas.microsoft.com/office/drawing/2014/main" id="{747631CB-DC1F-4EC6-837D-D4AA7BC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7.title.subtitle">
            <a:extLst xmlns:a="http://schemas.openxmlformats.org/drawingml/2006/main">
              <a:ext uri="{FF2B5EF4-FFF2-40B4-BE49-F238E27FC236}">
                <a16:creationId xmlns:a16="http://schemas.microsoft.com/office/drawing/2014/main" id="{36ED5987-D035-4F54-8668-893E707A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118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Actual utilization should never be guessed from project status. It should come from submitted, reviewed, and approved hours.</a:t>
            </a:r>
          </a:p>
        </p:txBody>
      </p:sp>
      <p:pic>
        <p:nvPicPr>
          <p:cNvPr id="5" name="slide-07.timesheet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687ae2fd643fe"/>
          <a:stretch xmlns:a="http://schemas.openxmlformats.org/drawingml/2006/main"/>
        </p:blipFill>
        <p:spPr>
          <a:xfrm xmlns:a="http://schemas.openxmlformats.org/drawingml/2006/main">
            <a:off x="666750" y="3383554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6" name="callout.Employee action.label">
            <a:extLst xmlns:a="http://schemas.openxmlformats.org/drawingml/2006/main">
              <a:ext uri="{FF2B5EF4-FFF2-40B4-BE49-F238E27FC236}">
                <a16:creationId xmlns:a16="http://schemas.microsoft.com/office/drawing/2014/main" id="{AD94B961-E28C-4960-AF4C-CA2EF006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868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EMPLOYEE ACTION</a:t>
            </a:r>
          </a:p>
        </p:txBody>
      </p:sp>
      <p:sp>
        <p:nvSpPr>
          <p:cNvPr id="7" name="callout.Employee action.body">
            <a:extLst xmlns:a="http://schemas.openxmlformats.org/drawingml/2006/main">
              <a:ext uri="{FF2B5EF4-FFF2-40B4-BE49-F238E27FC236}">
                <a16:creationId xmlns:a16="http://schemas.microsoft.com/office/drawing/2014/main" id="{DE16D604-0211-4824-A591-119022F7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344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Log weekly effort against assigned projects, save draft, then submit.</a:t>
            </a:r>
          </a:p>
        </p:txBody>
      </p:sp>
      <p:pic>
        <p:nvPicPr>
          <p:cNvPr id="8" name="slide-07.governance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780170ac14b7c"/>
          <a:stretch xmlns:a="http://schemas.openxmlformats.org/drawingml/2006/main"/>
        </p:blipFill>
        <p:spPr>
          <a:xfrm xmlns:a="http://schemas.openxmlformats.org/drawingml/2006/main">
            <a:off x="9305925" y="3383554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9" name="callout.Approver action.label">
            <a:extLst xmlns:a="http://schemas.openxmlformats.org/drawingml/2006/main">
              <a:ext uri="{FF2B5EF4-FFF2-40B4-BE49-F238E27FC236}">
                <a16:creationId xmlns:a16="http://schemas.microsoft.com/office/drawing/2014/main" id="{AE5B3D18-0C26-4B83-9557-D897F470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6868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APPROVER ACTION</a:t>
            </a:r>
          </a:p>
        </p:txBody>
      </p:sp>
      <p:sp>
        <p:nvSpPr>
          <p:cNvPr id="10" name="callout.Approver action.body">
            <a:extLst xmlns:a="http://schemas.openxmlformats.org/drawingml/2006/main">
              <a:ext uri="{FF2B5EF4-FFF2-40B4-BE49-F238E27FC236}">
                <a16:creationId xmlns:a16="http://schemas.microsoft.com/office/drawing/2014/main" id="{DBA6CB87-C3C8-4E8E-9040-D064C004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9344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Approve, reject with reason, or keep pending review before actuals are trusted.</a:t>
            </a:r>
          </a:p>
        </p:txBody>
      </p:sp>
      <p:sp>
        <p:nvSpPr>
          <p:cNvPr id="11" name="footer.7.rule">
            <a:extLst xmlns:a="http://schemas.openxmlformats.org/drawingml/2006/main">
              <a:ext uri="{FF2B5EF4-FFF2-40B4-BE49-F238E27FC236}">
                <a16:creationId xmlns:a16="http://schemas.microsoft.com/office/drawing/2014/main" id="{AD9B4843-EBC9-4B4B-8FB5-F6835D9D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012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2" name="footer.7.text">
            <a:extLst xmlns:a="http://schemas.openxmlformats.org/drawingml/2006/main">
              <a:ext uri="{FF2B5EF4-FFF2-40B4-BE49-F238E27FC236}">
                <a16:creationId xmlns:a16="http://schemas.microsoft.com/office/drawing/2014/main" id="{B136C08E-2F68-4350-B0B2-68682262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9601200"/>
            <a:ext cx="6267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Boundaryless-WorkOS | Leadership demo</a:t>
            </a:r>
          </a:p>
        </p:txBody>
      </p:sp>
      <p:sp>
        <p:nvSpPr>
          <p:cNvPr id="13" name="footer.7.num">
            <a:extLst xmlns:a="http://schemas.openxmlformats.org/drawingml/2006/main">
              <a:ext uri="{FF2B5EF4-FFF2-40B4-BE49-F238E27FC236}">
                <a16:creationId xmlns:a16="http://schemas.microsoft.com/office/drawing/2014/main" id="{87901F63-A1AC-4882-9217-79B23104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96012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47095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8.title.kicker">
            <a:extLst xmlns:a="http://schemas.openxmlformats.org/drawingml/2006/main">
              <a:ext uri="{FF2B5EF4-FFF2-40B4-BE49-F238E27FC236}">
                <a16:creationId xmlns:a16="http://schemas.microsoft.com/office/drawing/2014/main" id="{FE85433F-E83E-453B-9AA4-BE3175CD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DECISION MODEL</a:t>
            </a:r>
          </a:p>
        </p:txBody>
      </p:sp>
      <p:sp>
        <p:nvSpPr>
          <p:cNvPr id="2" name="slide-08.title.title">
            <a:extLst xmlns:a="http://schemas.openxmlformats.org/drawingml/2006/main">
              <a:ext uri="{FF2B5EF4-FFF2-40B4-BE49-F238E27FC236}">
                <a16:creationId xmlns:a16="http://schemas.microsoft.com/office/drawing/2014/main" id="{70D6F792-DFAC-4E70-9A28-1434267E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28397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150" b="1">
                <a:solidFill>
                  <a:srgbClr val="003761"/>
                </a:solidFill>
              </a:defRPr>
            </a:pPr>
            <a:r>
              <a:rPr sz="3150" b="1">
                <a:solidFill>
                  <a:srgbClr val="003761"/>
                </a:solidFill>
              </a:rPr>
              <a:t>Planned, actual, and forecast utilization answer different executive questions.</a:t>
            </a:r>
          </a:p>
        </p:txBody>
      </p:sp>
      <p:sp>
        <p:nvSpPr>
          <p:cNvPr id="3" name="slide-08.title.rule">
            <a:extLst xmlns:a="http://schemas.openxmlformats.org/drawingml/2006/main">
              <a:ext uri="{FF2B5EF4-FFF2-40B4-BE49-F238E27FC236}">
                <a16:creationId xmlns:a16="http://schemas.microsoft.com/office/drawing/2014/main" id="{B11B380A-404B-4C12-B34A-899EF603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8.title.subtitle">
            <a:extLst xmlns:a="http://schemas.openxmlformats.org/drawingml/2006/main">
              <a:ext uri="{FF2B5EF4-FFF2-40B4-BE49-F238E27FC236}">
                <a16:creationId xmlns:a16="http://schemas.microsoft.com/office/drawing/2014/main" id="{5AF6C5C0-28C4-4C3E-B8FF-D49AE263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1734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The strongest demo moment is showing that the variance view is not redundant: it reconciles expectation against approved delivery.</a:t>
            </a:r>
          </a:p>
        </p:txBody>
      </p:sp>
      <p:pic>
        <p:nvPicPr>
          <p:cNvPr id="5" name="slide-08.actu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c2c6ece6e45bd"/>
          <a:stretch xmlns:a="http://schemas.openxmlformats.org/drawingml/2006/main"/>
        </p:blipFill>
        <p:spPr>
          <a:xfrm xmlns:a="http://schemas.openxmlformats.org/drawingml/2006/main">
            <a:off x="685800" y="3464246"/>
            <a:ext cx="9744647" cy="5481364"/>
          </a:xfrm>
          <a:prstGeom xmlns:a="http://schemas.openxmlformats.org/drawingml/2006/main" prst="rect">
            <a:avLst/>
          </a:prstGeom>
        </p:spPr>
      </p:pic>
      <p:sp>
        <p:nvSpPr>
          <p:cNvPr id="6" name="step.1.num">
            <a:extLst xmlns:a="http://schemas.openxmlformats.org/drawingml/2006/main">
              <a:ext uri="{FF2B5EF4-FFF2-40B4-BE49-F238E27FC236}">
                <a16:creationId xmlns:a16="http://schemas.microsoft.com/office/drawing/2014/main" id="{D48079F5-7844-4607-AE7A-D17FAA3C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48000"/>
            <a:ext cx="609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7D00"/>
                </a:solidFill>
              </a:defRPr>
            </a:pPr>
            <a:r>
              <a:rPr sz="2100" b="1">
                <a:solidFill>
                  <a:srgbClr val="EF7D00"/>
                </a:solidFill>
              </a:rPr>
              <a:t>01</a:t>
            </a:r>
          </a:p>
        </p:txBody>
      </p:sp>
      <p:sp>
        <p:nvSpPr>
          <p:cNvPr id="7" name="step.1.copy.label">
            <a:extLst xmlns:a="http://schemas.openxmlformats.org/drawingml/2006/main">
              <a:ext uri="{FF2B5EF4-FFF2-40B4-BE49-F238E27FC236}">
                <a16:creationId xmlns:a16="http://schemas.microsoft.com/office/drawing/2014/main" id="{6DCA679D-8007-4EF9-B335-4FF7504C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48000"/>
            <a:ext cx="5981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PLANNED</a:t>
            </a:r>
          </a:p>
        </p:txBody>
      </p:sp>
      <p:sp>
        <p:nvSpPr>
          <p:cNvPr id="8" name="step.1.copy.body">
            <a:extLst xmlns:a="http://schemas.openxmlformats.org/drawingml/2006/main">
              <a:ext uri="{FF2B5EF4-FFF2-40B4-BE49-F238E27FC236}">
                <a16:creationId xmlns:a16="http://schemas.microsoft.com/office/drawing/2014/main" id="{475FC203-341C-4B70-AF8A-E16D69B7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95650"/>
            <a:ext cx="598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003761"/>
                </a:solidFill>
              </a:defRPr>
            </a:pPr>
            <a:r>
              <a:rPr sz="1650" b="0">
                <a:solidFill>
                  <a:srgbClr val="003761"/>
                </a:solidFill>
              </a:rPr>
              <a:t>What have we committed through allocations?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95C6C-BD50-4A44-8E6D-61E8D300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4810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10" name="step.2.num">
            <a:extLst xmlns:a="http://schemas.openxmlformats.org/drawingml/2006/main">
              <a:ext uri="{FF2B5EF4-FFF2-40B4-BE49-F238E27FC236}">
                <a16:creationId xmlns:a16="http://schemas.microsoft.com/office/drawing/2014/main" id="{88C17706-158E-4BE5-8C23-1D0F6F55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114800"/>
            <a:ext cx="609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7D00"/>
                </a:solidFill>
              </a:defRPr>
            </a:pPr>
            <a:r>
              <a:rPr sz="2100" b="1">
                <a:solidFill>
                  <a:srgbClr val="EF7D00"/>
                </a:solidFill>
              </a:rPr>
              <a:t>02</a:t>
            </a:r>
          </a:p>
        </p:txBody>
      </p:sp>
      <p:sp>
        <p:nvSpPr>
          <p:cNvPr id="11" name="step.2.copy.label">
            <a:extLst xmlns:a="http://schemas.openxmlformats.org/drawingml/2006/main">
              <a:ext uri="{FF2B5EF4-FFF2-40B4-BE49-F238E27FC236}">
                <a16:creationId xmlns:a16="http://schemas.microsoft.com/office/drawing/2014/main" id="{1D1B20E4-43BF-4755-928A-16D6070B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14800"/>
            <a:ext cx="5981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ACTUAL</a:t>
            </a:r>
          </a:p>
        </p:txBody>
      </p:sp>
      <p:sp>
        <p:nvSpPr>
          <p:cNvPr id="12" name="step.2.copy.body">
            <a:extLst xmlns:a="http://schemas.openxmlformats.org/drawingml/2006/main">
              <a:ext uri="{FF2B5EF4-FFF2-40B4-BE49-F238E27FC236}">
                <a16:creationId xmlns:a16="http://schemas.microsoft.com/office/drawing/2014/main" id="{5485CEFC-B0D0-4AEA-938B-5C78EA09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362450"/>
            <a:ext cx="598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003761"/>
                </a:solidFill>
              </a:defRPr>
            </a:pPr>
            <a:r>
              <a:rPr sz="1650" b="0">
                <a:solidFill>
                  <a:srgbClr val="003761"/>
                </a:solidFill>
              </a:rPr>
              <a:t>What approved effort did people log?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9ADD2-F3C6-4E9C-9881-B047AD35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89585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14" name="step.3.num">
            <a:extLst xmlns:a="http://schemas.openxmlformats.org/drawingml/2006/main">
              <a:ext uri="{FF2B5EF4-FFF2-40B4-BE49-F238E27FC236}">
                <a16:creationId xmlns:a16="http://schemas.microsoft.com/office/drawing/2014/main" id="{120F7A0A-73B3-47EF-99AD-998ED2F2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162550"/>
            <a:ext cx="609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7D00"/>
                </a:solidFill>
              </a:defRPr>
            </a:pPr>
            <a:r>
              <a:rPr sz="2100" b="1">
                <a:solidFill>
                  <a:srgbClr val="EF7D00"/>
                </a:solidFill>
              </a:rPr>
              <a:t>03</a:t>
            </a:r>
          </a:p>
        </p:txBody>
      </p:sp>
      <p:sp>
        <p:nvSpPr>
          <p:cNvPr id="15" name="step.3.copy.label">
            <a:extLst xmlns:a="http://schemas.openxmlformats.org/drawingml/2006/main">
              <a:ext uri="{FF2B5EF4-FFF2-40B4-BE49-F238E27FC236}">
                <a16:creationId xmlns:a16="http://schemas.microsoft.com/office/drawing/2014/main" id="{363F35F0-F224-4265-8DF7-B1823F7D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62550"/>
            <a:ext cx="5981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FORECAST</a:t>
            </a:r>
          </a:p>
        </p:txBody>
      </p:sp>
      <p:sp>
        <p:nvSpPr>
          <p:cNvPr id="16" name="step.3.copy.body">
            <a:extLst xmlns:a="http://schemas.openxmlformats.org/drawingml/2006/main">
              <a:ext uri="{FF2B5EF4-FFF2-40B4-BE49-F238E27FC236}">
                <a16:creationId xmlns:a16="http://schemas.microsoft.com/office/drawing/2014/main" id="{1DFE4F16-8E6D-4975-90CF-2C2BBAD2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10200"/>
            <a:ext cx="598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003761"/>
                </a:solidFill>
              </a:defRPr>
            </a:pPr>
            <a:r>
              <a:rPr sz="1650" b="0">
                <a:solidFill>
                  <a:srgbClr val="003761"/>
                </a:solidFill>
              </a:rPr>
              <a:t>Where will overload, bench, or roll-off pressure appear next?</a:t>
            </a:r>
          </a:p>
        </p:txBody>
      </p:sp>
      <p:sp>
        <p:nvSpPr>
          <p:cNvPr id="17" name="footer.8.rule">
            <a:extLst xmlns:a="http://schemas.openxmlformats.org/drawingml/2006/main">
              <a:ext uri="{FF2B5EF4-FFF2-40B4-BE49-F238E27FC236}">
                <a16:creationId xmlns:a16="http://schemas.microsoft.com/office/drawing/2014/main" id="{63AB71A1-4D7D-4015-964A-9071190D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8" name="footer.8.text">
            <a:extLst xmlns:a="http://schemas.openxmlformats.org/drawingml/2006/main">
              <a:ext uri="{FF2B5EF4-FFF2-40B4-BE49-F238E27FC236}">
                <a16:creationId xmlns:a16="http://schemas.microsoft.com/office/drawing/2014/main" id="{7BA65C45-1B68-4E40-BE59-C66D5429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582150"/>
            <a:ext cx="7696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Boundaryless-WorkOS | Leadership demo</a:t>
            </a:r>
          </a:p>
        </p:txBody>
      </p:sp>
      <p:sp>
        <p:nvSpPr>
          <p:cNvPr id="19" name="footer.8.num">
            <a:extLst xmlns:a="http://schemas.openxmlformats.org/drawingml/2006/main">
              <a:ext uri="{FF2B5EF4-FFF2-40B4-BE49-F238E27FC236}">
                <a16:creationId xmlns:a16="http://schemas.microsoft.com/office/drawing/2014/main" id="{84C98DA7-AD38-4BCC-B488-A0E998C7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5821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6108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9.title.kicker">
            <a:extLst xmlns:a="http://schemas.openxmlformats.org/drawingml/2006/main">
              <a:ext uri="{FF2B5EF4-FFF2-40B4-BE49-F238E27FC236}">
                <a16:creationId xmlns:a16="http://schemas.microsoft.com/office/drawing/2014/main" id="{D65A691F-4F27-413F-A2CE-D52699E5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GOVERNANCE AND TRACEABILITY</a:t>
            </a:r>
          </a:p>
        </p:txBody>
      </p:sp>
      <p:sp>
        <p:nvSpPr>
          <p:cNvPr id="2" name="slide-09.title.title">
            <a:extLst xmlns:a="http://schemas.openxmlformats.org/drawingml/2006/main">
              <a:ext uri="{FF2B5EF4-FFF2-40B4-BE49-F238E27FC236}">
                <a16:creationId xmlns:a16="http://schemas.microsoft.com/office/drawing/2014/main" id="{B3DEEDA9-C0A5-420F-A1D0-691BC694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35826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150" b="1">
                <a:solidFill>
                  <a:srgbClr val="003761"/>
                </a:solidFill>
              </a:defRPr>
            </a:pPr>
            <a:r>
              <a:rPr sz="3150" b="1">
                <a:solidFill>
                  <a:srgbClr val="003761"/>
                </a:solidFill>
              </a:rPr>
              <a:t>Production confidence comes from controlled settings, catalogs, audit history, and exportable evidence.</a:t>
            </a:r>
          </a:p>
        </p:txBody>
      </p:sp>
      <p:sp>
        <p:nvSpPr>
          <p:cNvPr id="3" name="slide-09.title.rule">
            <a:extLst xmlns:a="http://schemas.openxmlformats.org/drawingml/2006/main">
              <a:ext uri="{FF2B5EF4-FFF2-40B4-BE49-F238E27FC236}">
                <a16:creationId xmlns:a16="http://schemas.microsoft.com/office/drawing/2014/main" id="{AE44D91F-1EC4-4EF9-AC14-ECC07B66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9.title.subtitle">
            <a:extLst xmlns:a="http://schemas.openxmlformats.org/drawingml/2006/main">
              <a:ext uri="{FF2B5EF4-FFF2-40B4-BE49-F238E27FC236}">
                <a16:creationId xmlns:a16="http://schemas.microsoft.com/office/drawing/2014/main" id="{77003781-AF89-4CD2-ADA8-423E41BB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9182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This is the difference between a dashboard prototype and a product leadership can hand to operations.</a:t>
            </a:r>
          </a:p>
        </p:txBody>
      </p:sp>
      <p:pic>
        <p:nvPicPr>
          <p:cNvPr id="5" name="slide-09.settings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7ea20dde043de"/>
          <a:stretch xmlns:a="http://schemas.openxmlformats.org/drawingml/2006/main"/>
        </p:blipFill>
        <p:spPr>
          <a:xfrm xmlns:a="http://schemas.openxmlformats.org/drawingml/2006/main">
            <a:off x="666750" y="3504636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6" name="callout.Controlled change.label">
            <a:extLst xmlns:a="http://schemas.openxmlformats.org/drawingml/2006/main">
              <a:ext uri="{FF2B5EF4-FFF2-40B4-BE49-F238E27FC236}">
                <a16:creationId xmlns:a16="http://schemas.microsoft.com/office/drawing/2014/main" id="{0767A978-6E07-4B66-B174-C89CCB8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CONTROLLED CHANGE</a:t>
            </a:r>
          </a:p>
        </p:txBody>
      </p:sp>
      <p:sp>
        <p:nvSpPr>
          <p:cNvPr id="7" name="callout.Controlled change.body">
            <a:extLst xmlns:a="http://schemas.openxmlformats.org/drawingml/2006/main">
              <a:ext uri="{FF2B5EF4-FFF2-40B4-BE49-F238E27FC236}">
                <a16:creationId xmlns:a16="http://schemas.microsoft.com/office/drawing/2014/main" id="{B94868B2-4B1F-42F5-943E-1CC01D37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106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Roles, catalogs, thresholds, and user management sit under governed access.</a:t>
            </a:r>
          </a:p>
        </p:txBody>
      </p:sp>
      <p:pic>
        <p:nvPicPr>
          <p:cNvPr id="8" name="slide-09.audit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808eea1ec41b6"/>
          <a:stretch xmlns:a="http://schemas.openxmlformats.org/drawingml/2006/main"/>
        </p:blipFill>
        <p:spPr>
          <a:xfrm xmlns:a="http://schemas.openxmlformats.org/drawingml/2006/main">
            <a:off x="9305925" y="3504636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9" name="callout.Traceable evidence.label">
            <a:extLst xmlns:a="http://schemas.openxmlformats.org/drawingml/2006/main">
              <a:ext uri="{FF2B5EF4-FFF2-40B4-BE49-F238E27FC236}">
                <a16:creationId xmlns:a16="http://schemas.microsoft.com/office/drawing/2014/main" id="{8639689F-3C19-4649-BFFF-5DB40327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7630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TRACEABLE EVIDENCE</a:t>
            </a:r>
          </a:p>
        </p:txBody>
      </p:sp>
      <p:sp>
        <p:nvSpPr>
          <p:cNvPr id="10" name="callout.Traceable evidence.body">
            <a:extLst xmlns:a="http://schemas.openxmlformats.org/drawingml/2006/main">
              <a:ext uri="{FF2B5EF4-FFF2-40B4-BE49-F238E27FC236}">
                <a16:creationId xmlns:a16="http://schemas.microsoft.com/office/drawing/2014/main" id="{EFEA3084-C2F8-4D7B-8CE5-57418931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0106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Audit and exports help leadership trust what changed, who changed it, and when.</a:t>
            </a:r>
          </a:p>
        </p:txBody>
      </p:sp>
      <p:sp>
        <p:nvSpPr>
          <p:cNvPr id="11" name="footer.9.rule">
            <a:extLst xmlns:a="http://schemas.openxmlformats.org/drawingml/2006/main">
              <a:ext uri="{FF2B5EF4-FFF2-40B4-BE49-F238E27FC236}">
                <a16:creationId xmlns:a16="http://schemas.microsoft.com/office/drawing/2014/main" id="{B215BE10-C3A9-4BCB-A38E-DA3B3680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012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2" name="footer.9.text">
            <a:extLst xmlns:a="http://schemas.openxmlformats.org/drawingml/2006/main">
              <a:ext uri="{FF2B5EF4-FFF2-40B4-BE49-F238E27FC236}">
                <a16:creationId xmlns:a16="http://schemas.microsoft.com/office/drawing/2014/main" id="{05423E0F-0C4B-48F6-9E92-FCAA1ACA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9601200"/>
            <a:ext cx="6267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Boundaryless-WorkOS | Leadership demo</a:t>
            </a:r>
          </a:p>
        </p:txBody>
      </p:sp>
      <p:sp>
        <p:nvSpPr>
          <p:cNvPr id="13" name="footer.9.num">
            <a:extLst xmlns:a="http://schemas.openxmlformats.org/drawingml/2006/main">
              <a:ext uri="{FF2B5EF4-FFF2-40B4-BE49-F238E27FC236}">
                <a16:creationId xmlns:a16="http://schemas.microsoft.com/office/drawing/2014/main" id="{494ED547-5888-40BE-AD14-0A89855E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96012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98634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.title.kicker">
            <a:extLst xmlns:a="http://schemas.openxmlformats.org/drawingml/2006/main">
              <a:ext uri="{FF2B5EF4-FFF2-40B4-BE49-F238E27FC236}">
                <a16:creationId xmlns:a16="http://schemas.microsoft.com/office/drawing/2014/main" id="{6ADC2BDE-AB7A-40AB-A725-EB3B2091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LEADERSHIP ASK</a:t>
            </a:r>
          </a:p>
        </p:txBody>
      </p:sp>
      <p:sp>
        <p:nvSpPr>
          <p:cNvPr id="2" name="slide-10.title.title">
            <a:extLst xmlns:a="http://schemas.openxmlformats.org/drawingml/2006/main">
              <a:ext uri="{FF2B5EF4-FFF2-40B4-BE49-F238E27FC236}">
                <a16:creationId xmlns:a16="http://schemas.microsoft.com/office/drawing/2014/main" id="{AE331DC0-BF68-4CE2-8DE1-AD995FD6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6286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600" b="1">
                <a:solidFill>
                  <a:srgbClr val="003761"/>
                </a:solidFill>
              </a:defRPr>
            </a:pPr>
            <a:r>
              <a:rPr sz="3600" b="1">
                <a:solidFill>
                  <a:srgbClr val="003761"/>
                </a:solidFill>
              </a:rPr>
              <a:t>Approve a structured UAT rollout using real operating cadence, not isolated feature testing.</a:t>
            </a:r>
          </a:p>
        </p:txBody>
      </p:sp>
      <p:sp>
        <p:nvSpPr>
          <p:cNvPr id="3" name="slide-10.title.rule">
            <a:extLst xmlns:a="http://schemas.openxmlformats.org/drawingml/2006/main">
              <a:ext uri="{FF2B5EF4-FFF2-40B4-BE49-F238E27FC236}">
                <a16:creationId xmlns:a16="http://schemas.microsoft.com/office/drawing/2014/main" id="{86585B70-5B88-41DC-81FE-BE3F65AE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10.title.subtitle">
            <a:extLst xmlns:a="http://schemas.openxmlformats.org/drawingml/2006/main">
              <a:ext uri="{FF2B5EF4-FFF2-40B4-BE49-F238E27FC236}">
                <a16:creationId xmlns:a16="http://schemas.microsoft.com/office/drawing/2014/main" id="{B54AA163-CB9E-42EF-9DD3-11080EF9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6115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The product is ready to be demonstrated as an end-to-end utilization operating system.</a:t>
            </a:r>
          </a:p>
        </p:txBody>
      </p:sp>
      <p:pic>
        <p:nvPicPr>
          <p:cNvPr id="5" name="slide-10.shot.dashbo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8ad903fcf45d5"/>
          <a:srcRect xmlns:a="http://schemas.openxmlformats.org/drawingml/2006/main" l="18484" t="0" r="184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19656" y="647700"/>
            <a:ext cx="4698397" cy="4192905"/>
          </a:xfrm>
          <a:prstGeom xmlns:a="http://schemas.openxmlformats.org/drawingml/2006/main" prst="rect">
            <a:avLst/>
          </a:prstGeom>
        </p:spPr>
      </p:pic>
      <p:pic>
        <p:nvPicPr>
          <p:cNvPr id="6" name="slide-10.shot.projec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a01edaab24862"/>
          <a:srcRect xmlns:a="http://schemas.openxmlformats.org/drawingml/2006/main" l="18484" t="0" r="184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08553" y="647700"/>
            <a:ext cx="4698397" cy="4192905"/>
          </a:xfrm>
          <a:prstGeom xmlns:a="http://schemas.openxmlformats.org/drawingml/2006/main" prst="rect">
            <a:avLst/>
          </a:prstGeom>
        </p:spPr>
      </p:pic>
      <p:pic>
        <p:nvPicPr>
          <p:cNvPr id="7" name="slide-10.shot.alloc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ad3ca0cf44db1"/>
          <a:srcRect xmlns:a="http://schemas.openxmlformats.org/drawingml/2006/main" l="18484" t="0" r="184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19656" y="5031105"/>
            <a:ext cx="4698397" cy="4192905"/>
          </a:xfrm>
          <a:prstGeom xmlns:a="http://schemas.openxmlformats.org/drawingml/2006/main" prst="rect">
            <a:avLst/>
          </a:prstGeom>
        </p:spPr>
      </p:pic>
      <p:pic>
        <p:nvPicPr>
          <p:cNvPr id="8" name="slide-10.shot.governa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c0c1efcf54228"/>
          <a:srcRect xmlns:a="http://schemas.openxmlformats.org/drawingml/2006/main" l="18484" t="0" r="184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08553" y="5031105"/>
            <a:ext cx="4698397" cy="4192905"/>
          </a:xfrm>
          <a:prstGeom xmlns:a="http://schemas.openxmlformats.org/drawingml/2006/main" prst="rect">
            <a:avLst/>
          </a:prstGeom>
        </p:spPr>
      </p:pic>
      <p:sp>
        <p:nvSpPr>
          <p:cNvPr id="9" name="callout.Week 1.label">
            <a:extLst xmlns:a="http://schemas.openxmlformats.org/drawingml/2006/main">
              <a:ext uri="{FF2B5EF4-FFF2-40B4-BE49-F238E27FC236}">
                <a16:creationId xmlns:a16="http://schemas.microsoft.com/office/drawing/2014/main" id="{10EFA9FD-FC9C-4C26-A9EA-B57C5E6D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WEEK 1</a:t>
            </a:r>
          </a:p>
        </p:txBody>
      </p:sp>
      <p:sp>
        <p:nvSpPr>
          <p:cNvPr id="10" name="callout.Week 1.body">
            <a:extLst xmlns:a="http://schemas.openxmlformats.org/drawingml/2006/main">
              <a:ext uri="{FF2B5EF4-FFF2-40B4-BE49-F238E27FC236}">
                <a16:creationId xmlns:a16="http://schemas.microsoft.com/office/drawing/2014/main" id="{A081DC37-C328-42C2-8CCE-7866FDC3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666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Validate master data and ownership mapping with Admin, HR, PM, and Country Director users.</a:t>
            </a:r>
          </a:p>
        </p:txBody>
      </p:sp>
      <p:sp>
        <p:nvSpPr>
          <p:cNvPr id="11" name="callout.Week 2.label">
            <a:extLst xmlns:a="http://schemas.openxmlformats.org/drawingml/2006/main">
              <a:ext uri="{FF2B5EF4-FFF2-40B4-BE49-F238E27FC236}">
                <a16:creationId xmlns:a16="http://schemas.microsoft.com/office/drawing/2014/main" id="{FD9F673A-C14A-42BE-B2D0-1EDF20CB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WEEK 2</a:t>
            </a:r>
          </a:p>
        </p:txBody>
      </p:sp>
      <p:sp>
        <p:nvSpPr>
          <p:cNvPr id="12" name="callout.Week 2.body">
            <a:extLst xmlns:a="http://schemas.openxmlformats.org/drawingml/2006/main">
              <a:ext uri="{FF2B5EF4-FFF2-40B4-BE49-F238E27FC236}">
                <a16:creationId xmlns:a16="http://schemas.microsoft.com/office/drawing/2014/main" id="{C7996ED1-8C50-4C74-80AB-E8B87DB1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666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Run allocations, timesheets, approvals, and planned-vs-actual review using demo-to-real data replacement.</a:t>
            </a:r>
          </a:p>
        </p:txBody>
      </p:sp>
      <p:sp>
        <p:nvSpPr>
          <p:cNvPr id="13" name="callout.Decision.label">
            <a:extLst xmlns:a="http://schemas.openxmlformats.org/drawingml/2006/main">
              <a:ext uri="{FF2B5EF4-FFF2-40B4-BE49-F238E27FC236}">
                <a16:creationId xmlns:a16="http://schemas.microsoft.com/office/drawing/2014/main" id="{FB6F2373-14A6-4A46-ABC7-4D86AE7E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2460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DECISION</a:t>
            </a:r>
          </a:p>
        </p:txBody>
      </p:sp>
      <p:sp>
        <p:nvSpPr>
          <p:cNvPr id="14" name="callout.Decision.body">
            <a:extLst xmlns:a="http://schemas.openxmlformats.org/drawingml/2006/main">
              <a:ext uri="{FF2B5EF4-FFF2-40B4-BE49-F238E27FC236}">
                <a16:creationId xmlns:a16="http://schemas.microsoft.com/office/drawing/2014/main" id="{A1C1A399-8FB6-421C-A9DA-8DBC9182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666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Confirm production database, named users, import sequence, and company SSO path after UAT.</a:t>
            </a:r>
          </a:p>
        </p:txBody>
      </p:sp>
      <p:sp>
        <p:nvSpPr>
          <p:cNvPr id="15" name="footer.10.rule">
            <a:extLst xmlns:a="http://schemas.openxmlformats.org/drawingml/2006/main">
              <a:ext uri="{FF2B5EF4-FFF2-40B4-BE49-F238E27FC236}">
                <a16:creationId xmlns:a16="http://schemas.microsoft.com/office/drawing/2014/main" id="{D5673923-5D39-477D-93D3-D8F8E9A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6" name="footer.10.text">
            <a:extLst xmlns:a="http://schemas.openxmlformats.org/drawingml/2006/main">
              <a:ext uri="{FF2B5EF4-FFF2-40B4-BE49-F238E27FC236}">
                <a16:creationId xmlns:a16="http://schemas.microsoft.com/office/drawing/2014/main" id="{69403933-9294-4CDC-84C9-8E5ED4ED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9486900"/>
            <a:ext cx="4610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Final leadership close: one product, one operating rhythm, one governed utilization story</a:t>
            </a:r>
          </a:p>
        </p:txBody>
      </p:sp>
      <p:sp>
        <p:nvSpPr>
          <p:cNvPr id="17" name="footer.10.num">
            <a:extLst xmlns:a="http://schemas.openxmlformats.org/drawingml/2006/main">
              <a:ext uri="{FF2B5EF4-FFF2-40B4-BE49-F238E27FC236}">
                <a16:creationId xmlns:a16="http://schemas.microsoft.com/office/drawing/2014/main" id="{69B02E3A-F980-412C-BD60-AE8DC5AB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94869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3093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2026-05-07T05:43:06.2690000Z</dcterms:created>
  <dcterms:modified xsi:type="dcterms:W3CDTF">2026-05-07T05:43:06.2690000Z</dcterms:modified>
</coreProperties>
</file>