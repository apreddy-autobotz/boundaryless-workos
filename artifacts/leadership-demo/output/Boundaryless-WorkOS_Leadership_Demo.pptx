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notesMasters/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2.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bb1d4c2a26247b4" /><Relationship Type="http://schemas.openxmlformats.org/officeDocument/2006/relationships/extended-properties" Target="/docProps/app.xml" Id="R8b1a3447f3cb448b" /><Relationship Type="http://schemas.openxmlformats.org/officeDocument/2006/relationships/officeDocument" Target="/ppt/presentation.xml" Id="R2262a554df204ae3" /></Relationships>
</file>

<file path=ppt/presentation.xml><?xml version="1.0" encoding="utf-8"?>
<p:presentation xmlns:p="http://schemas.openxmlformats.org/presentationml/2006/main">
  <p:sldMasterIdLst>
    <p:sldMasterId xmlns:r="http://schemas.openxmlformats.org/officeDocument/2006/relationships" id="2147483648" r:id="R840c7b30eb1f4483"/>
  </p:sldMasterIdLst>
  <p:notesMasterIdLst>
    <p:notesMasterId xmlns:r="http://schemas.openxmlformats.org/officeDocument/2006/relationships" r:id="R78056122eb0e4374"/>
  </p:notesMasterIdLst>
  <p:sldIdLst>
    <p:sldId xmlns:r="http://schemas.openxmlformats.org/officeDocument/2006/relationships" id="256" r:id="R0f97e95bb9ed405d"/>
    <p:sldId xmlns:r="http://schemas.openxmlformats.org/officeDocument/2006/relationships" id="257" r:id="Rabb4aee8fde5480b"/>
    <p:sldId xmlns:r="http://schemas.openxmlformats.org/officeDocument/2006/relationships" id="258" r:id="Re9a42480441e4cda"/>
    <p:sldId xmlns:r="http://schemas.openxmlformats.org/officeDocument/2006/relationships" id="259" r:id="R7d9c59057aee455b"/>
    <p:sldId xmlns:r="http://schemas.openxmlformats.org/officeDocument/2006/relationships" id="260" r:id="Ra9c2435aa1544bd5"/>
    <p:sldId xmlns:r="http://schemas.openxmlformats.org/officeDocument/2006/relationships" id="261" r:id="Rc8b23fe74adf4639"/>
    <p:sldId xmlns:r="http://schemas.openxmlformats.org/officeDocument/2006/relationships" id="262" r:id="Rde10d17496b64dd1"/>
    <p:sldId xmlns:r="http://schemas.openxmlformats.org/officeDocument/2006/relationships" id="263" r:id="R267821a9896a4b76"/>
  </p:sldIdLst>
  <p:sldSz cx="18288000" cy="10287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slideMaster" Target="/ppt/slideMasters/slideMaster1.xml" Id="R840c7b30eb1f4483" /><Relationship Type="http://schemas.openxmlformats.org/officeDocument/2006/relationships/theme" Target="/ppt/theme/theme1.xml" Id="R654726ebfd4e446f" /><Relationship Type="http://schemas.openxmlformats.org/officeDocument/2006/relationships/notesMaster" Target="/ppt/notesMasters/notesMaster1.xml" Id="R78056122eb0e4374" /><Relationship Type="http://schemas.openxmlformats.org/officeDocument/2006/relationships/presProps" Target="/ppt/presProps.xml" Id="Rb3ceb46d0c0f4d1e" /><Relationship Type="http://schemas.openxmlformats.org/officeDocument/2006/relationships/viewProps" Target="/ppt/viewProps.xml" Id="Rd94d9c7e85eb48e2" /><Relationship Type="http://schemas.openxmlformats.org/officeDocument/2006/relationships/tableStyles" Target="/ppt/tableStyles.xml" Id="Rfbbf87bdee5d472f" /><Relationship Type="http://schemas.openxmlformats.org/officeDocument/2006/relationships/slide" Target="/ppt/slides/slide1.xml" Id="R0f97e95bb9ed405d" /><Relationship Type="http://schemas.openxmlformats.org/officeDocument/2006/relationships/slide" Target="/ppt/slides/slide2.xml" Id="Rabb4aee8fde5480b" /><Relationship Type="http://schemas.openxmlformats.org/officeDocument/2006/relationships/slide" Target="/ppt/slides/slide3.xml" Id="Re9a42480441e4cda" /><Relationship Type="http://schemas.openxmlformats.org/officeDocument/2006/relationships/slide" Target="/ppt/slides/slide4.xml" Id="R7d9c59057aee455b" /><Relationship Type="http://schemas.openxmlformats.org/officeDocument/2006/relationships/slide" Target="/ppt/slides/slide5.xml" Id="Ra9c2435aa1544bd5" /><Relationship Type="http://schemas.openxmlformats.org/officeDocument/2006/relationships/slide" Target="/ppt/slides/slide6.xml" Id="Rc8b23fe74adf4639" /><Relationship Type="http://schemas.openxmlformats.org/officeDocument/2006/relationships/slide" Target="/ppt/slides/slide7.xml" Id="Rde10d17496b64dd1" /><Relationship Type="http://schemas.openxmlformats.org/officeDocument/2006/relationships/slide" Target="/ppt/slides/slide8.xml" Id="R267821a9896a4b7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1c158a9cd07c472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c7498d1e64a42df" /><Relationship Type="http://schemas.openxmlformats.org/officeDocument/2006/relationships/notesMaster" Target="/ppt/notesMasters/notesMaster1.xml" Id="R9b771787069d43c4" /></Relationships>
</file>

<file path=ppt/notesSlides/_rels/notesSlide2.xml.rels>&#65279;<?xml version="1.0" encoding="utf-8"?><Relationships xmlns="http://schemas.openxmlformats.org/package/2006/relationships"><Relationship Type="http://schemas.openxmlformats.org/officeDocument/2006/relationships/slide" Target="/ppt/slides/slide2.xml" Id="Rc8a36a02245e4370" /><Relationship Type="http://schemas.openxmlformats.org/officeDocument/2006/relationships/notesMaster" Target="/ppt/notesMasters/notesMaster1.xml" Id="R6821b90a26ff4ab0" /></Relationships>
</file>

<file path=ppt/notesSlides/_rels/notesSlide3.xml.rels>&#65279;<?xml version="1.0" encoding="utf-8"?><Relationships xmlns="http://schemas.openxmlformats.org/package/2006/relationships"><Relationship Type="http://schemas.openxmlformats.org/officeDocument/2006/relationships/slide" Target="/ppt/slides/slide3.xml" Id="Ra2ee019e73d94e46" /><Relationship Type="http://schemas.openxmlformats.org/officeDocument/2006/relationships/notesMaster" Target="/ppt/notesMasters/notesMaster1.xml" Id="R12c3dc9b1d514568" /></Relationships>
</file>

<file path=ppt/notesSlides/_rels/notesSlide4.xml.rels>&#65279;<?xml version="1.0" encoding="utf-8"?><Relationships xmlns="http://schemas.openxmlformats.org/package/2006/relationships"><Relationship Type="http://schemas.openxmlformats.org/officeDocument/2006/relationships/slide" Target="/ppt/slides/slide4.xml" Id="Ra109a9e30ac544bc" /><Relationship Type="http://schemas.openxmlformats.org/officeDocument/2006/relationships/notesMaster" Target="/ppt/notesMasters/notesMaster1.xml" Id="R5f8b5954d26d48f4" /></Relationships>
</file>

<file path=ppt/notesSlides/_rels/notesSlide5.xml.rels>&#65279;<?xml version="1.0" encoding="utf-8"?><Relationships xmlns="http://schemas.openxmlformats.org/package/2006/relationships"><Relationship Type="http://schemas.openxmlformats.org/officeDocument/2006/relationships/slide" Target="/ppt/slides/slide5.xml" Id="R31ef7e89620d4927" /><Relationship Type="http://schemas.openxmlformats.org/officeDocument/2006/relationships/notesMaster" Target="/ppt/notesMasters/notesMaster1.xml" Id="R5a00eba7b0b949cb" /></Relationships>
</file>

<file path=ppt/notesSlides/_rels/notesSlide6.xml.rels>&#65279;<?xml version="1.0" encoding="utf-8"?><Relationships xmlns="http://schemas.openxmlformats.org/package/2006/relationships"><Relationship Type="http://schemas.openxmlformats.org/officeDocument/2006/relationships/slide" Target="/ppt/slides/slide6.xml" Id="R0b1b8f740a14402e" /><Relationship Type="http://schemas.openxmlformats.org/officeDocument/2006/relationships/notesMaster" Target="/ppt/notesMasters/notesMaster1.xml" Id="R76f826e278f94bc0" /></Relationships>
</file>

<file path=ppt/notesSlides/_rels/notesSlide7.xml.rels>&#65279;<?xml version="1.0" encoding="utf-8"?><Relationships xmlns="http://schemas.openxmlformats.org/package/2006/relationships"><Relationship Type="http://schemas.openxmlformats.org/officeDocument/2006/relationships/slide" Target="/ppt/slides/slide7.xml" Id="R9564daacc40a472a" /><Relationship Type="http://schemas.openxmlformats.org/officeDocument/2006/relationships/notesMaster" Target="/ppt/notesMasters/notesMaster1.xml" Id="Re0dc2bb0e2944e76" /></Relationships>
</file>

<file path=ppt/notesSlides/_rels/notesSlide8.xml.rels>&#65279;<?xml version="1.0" encoding="utf-8"?><Relationships xmlns="http://schemas.openxmlformats.org/package/2006/relationships"><Relationship Type="http://schemas.openxmlformats.org/officeDocument/2006/relationships/slide" Target="/ppt/slides/slide8.xml" Id="R3c2b17fed73149f6" /><Relationship Type="http://schemas.openxmlformats.org/officeDocument/2006/relationships/notesMaster" Target="/ppt/notesMasters/notesMaster1.xml" Id="Rfbc34af4aaef452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45fe5dee7844f3f" /></Relationships>
</file>

<file path=ppt/slideLayouts/slideLayout2.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theme/theme1.xml" Id="Rf4625e5723b74ce6" /><Relationship Type="http://schemas.openxmlformats.org/officeDocument/2006/relationships/slideLayout" Target="/ppt/slideLayouts/slideLayout2.xml" Id="Re27e92452e57480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27e92452e57480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s/_rels/slide1.xml.rels>&#65279;<?xml version="1.0" encoding="utf-8"?><Relationships xmlns="http://schemas.openxmlformats.org/package/2006/relationships"><Relationship Type="http://schemas.openxmlformats.org/officeDocument/2006/relationships/slideLayout" Target="/ppt/slideLayouts/slideLayout2.xml" Id="Rf819e7c3b65a44e6" /><Relationship Type="http://schemas.openxmlformats.org/officeDocument/2006/relationships/image" Target="/ppt/media/image.png" Id="R64c61686484d4ed8" /><Relationship Type="http://schemas.openxmlformats.org/officeDocument/2006/relationships/notesSlide" Target="/ppt/notesSlides/notesSlide1.xml" Id="R52e2f773ce744915"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9d308c1b451d4869" /><Relationship Type="http://schemas.openxmlformats.org/officeDocument/2006/relationships/notesSlide" Target="/ppt/notesSlides/notesSlide2.xml" Id="Rdb52d37480e04c2d"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644143101eb849fe" /><Relationship Type="http://schemas.openxmlformats.org/officeDocument/2006/relationships/notesSlide" Target="/ppt/notesSlides/notesSlide3.xml" Id="R97ae03564aa144dc"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6105dd6e3e724648" /><Relationship Type="http://schemas.openxmlformats.org/officeDocument/2006/relationships/notesSlide" Target="/ppt/notesSlides/notesSlide4.xml" Id="R577fe1e207da46f2"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575c7e2087f74991" /><Relationship Type="http://schemas.openxmlformats.org/officeDocument/2006/relationships/notesSlide" Target="/ppt/notesSlides/notesSlide5.xml" Id="R22c61c727ad349d4"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d97f7d2b54ca47ea" /><Relationship Type="http://schemas.openxmlformats.org/officeDocument/2006/relationships/notesSlide" Target="/ppt/notesSlides/notesSlide6.xml" Id="R724135b4608e4280"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2a61560a729a4c96" /><Relationship Type="http://schemas.openxmlformats.org/officeDocument/2006/relationships/notesSlide" Target="/ppt/notesSlides/notesSlide7.xml" Id="R41b57e2905324f96"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c779de8291e84ba6" /><Relationship Type="http://schemas.openxmlformats.org/officeDocument/2006/relationships/notesSlide" Target="/ppt/notesSlides/notesSlide8.xml" Id="Rebeabd917c2440c8"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1" name="slide-1.logo"/>
          <p:cNvPicPr>
            <a:picLocks xmlns:a="http://schemas.openxmlformats.org/drawingml/2006/main" noChangeAspect="1"/>
          </p:cNvPicPr>
          <p:nvPr/>
        </p:nvPicPr>
        <p:blipFill>
          <a:blip xmlns:r="http://schemas.openxmlformats.org/officeDocument/2006/relationships" xmlns:a="http://schemas.openxmlformats.org/drawingml/2006/main" r:embed="R64c61686484d4ed8"/>
          <a:stretch xmlns:a="http://schemas.openxmlformats.org/drawingml/2006/main"/>
        </p:blipFill>
        <p:spPr>
          <a:xfrm xmlns:a="http://schemas.openxmlformats.org/drawingml/2006/main">
            <a:off x="914400" y="762000"/>
            <a:ext cx="2762250" cy="647700"/>
          </a:xfrm>
          <a:prstGeom xmlns:a="http://schemas.openxmlformats.org/drawingml/2006/main" prst="rect">
            <a:avLst/>
          </a:prstGeom>
        </p:spPr>
      </p:pic>
      <p:sp>
        <p:nvSpPr>
          <p:cNvPr id="2" name="slide-1.title.kicker">
            <a:extLst xmlns:a="http://schemas.openxmlformats.org/drawingml/2006/main">
              <a:ext uri="{FF2B5EF4-FFF2-40B4-BE49-F238E27FC236}">
                <a16:creationId xmlns:a16="http://schemas.microsoft.com/office/drawing/2014/main" id="{5C7E7BCB-71F8-483E-8F48-D538D5E37062}"/>
              </a:ext>
            </a:extLst>
          </p:cNvPr>
          <p:cNvSpPr>
            <a:spLocks xmlns:a="http://schemas.openxmlformats.org/drawingml/2006/main" noGrp="1"/>
          </p:cNvSpPr>
          <p:nvPr/>
        </p:nvSpPr>
        <p:spPr>
          <a:xfrm xmlns:a="http://schemas.openxmlformats.org/drawingml/2006/main">
            <a:off x="10210800" y="762000"/>
            <a:ext cx="716280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b="1">
                <a:solidFill>
                  <a:srgbClr val="EF7D00"/>
                </a:solidFill>
              </a:defRPr>
            </a:pPr>
            <a:r>
              <a:rPr sz="1350" b="1">
                <a:solidFill>
                  <a:srgbClr val="EF7D00"/>
                </a:solidFill>
              </a:rPr>
              <a:t>LEADERSHIP DEMO PACK</a:t>
            </a:r>
          </a:p>
        </p:txBody>
      </p:sp>
      <p:sp>
        <p:nvSpPr>
          <p:cNvPr id="3" name="slide-1.title.title">
            <a:extLst xmlns:a="http://schemas.openxmlformats.org/drawingml/2006/main">
              <a:ext uri="{FF2B5EF4-FFF2-40B4-BE49-F238E27FC236}">
                <a16:creationId xmlns:a16="http://schemas.microsoft.com/office/drawing/2014/main" id="{F1CBDB12-5434-4048-BE57-DF4594C6B591}"/>
              </a:ext>
            </a:extLst>
          </p:cNvPr>
          <p:cNvSpPr>
            <a:spLocks xmlns:a="http://schemas.openxmlformats.org/drawingml/2006/main" noGrp="1"/>
          </p:cNvSpPr>
          <p:nvPr/>
        </p:nvSpPr>
        <p:spPr>
          <a:xfrm xmlns:a="http://schemas.openxmlformats.org/drawingml/2006/main">
            <a:off x="10210800" y="1162050"/>
            <a:ext cx="7448550" cy="16383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05000"/>
              </a:lnSpc>
              <a:buNone/>
              <a:defRPr sz="5100" b="1">
                <a:solidFill>
                  <a:srgbClr val="073763"/>
                </a:solidFill>
              </a:defRPr>
            </a:pPr>
            <a:r>
              <a:rPr sz="5100" b="1">
                <a:solidFill>
                  <a:srgbClr val="073763"/>
                </a:solidFill>
              </a:rPr>
              <a:t>Boundaryless-WorkOS</a:t>
            </a:r>
          </a:p>
        </p:txBody>
      </p:sp>
      <p:sp>
        <p:nvSpPr>
          <p:cNvPr id="4" name="slide-1.title.rule">
            <a:extLst xmlns:a="http://schemas.openxmlformats.org/drawingml/2006/main">
              <a:ext uri="{FF2B5EF4-FFF2-40B4-BE49-F238E27FC236}">
                <a16:creationId xmlns:a16="http://schemas.microsoft.com/office/drawing/2014/main" id="{F98F2B73-FD9D-43E9-8CB0-A32ABA7174D3}"/>
              </a:ext>
            </a:extLst>
          </p:cNvPr>
          <p:cNvSpPr>
            <a:spLocks xmlns:a="http://schemas.openxmlformats.org/drawingml/2006/main" noGrp="1"/>
          </p:cNvSpPr>
          <p:nvPr/>
        </p:nvSpPr>
        <p:spPr>
          <a:xfrm xmlns:a="http://schemas.openxmlformats.org/drawingml/2006/main">
            <a:off x="10210800" y="2971800"/>
            <a:ext cx="1714500" cy="57150"/>
          </a:xfrm>
          <a:prstGeom xmlns:a="http://schemas.openxmlformats.org/drawingml/2006/main" prst="rect">
            <a:avLst/>
          </a:prstGeom>
          <a:solidFill xmlns:a="http://schemas.openxmlformats.org/drawingml/2006/main">
            <a:srgbClr val="EF7D00"/>
          </a:solidFill>
          <a:ln xmlns:a="http://schemas.openxmlformats.org/drawingml/2006/main" w="0">
            <a:solidFill>
              <a:srgbClr val="EF7D00"/>
            </a:solidFill>
            <a:prstDash val="solid"/>
          </a:ln>
        </p:spPr>
      </p:sp>
      <p:sp>
        <p:nvSpPr>
          <p:cNvPr id="5" name="slide-1.title.subtitle">
            <a:extLst xmlns:a="http://schemas.openxmlformats.org/drawingml/2006/main">
              <a:ext uri="{FF2B5EF4-FFF2-40B4-BE49-F238E27FC236}">
                <a16:creationId xmlns:a16="http://schemas.microsoft.com/office/drawing/2014/main" id="{0880221A-54FC-4DD4-8FC3-8D341A2CDFCA}"/>
              </a:ext>
            </a:extLst>
          </p:cNvPr>
          <p:cNvSpPr>
            <a:spLocks xmlns:a="http://schemas.openxmlformats.org/drawingml/2006/main" noGrp="1"/>
          </p:cNvSpPr>
          <p:nvPr/>
        </p:nvSpPr>
        <p:spPr>
          <a:xfrm xmlns:a="http://schemas.openxmlformats.org/drawingml/2006/main">
            <a:off x="10210800" y="3219450"/>
            <a:ext cx="7162800" cy="7810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22000"/>
              </a:lnSpc>
              <a:buNone/>
              <a:defRPr sz="2100">
                <a:solidFill>
                  <a:srgbClr val="526375"/>
                </a:solidFill>
              </a:defRPr>
            </a:pPr>
            <a:r>
              <a:rPr sz="2100">
                <a:solidFill>
                  <a:srgbClr val="526375"/>
                </a:solidFill>
              </a:rPr>
              <a:t>Executive user flow, feature model, and live walkthrough structure for internal leadership review.</a:t>
            </a:r>
          </a:p>
        </p:txBody>
      </p:sp>
      <p:sp>
        <p:nvSpPr>
          <p:cNvPr id="6" name="stat.Purpose.label">
            <a:extLst xmlns:a="http://schemas.openxmlformats.org/drawingml/2006/main">
              <a:ext uri="{FF2B5EF4-FFF2-40B4-BE49-F238E27FC236}">
                <a16:creationId xmlns:a16="http://schemas.microsoft.com/office/drawing/2014/main" id="{67EB7C50-CC31-4720-8D32-B0C669F69099}"/>
              </a:ext>
            </a:extLst>
          </p:cNvPr>
          <p:cNvSpPr>
            <a:spLocks xmlns:a="http://schemas.openxmlformats.org/drawingml/2006/main" noGrp="1"/>
          </p:cNvSpPr>
          <p:nvPr/>
        </p:nvSpPr>
        <p:spPr>
          <a:xfrm xmlns:a="http://schemas.openxmlformats.org/drawingml/2006/main">
            <a:off x="914400" y="4267200"/>
            <a:ext cx="87630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b="1">
                <a:solidFill>
                  <a:srgbClr val="8B9AAF"/>
                </a:solidFill>
              </a:defRPr>
            </a:pPr>
            <a:r>
              <a:rPr sz="1200" b="1">
                <a:solidFill>
                  <a:srgbClr val="8B9AAF"/>
                </a:solidFill>
              </a:rPr>
              <a:t>PURPOSE</a:t>
            </a:r>
          </a:p>
        </p:txBody>
      </p:sp>
      <p:sp>
        <p:nvSpPr>
          <p:cNvPr id="7" name="stat.Purpose.body">
            <a:extLst xmlns:a="http://schemas.openxmlformats.org/drawingml/2006/main">
              <a:ext uri="{FF2B5EF4-FFF2-40B4-BE49-F238E27FC236}">
                <a16:creationId xmlns:a16="http://schemas.microsoft.com/office/drawing/2014/main" id="{9E9265AE-36DA-441F-A3BB-B51F147EEAA1}"/>
              </a:ext>
            </a:extLst>
          </p:cNvPr>
          <p:cNvSpPr>
            <a:spLocks xmlns:a="http://schemas.openxmlformats.org/drawingml/2006/main" noGrp="1"/>
          </p:cNvSpPr>
          <p:nvPr/>
        </p:nvSpPr>
        <p:spPr>
          <a:xfrm xmlns:a="http://schemas.openxmlformats.org/drawingml/2006/main">
            <a:off x="914400" y="4552950"/>
            <a:ext cx="8763000" cy="8763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12000"/>
              </a:lnSpc>
              <a:buNone/>
              <a:defRPr sz="2550" b="1">
                <a:solidFill>
                  <a:srgbClr val="073763"/>
                </a:solidFill>
              </a:defRPr>
            </a:pPr>
            <a:r>
              <a:rPr sz="2550" b="1">
                <a:solidFill>
                  <a:srgbClr val="073763"/>
                </a:solidFill>
              </a:rPr>
              <a:t>One operating view for people, projects, capacity, and weekly delivery evidence.</a:t>
            </a:r>
          </a:p>
        </p:txBody>
      </p:sp>
      <p:sp>
        <p:nvSpPr>
          <p:cNvPr id="8" name="">
            <a:extLst xmlns:a="http://schemas.openxmlformats.org/drawingml/2006/main">
              <a:ext uri="{FF2B5EF4-FFF2-40B4-BE49-F238E27FC236}">
                <a16:creationId xmlns:a16="http://schemas.microsoft.com/office/drawing/2014/main" id="{34FA48DB-DFB0-4D9D-ADEF-3435923C4451}"/>
              </a:ext>
            </a:extLst>
          </p:cNvPr>
          <p:cNvSpPr>
            <a:spLocks xmlns:a="http://schemas.openxmlformats.org/drawingml/2006/main" noGrp="1"/>
          </p:cNvSpPr>
          <p:nvPr/>
        </p:nvSpPr>
        <p:spPr>
          <a:xfrm xmlns:a="http://schemas.openxmlformats.org/drawingml/2006/main">
            <a:off x="914400" y="5695950"/>
            <a:ext cx="8763000" cy="19050"/>
          </a:xfrm>
          <a:prstGeom xmlns:a="http://schemas.openxmlformats.org/drawingml/2006/main" prst="rect">
            <a:avLst/>
          </a:prstGeom>
          <a:solidFill xmlns:a="http://schemas.openxmlformats.org/drawingml/2006/main">
            <a:srgbClr val="D7DEE7"/>
          </a:solidFill>
          <a:ln xmlns:a="http://schemas.openxmlformats.org/drawingml/2006/main" w="0">
            <a:solidFill>
              <a:srgbClr val="D7DEE7"/>
            </a:solidFill>
            <a:prstDash val="solid"/>
          </a:ln>
        </p:spPr>
      </p:sp>
      <p:sp>
        <p:nvSpPr>
          <p:cNvPr id="9" name="stat.Leadership outcomes.label">
            <a:extLst xmlns:a="http://schemas.openxmlformats.org/drawingml/2006/main">
              <a:ext uri="{FF2B5EF4-FFF2-40B4-BE49-F238E27FC236}">
                <a16:creationId xmlns:a16="http://schemas.microsoft.com/office/drawing/2014/main" id="{A021701A-79EC-4DB7-9631-2FDCF24D47D7}"/>
              </a:ext>
            </a:extLst>
          </p:cNvPr>
          <p:cNvSpPr>
            <a:spLocks xmlns:a="http://schemas.openxmlformats.org/drawingml/2006/main" noGrp="1"/>
          </p:cNvSpPr>
          <p:nvPr/>
        </p:nvSpPr>
        <p:spPr>
          <a:xfrm xmlns:a="http://schemas.openxmlformats.org/drawingml/2006/main">
            <a:off x="914400" y="5981700"/>
            <a:ext cx="87630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b="1">
                <a:solidFill>
                  <a:srgbClr val="8B9AAF"/>
                </a:solidFill>
              </a:defRPr>
            </a:pPr>
            <a:r>
              <a:rPr sz="1200" b="1">
                <a:solidFill>
                  <a:srgbClr val="8B9AAF"/>
                </a:solidFill>
              </a:rPr>
              <a:t>LEADERSHIP OUTCOMES</a:t>
            </a:r>
          </a:p>
        </p:txBody>
      </p:sp>
      <p:sp>
        <p:nvSpPr>
          <p:cNvPr id="10" name="stat.Leadership outcomes.body">
            <a:extLst xmlns:a="http://schemas.openxmlformats.org/drawingml/2006/main">
              <a:ext uri="{FF2B5EF4-FFF2-40B4-BE49-F238E27FC236}">
                <a16:creationId xmlns:a16="http://schemas.microsoft.com/office/drawing/2014/main" id="{CBA64F9A-D6CD-4EB5-859D-9447AC1BFFE4}"/>
              </a:ext>
            </a:extLst>
          </p:cNvPr>
          <p:cNvSpPr>
            <a:spLocks xmlns:a="http://schemas.openxmlformats.org/drawingml/2006/main" noGrp="1"/>
          </p:cNvSpPr>
          <p:nvPr/>
        </p:nvSpPr>
        <p:spPr>
          <a:xfrm xmlns:a="http://schemas.openxmlformats.org/drawingml/2006/main">
            <a:off x="914400" y="6248400"/>
            <a:ext cx="8763000" cy="8763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12000"/>
              </a:lnSpc>
              <a:buNone/>
              <a:defRPr sz="2550" b="1">
                <a:solidFill>
                  <a:srgbClr val="073763"/>
                </a:solidFill>
              </a:defRPr>
            </a:pPr>
            <a:r>
              <a:rPr sz="2550" b="1">
                <a:solidFill>
                  <a:srgbClr val="073763"/>
                </a:solidFill>
              </a:rPr>
              <a:t>Spot overload, bench risk, client concentration, approval backlog, and forecast pressure earlier.</a:t>
            </a:r>
          </a:p>
        </p:txBody>
      </p:sp>
      <p:sp>
        <p:nvSpPr>
          <p:cNvPr id="11" name="">
            <a:extLst xmlns:a="http://schemas.openxmlformats.org/drawingml/2006/main">
              <a:ext uri="{FF2B5EF4-FFF2-40B4-BE49-F238E27FC236}">
                <a16:creationId xmlns:a16="http://schemas.microsoft.com/office/drawing/2014/main" id="{66C9136D-D3CC-4C9E-B899-8E2EDD552844}"/>
              </a:ext>
            </a:extLst>
          </p:cNvPr>
          <p:cNvSpPr>
            <a:spLocks xmlns:a="http://schemas.openxmlformats.org/drawingml/2006/main" noGrp="1"/>
          </p:cNvSpPr>
          <p:nvPr/>
        </p:nvSpPr>
        <p:spPr>
          <a:xfrm xmlns:a="http://schemas.openxmlformats.org/drawingml/2006/main">
            <a:off x="914400" y="7391400"/>
            <a:ext cx="8763000" cy="19050"/>
          </a:xfrm>
          <a:prstGeom xmlns:a="http://schemas.openxmlformats.org/drawingml/2006/main" prst="rect">
            <a:avLst/>
          </a:prstGeom>
          <a:solidFill xmlns:a="http://schemas.openxmlformats.org/drawingml/2006/main">
            <a:srgbClr val="D7DEE7"/>
          </a:solidFill>
          <a:ln xmlns:a="http://schemas.openxmlformats.org/drawingml/2006/main" w="0">
            <a:solidFill>
              <a:srgbClr val="D7DEE7"/>
            </a:solidFill>
            <a:prstDash val="solid"/>
          </a:ln>
        </p:spPr>
      </p:sp>
      <p:sp>
        <p:nvSpPr>
          <p:cNvPr id="12" name="stat.Best live path.label">
            <a:extLst xmlns:a="http://schemas.openxmlformats.org/drawingml/2006/main">
              <a:ext uri="{FF2B5EF4-FFF2-40B4-BE49-F238E27FC236}">
                <a16:creationId xmlns:a16="http://schemas.microsoft.com/office/drawing/2014/main" id="{346B15B8-721C-4B4E-AD59-89457B81B12F}"/>
              </a:ext>
            </a:extLst>
          </p:cNvPr>
          <p:cNvSpPr>
            <a:spLocks xmlns:a="http://schemas.openxmlformats.org/drawingml/2006/main" noGrp="1"/>
          </p:cNvSpPr>
          <p:nvPr/>
        </p:nvSpPr>
        <p:spPr>
          <a:xfrm xmlns:a="http://schemas.openxmlformats.org/drawingml/2006/main">
            <a:off x="914400" y="7677150"/>
            <a:ext cx="87630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b="1">
                <a:solidFill>
                  <a:srgbClr val="8B9AAF"/>
                </a:solidFill>
              </a:defRPr>
            </a:pPr>
            <a:r>
              <a:rPr sz="1200" b="1">
                <a:solidFill>
                  <a:srgbClr val="8B9AAF"/>
                </a:solidFill>
              </a:rPr>
              <a:t>BEST LIVE PATH</a:t>
            </a:r>
          </a:p>
        </p:txBody>
      </p:sp>
      <p:sp>
        <p:nvSpPr>
          <p:cNvPr id="13" name="stat.Best live path.body">
            <a:extLst xmlns:a="http://schemas.openxmlformats.org/drawingml/2006/main">
              <a:ext uri="{FF2B5EF4-FFF2-40B4-BE49-F238E27FC236}">
                <a16:creationId xmlns:a16="http://schemas.microsoft.com/office/drawing/2014/main" id="{FFFF651A-D40D-48D0-99F1-EB8EE690EA06}"/>
              </a:ext>
            </a:extLst>
          </p:cNvPr>
          <p:cNvSpPr>
            <a:spLocks xmlns:a="http://schemas.openxmlformats.org/drawingml/2006/main" noGrp="1"/>
          </p:cNvSpPr>
          <p:nvPr/>
        </p:nvSpPr>
        <p:spPr>
          <a:xfrm xmlns:a="http://schemas.openxmlformats.org/drawingml/2006/main">
            <a:off x="914400" y="7962900"/>
            <a:ext cx="8763000" cy="8763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12000"/>
              </a:lnSpc>
              <a:buNone/>
              <a:defRPr sz="2550" b="1">
                <a:solidFill>
                  <a:srgbClr val="073763"/>
                </a:solidFill>
              </a:defRPr>
            </a:pPr>
            <a:r>
              <a:rPr sz="2550" b="1">
                <a:solidFill>
                  <a:srgbClr val="073763"/>
                </a:solidFill>
              </a:rPr>
              <a:t>Dashboard -&gt; Country Director scope -&gt; employee/project drilldowns -&gt; allocations -&gt; approvals -&gt; utilization.</a:t>
            </a:r>
          </a:p>
        </p:txBody>
      </p:sp>
      <p:sp>
        <p:nvSpPr>
          <p:cNvPr id="14" name="slide-1.note">
            <a:extLst xmlns:a="http://schemas.openxmlformats.org/drawingml/2006/main">
              <a:ext uri="{FF2B5EF4-FFF2-40B4-BE49-F238E27FC236}">
                <a16:creationId xmlns:a16="http://schemas.microsoft.com/office/drawing/2014/main" id="{98D9B0E0-9226-4485-A1C2-AD3EFF3ED429}"/>
              </a:ext>
            </a:extLst>
          </p:cNvPr>
          <p:cNvSpPr>
            <a:spLocks xmlns:a="http://schemas.openxmlformats.org/drawingml/2006/main" noGrp="1"/>
          </p:cNvSpPr>
          <p:nvPr/>
        </p:nvSpPr>
        <p:spPr>
          <a:xfrm xmlns:a="http://schemas.openxmlformats.org/drawingml/2006/main">
            <a:off x="10210800" y="4267200"/>
            <a:ext cx="6629400" cy="552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20000"/>
              </a:lnSpc>
              <a:buNone/>
              <a:defRPr sz="1500">
                <a:solidFill>
                  <a:srgbClr val="526375"/>
                </a:solidFill>
              </a:defRPr>
            </a:pPr>
            <a:r>
              <a:rPr sz="1500">
                <a:solidFill>
                  <a:srgbClr val="526375"/>
                </a:solidFill>
              </a:rPr>
              <a:t>This deck is based on the current application build and business workflow guide in the repository.</a:t>
            </a:r>
          </a:p>
        </p:txBody>
      </p:sp>
    </p:spTree>
    <p:extLst>
      <p:ext uri="{BB962C8B-B14F-4D97-AF65-F5344CB8AC3E}">
        <p14:creationId xmlns:p14="http://schemas.microsoft.com/office/powerpoint/2010/main" val="1507020052"/>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 name="slide-2.title.kicker">
            <a:extLst xmlns:a="http://schemas.openxmlformats.org/drawingml/2006/main">
              <a:ext uri="{FF2B5EF4-FFF2-40B4-BE49-F238E27FC236}">
                <a16:creationId xmlns:a16="http://schemas.microsoft.com/office/drawing/2014/main" id="{A72D24A5-836D-4DAC-A3FC-3BC557E617A6}"/>
              </a:ext>
            </a:extLst>
          </p:cNvPr>
          <p:cNvSpPr>
            <a:spLocks xmlns:a="http://schemas.openxmlformats.org/drawingml/2006/main" noGrp="1"/>
          </p:cNvSpPr>
          <p:nvPr/>
        </p:nvSpPr>
        <p:spPr>
          <a:xfrm xmlns:a="http://schemas.openxmlformats.org/drawingml/2006/main">
            <a:off x="914400" y="762000"/>
            <a:ext cx="1645920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b="1">
                <a:solidFill>
                  <a:srgbClr val="EF7D00"/>
                </a:solidFill>
              </a:defRPr>
            </a:pPr>
            <a:r>
              <a:rPr sz="1350" b="1">
                <a:solidFill>
                  <a:srgbClr val="EF7D00"/>
                </a:solidFill>
              </a:rPr>
              <a:t>WHAT THE PRODUCT GOVERNS</a:t>
            </a:r>
          </a:p>
        </p:txBody>
      </p:sp>
      <p:sp>
        <p:nvSpPr>
          <p:cNvPr id="2" name="slide-2.title.title">
            <a:extLst xmlns:a="http://schemas.openxmlformats.org/drawingml/2006/main">
              <a:ext uri="{FF2B5EF4-FFF2-40B4-BE49-F238E27FC236}">
                <a16:creationId xmlns:a16="http://schemas.microsoft.com/office/drawing/2014/main" id="{F564300F-FC14-4073-AEE2-515318E175EE}"/>
              </a:ext>
            </a:extLst>
          </p:cNvPr>
          <p:cNvSpPr>
            <a:spLocks xmlns:a="http://schemas.openxmlformats.org/drawingml/2006/main" noGrp="1"/>
          </p:cNvSpPr>
          <p:nvPr/>
        </p:nvSpPr>
        <p:spPr>
          <a:xfrm xmlns:a="http://schemas.openxmlformats.org/drawingml/2006/main">
            <a:off x="914400" y="1162050"/>
            <a:ext cx="12782550" cy="1314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05000"/>
              </a:lnSpc>
              <a:buNone/>
              <a:defRPr sz="4050" b="1">
                <a:solidFill>
                  <a:srgbClr val="073763"/>
                </a:solidFill>
              </a:defRPr>
            </a:pPr>
            <a:r>
              <a:rPr sz="4050" b="1">
                <a:solidFill>
                  <a:srgbClr val="073763"/>
                </a:solidFill>
              </a:rPr>
              <a:t>The tracker connects master data, delivery planning, weekly execution, and governance controls in one flow.</a:t>
            </a:r>
          </a:p>
        </p:txBody>
      </p:sp>
      <p:sp>
        <p:nvSpPr>
          <p:cNvPr id="3" name="slide-2.title.rule">
            <a:extLst xmlns:a="http://schemas.openxmlformats.org/drawingml/2006/main">
              <a:ext uri="{FF2B5EF4-FFF2-40B4-BE49-F238E27FC236}">
                <a16:creationId xmlns:a16="http://schemas.microsoft.com/office/drawing/2014/main" id="{2F0B0534-C1C9-430F-9FEE-5CFD43228F68}"/>
              </a:ext>
            </a:extLst>
          </p:cNvPr>
          <p:cNvSpPr>
            <a:spLocks xmlns:a="http://schemas.openxmlformats.org/drawingml/2006/main" noGrp="1"/>
          </p:cNvSpPr>
          <p:nvPr/>
        </p:nvSpPr>
        <p:spPr>
          <a:xfrm xmlns:a="http://schemas.openxmlformats.org/drawingml/2006/main">
            <a:off x="914400" y="2647950"/>
            <a:ext cx="2095500" cy="57150"/>
          </a:xfrm>
          <a:prstGeom xmlns:a="http://schemas.openxmlformats.org/drawingml/2006/main" prst="rect">
            <a:avLst/>
          </a:prstGeom>
          <a:solidFill xmlns:a="http://schemas.openxmlformats.org/drawingml/2006/main">
            <a:srgbClr val="EF7D00"/>
          </a:solidFill>
          <a:ln xmlns:a="http://schemas.openxmlformats.org/drawingml/2006/main" w="0">
            <a:solidFill>
              <a:srgbClr val="EF7D00"/>
            </a:solidFill>
            <a:prstDash val="solid"/>
          </a:ln>
        </p:spPr>
      </p:sp>
      <p:sp>
        <p:nvSpPr>
          <p:cNvPr id="4" name="slide-2.title.subtitle">
            <a:extLst xmlns:a="http://schemas.openxmlformats.org/drawingml/2006/main">
              <a:ext uri="{FF2B5EF4-FFF2-40B4-BE49-F238E27FC236}">
                <a16:creationId xmlns:a16="http://schemas.microsoft.com/office/drawing/2014/main" id="{085418BE-7BE1-478D-8DB7-3F5771131472}"/>
              </a:ext>
            </a:extLst>
          </p:cNvPr>
          <p:cNvSpPr>
            <a:spLocks xmlns:a="http://schemas.openxmlformats.org/drawingml/2006/main" noGrp="1"/>
          </p:cNvSpPr>
          <p:nvPr/>
        </p:nvSpPr>
        <p:spPr>
          <a:xfrm xmlns:a="http://schemas.openxmlformats.org/drawingml/2006/main">
            <a:off x="914400" y="2895600"/>
            <a:ext cx="9715500" cy="3429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22000"/>
              </a:lnSpc>
              <a:buNone/>
              <a:defRPr sz="1800">
                <a:solidFill>
                  <a:srgbClr val="526375"/>
                </a:solidFill>
              </a:defRPr>
            </a:pPr>
            <a:r>
              <a:rPr sz="1800">
                <a:solidFill>
                  <a:srgbClr val="526375"/>
                </a:solidFill>
              </a:rPr>
              <a:t>Leadership should read it as an operating system for utilization, not as a standalone reporting dashboard.</a:t>
            </a:r>
          </a:p>
        </p:txBody>
      </p:sp>
      <p:sp>
        <p:nvSpPr>
          <p:cNvPr id="5" name="stat.Employee control.label">
            <a:extLst xmlns:a="http://schemas.openxmlformats.org/drawingml/2006/main">
              <a:ext uri="{FF2B5EF4-FFF2-40B4-BE49-F238E27FC236}">
                <a16:creationId xmlns:a16="http://schemas.microsoft.com/office/drawing/2014/main" id="{780F697F-7822-4030-A9D5-ABB60F75D20B}"/>
              </a:ext>
            </a:extLst>
          </p:cNvPr>
          <p:cNvSpPr>
            <a:spLocks xmlns:a="http://schemas.openxmlformats.org/drawingml/2006/main" noGrp="1"/>
          </p:cNvSpPr>
          <p:nvPr/>
        </p:nvSpPr>
        <p:spPr>
          <a:xfrm xmlns:a="http://schemas.openxmlformats.org/drawingml/2006/main">
            <a:off x="914400" y="3600450"/>
            <a:ext cx="79248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b="1">
                <a:solidFill>
                  <a:srgbClr val="8B9AAF"/>
                </a:solidFill>
              </a:defRPr>
            </a:pPr>
            <a:r>
              <a:rPr sz="1200" b="1">
                <a:solidFill>
                  <a:srgbClr val="8B9AAF"/>
                </a:solidFill>
              </a:rPr>
              <a:t>EMPLOYEE CONTROL</a:t>
            </a:r>
          </a:p>
        </p:txBody>
      </p:sp>
      <p:sp>
        <p:nvSpPr>
          <p:cNvPr id="6" name="stat.Employee control.body">
            <a:extLst xmlns:a="http://schemas.openxmlformats.org/drawingml/2006/main">
              <a:ext uri="{FF2B5EF4-FFF2-40B4-BE49-F238E27FC236}">
                <a16:creationId xmlns:a16="http://schemas.microsoft.com/office/drawing/2014/main" id="{3CDB9E38-5B9A-494F-9CE8-D712FB5D17A9}"/>
              </a:ext>
            </a:extLst>
          </p:cNvPr>
          <p:cNvSpPr>
            <a:spLocks xmlns:a="http://schemas.openxmlformats.org/drawingml/2006/main" noGrp="1"/>
          </p:cNvSpPr>
          <p:nvPr/>
        </p:nvSpPr>
        <p:spPr>
          <a:xfrm xmlns:a="http://schemas.openxmlformats.org/drawingml/2006/main">
            <a:off x="914400" y="3886200"/>
            <a:ext cx="7924800" cy="8763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12000"/>
              </a:lnSpc>
              <a:buNone/>
              <a:defRPr sz="2550" b="1">
                <a:solidFill>
                  <a:srgbClr val="073763"/>
                </a:solidFill>
              </a:defRPr>
            </a:pPr>
            <a:r>
              <a:rPr sz="2550" b="1">
                <a:solidFill>
                  <a:srgbClr val="073763"/>
                </a:solidFill>
              </a:rPr>
              <a:t>Employee identity, department, country, and one-to-many Country Director mapping.</a:t>
            </a:r>
          </a:p>
        </p:txBody>
      </p:sp>
      <p:sp>
        <p:nvSpPr>
          <p:cNvPr id="7" name="stat.Portfolio control.label">
            <a:extLst xmlns:a="http://schemas.openxmlformats.org/drawingml/2006/main">
              <a:ext uri="{FF2B5EF4-FFF2-40B4-BE49-F238E27FC236}">
                <a16:creationId xmlns:a16="http://schemas.microsoft.com/office/drawing/2014/main" id="{620F80EA-F2ED-451F-BA74-D6B4E3805E43}"/>
              </a:ext>
            </a:extLst>
          </p:cNvPr>
          <p:cNvSpPr>
            <a:spLocks xmlns:a="http://schemas.openxmlformats.org/drawingml/2006/main" noGrp="1"/>
          </p:cNvSpPr>
          <p:nvPr/>
        </p:nvSpPr>
        <p:spPr>
          <a:xfrm xmlns:a="http://schemas.openxmlformats.org/drawingml/2006/main">
            <a:off x="9448800" y="3600450"/>
            <a:ext cx="79248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b="1">
                <a:solidFill>
                  <a:srgbClr val="8B9AAF"/>
                </a:solidFill>
              </a:defRPr>
            </a:pPr>
            <a:r>
              <a:rPr sz="1200" b="1">
                <a:solidFill>
                  <a:srgbClr val="8B9AAF"/>
                </a:solidFill>
              </a:rPr>
              <a:t>PORTFOLIO CONTROL</a:t>
            </a:r>
          </a:p>
        </p:txBody>
      </p:sp>
      <p:sp>
        <p:nvSpPr>
          <p:cNvPr id="8" name="stat.Portfolio control.body">
            <a:extLst xmlns:a="http://schemas.openxmlformats.org/drawingml/2006/main">
              <a:ext uri="{FF2B5EF4-FFF2-40B4-BE49-F238E27FC236}">
                <a16:creationId xmlns:a16="http://schemas.microsoft.com/office/drawing/2014/main" id="{D8623FE9-D39A-46C0-B0F2-1D46A1B21CD9}"/>
              </a:ext>
            </a:extLst>
          </p:cNvPr>
          <p:cNvSpPr>
            <a:spLocks xmlns:a="http://schemas.openxmlformats.org/drawingml/2006/main" noGrp="1"/>
          </p:cNvSpPr>
          <p:nvPr/>
        </p:nvSpPr>
        <p:spPr>
          <a:xfrm xmlns:a="http://schemas.openxmlformats.org/drawingml/2006/main">
            <a:off x="9448800" y="3886200"/>
            <a:ext cx="7924800" cy="8763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12000"/>
              </a:lnSpc>
              <a:buNone/>
              <a:defRPr sz="2550" b="1">
                <a:solidFill>
                  <a:srgbClr val="073763"/>
                </a:solidFill>
              </a:defRPr>
            </a:pPr>
            <a:r>
              <a:rPr sz="2550" b="1">
                <a:solidFill>
                  <a:srgbClr val="073763"/>
                </a:solidFill>
              </a:rPr>
              <a:t>Clients, projects, PM ownership, timelines, and status-driven delivery visibility.</a:t>
            </a:r>
          </a:p>
        </p:txBody>
      </p:sp>
      <p:sp>
        <p:nvSpPr>
          <p:cNvPr id="9" name="stat.Capacity control.label">
            <a:extLst xmlns:a="http://schemas.openxmlformats.org/drawingml/2006/main">
              <a:ext uri="{FF2B5EF4-FFF2-40B4-BE49-F238E27FC236}">
                <a16:creationId xmlns:a16="http://schemas.microsoft.com/office/drawing/2014/main" id="{13153021-E70B-4BD5-9ACD-7EB2A9188BBE}"/>
              </a:ext>
            </a:extLst>
          </p:cNvPr>
          <p:cNvSpPr>
            <a:spLocks xmlns:a="http://schemas.openxmlformats.org/drawingml/2006/main" noGrp="1"/>
          </p:cNvSpPr>
          <p:nvPr/>
        </p:nvSpPr>
        <p:spPr>
          <a:xfrm xmlns:a="http://schemas.openxmlformats.org/drawingml/2006/main">
            <a:off x="914400" y="5086350"/>
            <a:ext cx="79248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b="1">
                <a:solidFill>
                  <a:srgbClr val="8B9AAF"/>
                </a:solidFill>
              </a:defRPr>
            </a:pPr>
            <a:r>
              <a:rPr sz="1200" b="1">
                <a:solidFill>
                  <a:srgbClr val="8B9AAF"/>
                </a:solidFill>
              </a:rPr>
              <a:t>CAPACITY CONTROL</a:t>
            </a:r>
          </a:p>
        </p:txBody>
      </p:sp>
      <p:sp>
        <p:nvSpPr>
          <p:cNvPr id="10" name="stat.Capacity control.body">
            <a:extLst xmlns:a="http://schemas.openxmlformats.org/drawingml/2006/main">
              <a:ext uri="{FF2B5EF4-FFF2-40B4-BE49-F238E27FC236}">
                <a16:creationId xmlns:a16="http://schemas.microsoft.com/office/drawing/2014/main" id="{25983FE6-60EF-4821-BB21-A16C66EBC247}"/>
              </a:ext>
            </a:extLst>
          </p:cNvPr>
          <p:cNvSpPr>
            <a:spLocks xmlns:a="http://schemas.openxmlformats.org/drawingml/2006/main" noGrp="1"/>
          </p:cNvSpPr>
          <p:nvPr/>
        </p:nvSpPr>
        <p:spPr>
          <a:xfrm xmlns:a="http://schemas.openxmlformats.org/drawingml/2006/main">
            <a:off x="914400" y="5353050"/>
            <a:ext cx="7924800" cy="8763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12000"/>
              </a:lnSpc>
              <a:buNone/>
              <a:defRPr sz="2550" b="1">
                <a:solidFill>
                  <a:srgbClr val="073763"/>
                </a:solidFill>
              </a:defRPr>
            </a:pPr>
            <a:r>
              <a:rPr sz="2550" b="1">
                <a:solidFill>
                  <a:srgbClr val="073763"/>
                </a:solidFill>
              </a:rPr>
              <a:t>Planned allocation percentages and date ranges that define delivery commitment.</a:t>
            </a:r>
          </a:p>
        </p:txBody>
      </p:sp>
      <p:sp>
        <p:nvSpPr>
          <p:cNvPr id="11" name="stat.Governance control.label">
            <a:extLst xmlns:a="http://schemas.openxmlformats.org/drawingml/2006/main">
              <a:ext uri="{FF2B5EF4-FFF2-40B4-BE49-F238E27FC236}">
                <a16:creationId xmlns:a16="http://schemas.microsoft.com/office/drawing/2014/main" id="{679A4A62-BBAC-4F03-9C0C-0C958CC35431}"/>
              </a:ext>
            </a:extLst>
          </p:cNvPr>
          <p:cNvSpPr>
            <a:spLocks xmlns:a="http://schemas.openxmlformats.org/drawingml/2006/main" noGrp="1"/>
          </p:cNvSpPr>
          <p:nvPr/>
        </p:nvSpPr>
        <p:spPr>
          <a:xfrm xmlns:a="http://schemas.openxmlformats.org/drawingml/2006/main">
            <a:off x="9448800" y="5086350"/>
            <a:ext cx="79248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b="1">
                <a:solidFill>
                  <a:srgbClr val="8B9AAF"/>
                </a:solidFill>
              </a:defRPr>
            </a:pPr>
            <a:r>
              <a:rPr sz="1200" b="1">
                <a:solidFill>
                  <a:srgbClr val="8B9AAF"/>
                </a:solidFill>
              </a:rPr>
              <a:t>GOVERNANCE CONTROL</a:t>
            </a:r>
          </a:p>
        </p:txBody>
      </p:sp>
      <p:sp>
        <p:nvSpPr>
          <p:cNvPr id="12" name="stat.Governance control.body">
            <a:extLst xmlns:a="http://schemas.openxmlformats.org/drawingml/2006/main">
              <a:ext uri="{FF2B5EF4-FFF2-40B4-BE49-F238E27FC236}">
                <a16:creationId xmlns:a16="http://schemas.microsoft.com/office/drawing/2014/main" id="{0F499C8A-5E40-4F81-896E-A27ABF4B0A71}"/>
              </a:ext>
            </a:extLst>
          </p:cNvPr>
          <p:cNvSpPr>
            <a:spLocks xmlns:a="http://schemas.openxmlformats.org/drawingml/2006/main" noGrp="1"/>
          </p:cNvSpPr>
          <p:nvPr/>
        </p:nvSpPr>
        <p:spPr>
          <a:xfrm xmlns:a="http://schemas.openxmlformats.org/drawingml/2006/main">
            <a:off x="9448800" y="5353050"/>
            <a:ext cx="7924800" cy="8763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12000"/>
              </a:lnSpc>
              <a:buNone/>
              <a:defRPr sz="2550" b="1">
                <a:solidFill>
                  <a:srgbClr val="073763"/>
                </a:solidFill>
              </a:defRPr>
            </a:pPr>
            <a:r>
              <a:rPr sz="2550" b="1">
                <a:solidFill>
                  <a:srgbClr val="073763"/>
                </a:solidFill>
              </a:rPr>
              <a:t>Timesheet approvals, audit trail, imports/exports, search, and catalog management.</a:t>
            </a:r>
          </a:p>
        </p:txBody>
      </p:sp>
      <p:sp>
        <p:nvSpPr>
          <p:cNvPr id="13" name="">
            <a:extLst xmlns:a="http://schemas.openxmlformats.org/drawingml/2006/main">
              <a:ext uri="{FF2B5EF4-FFF2-40B4-BE49-F238E27FC236}">
                <a16:creationId xmlns:a16="http://schemas.microsoft.com/office/drawing/2014/main" id="{3628172F-C286-459F-B04D-87E1D7D4F2B2}"/>
              </a:ext>
            </a:extLst>
          </p:cNvPr>
          <p:cNvSpPr>
            <a:spLocks xmlns:a="http://schemas.openxmlformats.org/drawingml/2006/main" noGrp="1"/>
          </p:cNvSpPr>
          <p:nvPr/>
        </p:nvSpPr>
        <p:spPr>
          <a:xfrm xmlns:a="http://schemas.openxmlformats.org/drawingml/2006/main">
            <a:off x="914400" y="6610350"/>
            <a:ext cx="16459200" cy="19050"/>
          </a:xfrm>
          <a:prstGeom xmlns:a="http://schemas.openxmlformats.org/drawingml/2006/main" prst="rect">
            <a:avLst/>
          </a:prstGeom>
          <a:solidFill xmlns:a="http://schemas.openxmlformats.org/drawingml/2006/main">
            <a:srgbClr val="D7DEE7"/>
          </a:solidFill>
          <a:ln xmlns:a="http://schemas.openxmlformats.org/drawingml/2006/main" w="0">
            <a:solidFill>
              <a:srgbClr val="D7DEE7"/>
            </a:solidFill>
            <a:prstDash val="solid"/>
          </a:ln>
        </p:spPr>
      </p:sp>
      <p:sp>
        <p:nvSpPr>
          <p:cNvPr id="14" name="list.Leadership questions answered.title">
            <a:extLst xmlns:a="http://schemas.openxmlformats.org/drawingml/2006/main">
              <a:ext uri="{FF2B5EF4-FFF2-40B4-BE49-F238E27FC236}">
                <a16:creationId xmlns:a16="http://schemas.microsoft.com/office/drawing/2014/main" id="{B89C0614-0823-4FBD-AA42-925D04B4965E}"/>
              </a:ext>
            </a:extLst>
          </p:cNvPr>
          <p:cNvSpPr>
            <a:spLocks xmlns:a="http://schemas.openxmlformats.org/drawingml/2006/main" noGrp="1"/>
          </p:cNvSpPr>
          <p:nvPr/>
        </p:nvSpPr>
        <p:spPr>
          <a:xfrm xmlns:a="http://schemas.openxmlformats.org/drawingml/2006/main">
            <a:off x="914400" y="7010400"/>
            <a:ext cx="80010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b="1">
                <a:solidFill>
                  <a:srgbClr val="EF7D00"/>
                </a:solidFill>
              </a:defRPr>
            </a:pPr>
            <a:r>
              <a:rPr sz="1200" b="1">
                <a:solidFill>
                  <a:srgbClr val="EF7D00"/>
                </a:solidFill>
              </a:rPr>
              <a:t>LEADERSHIP QUESTIONS ANSWERED</a:t>
            </a:r>
          </a:p>
        </p:txBody>
      </p:sp>
      <p:sp>
        <p:nvSpPr>
          <p:cNvPr id="15" name="list.Leadership questions answered.item.1">
            <a:extLst xmlns:a="http://schemas.openxmlformats.org/drawingml/2006/main">
              <a:ext uri="{FF2B5EF4-FFF2-40B4-BE49-F238E27FC236}">
                <a16:creationId xmlns:a16="http://schemas.microsoft.com/office/drawing/2014/main" id="{30BC7160-7481-4B18-B584-CB2FCDFFFA62}"/>
              </a:ext>
            </a:extLst>
          </p:cNvPr>
          <p:cNvSpPr>
            <a:spLocks xmlns:a="http://schemas.openxmlformats.org/drawingml/2006/main" noGrp="1"/>
          </p:cNvSpPr>
          <p:nvPr/>
        </p:nvSpPr>
        <p:spPr>
          <a:xfrm xmlns:a="http://schemas.openxmlformats.org/drawingml/2006/main">
            <a:off x="914400" y="7334250"/>
            <a:ext cx="3714750" cy="3429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20000"/>
              </a:lnSpc>
              <a:buNone/>
              <a:defRPr sz="1800">
                <a:solidFill>
                  <a:srgbClr val="073763"/>
                </a:solidFill>
              </a:defRPr>
            </a:pPr>
            <a:r>
              <a:rPr sz="1800">
                <a:solidFill>
                  <a:srgbClr val="073763"/>
                </a:solidFill>
              </a:rPr>
              <a:t>- Where is delivery capacity committed?</a:t>
            </a:r>
          </a:p>
        </p:txBody>
      </p:sp>
      <p:sp>
        <p:nvSpPr>
          <p:cNvPr id="16" name="list.Leadership questions answered.item.2">
            <a:extLst xmlns:a="http://schemas.openxmlformats.org/drawingml/2006/main">
              <a:ext uri="{FF2B5EF4-FFF2-40B4-BE49-F238E27FC236}">
                <a16:creationId xmlns:a16="http://schemas.microsoft.com/office/drawing/2014/main" id="{73A0C141-59E6-48A0-ADBC-0D88ACA66539}"/>
              </a:ext>
            </a:extLst>
          </p:cNvPr>
          <p:cNvSpPr>
            <a:spLocks xmlns:a="http://schemas.openxmlformats.org/drawingml/2006/main" noGrp="1"/>
          </p:cNvSpPr>
          <p:nvPr/>
        </p:nvSpPr>
        <p:spPr>
          <a:xfrm xmlns:a="http://schemas.openxmlformats.org/drawingml/2006/main">
            <a:off x="914400" y="7791450"/>
            <a:ext cx="3505200" cy="3429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20000"/>
              </a:lnSpc>
              <a:buNone/>
              <a:defRPr sz="1800">
                <a:solidFill>
                  <a:srgbClr val="073763"/>
                </a:solidFill>
              </a:defRPr>
            </a:pPr>
            <a:r>
              <a:rPr sz="1800">
                <a:solidFill>
                  <a:srgbClr val="073763"/>
                </a:solidFill>
              </a:rPr>
              <a:t>- Who is overloaded or underutilized?</a:t>
            </a:r>
          </a:p>
        </p:txBody>
      </p:sp>
      <p:sp>
        <p:nvSpPr>
          <p:cNvPr id="17" name="list.Leadership questions answered.item.3">
            <a:extLst xmlns:a="http://schemas.openxmlformats.org/drawingml/2006/main">
              <a:ext uri="{FF2B5EF4-FFF2-40B4-BE49-F238E27FC236}">
                <a16:creationId xmlns:a16="http://schemas.microsoft.com/office/drawing/2014/main" id="{73F180F7-9E75-45AA-AB54-048EC4CD0EA0}"/>
              </a:ext>
            </a:extLst>
          </p:cNvPr>
          <p:cNvSpPr>
            <a:spLocks xmlns:a="http://schemas.openxmlformats.org/drawingml/2006/main" noGrp="1"/>
          </p:cNvSpPr>
          <p:nvPr/>
        </p:nvSpPr>
        <p:spPr>
          <a:xfrm xmlns:a="http://schemas.openxmlformats.org/drawingml/2006/main">
            <a:off x="914400" y="8248650"/>
            <a:ext cx="3943350" cy="3429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20000"/>
              </a:lnSpc>
              <a:buNone/>
              <a:defRPr sz="1800">
                <a:solidFill>
                  <a:srgbClr val="073763"/>
                </a:solidFill>
              </a:defRPr>
            </a:pPr>
            <a:r>
              <a:rPr sz="1800">
                <a:solidFill>
                  <a:srgbClr val="073763"/>
                </a:solidFill>
              </a:rPr>
              <a:t>- Which clients consume the most people?</a:t>
            </a:r>
          </a:p>
        </p:txBody>
      </p:sp>
      <p:sp>
        <p:nvSpPr>
          <p:cNvPr id="18" name="list.Management actions enabled.title">
            <a:extLst xmlns:a="http://schemas.openxmlformats.org/drawingml/2006/main">
              <a:ext uri="{FF2B5EF4-FFF2-40B4-BE49-F238E27FC236}">
                <a16:creationId xmlns:a16="http://schemas.microsoft.com/office/drawing/2014/main" id="{32731C30-CA21-49C6-AFD3-DC13C69FBC5E}"/>
              </a:ext>
            </a:extLst>
          </p:cNvPr>
          <p:cNvSpPr>
            <a:spLocks xmlns:a="http://schemas.openxmlformats.org/drawingml/2006/main" noGrp="1"/>
          </p:cNvSpPr>
          <p:nvPr/>
        </p:nvSpPr>
        <p:spPr>
          <a:xfrm xmlns:a="http://schemas.openxmlformats.org/drawingml/2006/main">
            <a:off x="9372600" y="7010400"/>
            <a:ext cx="80010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b="1">
                <a:solidFill>
                  <a:srgbClr val="EF7D00"/>
                </a:solidFill>
              </a:defRPr>
            </a:pPr>
            <a:r>
              <a:rPr sz="1200" b="1">
                <a:solidFill>
                  <a:srgbClr val="EF7D00"/>
                </a:solidFill>
              </a:rPr>
              <a:t>MANAGEMENT ACTIONS ENABLED</a:t>
            </a:r>
          </a:p>
        </p:txBody>
      </p:sp>
      <p:sp>
        <p:nvSpPr>
          <p:cNvPr id="19" name="list.Management actions enabled.item.1">
            <a:extLst xmlns:a="http://schemas.openxmlformats.org/drawingml/2006/main">
              <a:ext uri="{FF2B5EF4-FFF2-40B4-BE49-F238E27FC236}">
                <a16:creationId xmlns:a16="http://schemas.microsoft.com/office/drawing/2014/main" id="{2B3CC897-7EE4-4948-A460-919AF789B8F9}"/>
              </a:ext>
            </a:extLst>
          </p:cNvPr>
          <p:cNvSpPr>
            <a:spLocks xmlns:a="http://schemas.openxmlformats.org/drawingml/2006/main" noGrp="1"/>
          </p:cNvSpPr>
          <p:nvPr/>
        </p:nvSpPr>
        <p:spPr>
          <a:xfrm xmlns:a="http://schemas.openxmlformats.org/drawingml/2006/main">
            <a:off x="9372600" y="7334250"/>
            <a:ext cx="4248150" cy="666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20000"/>
              </a:lnSpc>
              <a:buNone/>
              <a:defRPr sz="1800">
                <a:solidFill>
                  <a:srgbClr val="073763"/>
                </a:solidFill>
              </a:defRPr>
            </a:pPr>
            <a:r>
              <a:rPr sz="1800">
                <a:solidFill>
                  <a:srgbClr val="073763"/>
                </a:solidFill>
              </a:rPr>
              <a:t>- Rebalance allocations before overload lands.</a:t>
            </a:r>
          </a:p>
        </p:txBody>
      </p:sp>
      <p:sp>
        <p:nvSpPr>
          <p:cNvPr id="20" name="list.Management actions enabled.item.2">
            <a:extLst xmlns:a="http://schemas.openxmlformats.org/drawingml/2006/main">
              <a:ext uri="{FF2B5EF4-FFF2-40B4-BE49-F238E27FC236}">
                <a16:creationId xmlns:a16="http://schemas.microsoft.com/office/drawing/2014/main" id="{4F7A1BF1-296A-4051-94A6-3161EB078D52}"/>
              </a:ext>
            </a:extLst>
          </p:cNvPr>
          <p:cNvSpPr>
            <a:spLocks xmlns:a="http://schemas.openxmlformats.org/drawingml/2006/main" noGrp="1"/>
          </p:cNvSpPr>
          <p:nvPr/>
        </p:nvSpPr>
        <p:spPr>
          <a:xfrm xmlns:a="http://schemas.openxmlformats.org/drawingml/2006/main">
            <a:off x="9372600" y="8115300"/>
            <a:ext cx="4743450" cy="3429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20000"/>
              </a:lnSpc>
              <a:buNone/>
              <a:defRPr sz="1800">
                <a:solidFill>
                  <a:srgbClr val="073763"/>
                </a:solidFill>
              </a:defRPr>
            </a:pPr>
            <a:r>
              <a:rPr sz="1800">
                <a:solidFill>
                  <a:srgbClr val="073763"/>
                </a:solidFill>
              </a:rPr>
              <a:t>- Approve timesheet evidence before using actuals.</a:t>
            </a:r>
          </a:p>
        </p:txBody>
      </p:sp>
      <p:sp>
        <p:nvSpPr>
          <p:cNvPr id="21" name="list.Management actions enabled.item.3">
            <a:extLst xmlns:a="http://schemas.openxmlformats.org/drawingml/2006/main">
              <a:ext uri="{FF2B5EF4-FFF2-40B4-BE49-F238E27FC236}">
                <a16:creationId xmlns:a16="http://schemas.microsoft.com/office/drawing/2014/main" id="{B0A56CD5-6344-46F5-9E63-211EE2E0E730}"/>
              </a:ext>
            </a:extLst>
          </p:cNvPr>
          <p:cNvSpPr>
            <a:spLocks xmlns:a="http://schemas.openxmlformats.org/drawingml/2006/main" noGrp="1"/>
          </p:cNvSpPr>
          <p:nvPr/>
        </p:nvSpPr>
        <p:spPr>
          <a:xfrm xmlns:a="http://schemas.openxmlformats.org/drawingml/2006/main">
            <a:off x="9372600" y="8572500"/>
            <a:ext cx="4229100" cy="3429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20000"/>
              </a:lnSpc>
              <a:buNone/>
              <a:defRPr sz="1800">
                <a:solidFill>
                  <a:srgbClr val="073763"/>
                </a:solidFill>
              </a:defRPr>
            </a:pPr>
            <a:r>
              <a:rPr sz="1800">
                <a:solidFill>
                  <a:srgbClr val="073763"/>
                </a:solidFill>
              </a:rPr>
              <a:t>- Use forecast to plan redeployment or hiring.</a:t>
            </a:r>
          </a:p>
        </p:txBody>
      </p:sp>
    </p:spTree>
    <p:extLst>
      <p:ext uri="{BB962C8B-B14F-4D97-AF65-F5344CB8AC3E}">
        <p14:creationId xmlns:p14="http://schemas.microsoft.com/office/powerpoint/2010/main" val="39009404"/>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 name="slide-3.title.kicker">
            <a:extLst xmlns:a="http://schemas.openxmlformats.org/drawingml/2006/main">
              <a:ext uri="{FF2B5EF4-FFF2-40B4-BE49-F238E27FC236}">
                <a16:creationId xmlns:a16="http://schemas.microsoft.com/office/drawing/2014/main" id="{C8DD58DD-C89A-45A9-9643-2185BD522BBE}"/>
              </a:ext>
            </a:extLst>
          </p:cNvPr>
          <p:cNvSpPr>
            <a:spLocks xmlns:a="http://schemas.openxmlformats.org/drawingml/2006/main" noGrp="1"/>
          </p:cNvSpPr>
          <p:nvPr/>
        </p:nvSpPr>
        <p:spPr>
          <a:xfrm xmlns:a="http://schemas.openxmlformats.org/drawingml/2006/main">
            <a:off x="914400" y="762000"/>
            <a:ext cx="1645920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b="1">
                <a:solidFill>
                  <a:srgbClr val="EF7D00"/>
                </a:solidFill>
              </a:defRPr>
            </a:pPr>
            <a:r>
              <a:rPr sz="1350" b="1">
                <a:solidFill>
                  <a:srgbClr val="EF7D00"/>
                </a:solidFill>
              </a:rPr>
              <a:t>OPERATING FLOW</a:t>
            </a:r>
          </a:p>
        </p:txBody>
      </p:sp>
      <p:sp>
        <p:nvSpPr>
          <p:cNvPr id="2" name="slide-3.title.title">
            <a:extLst xmlns:a="http://schemas.openxmlformats.org/drawingml/2006/main">
              <a:ext uri="{FF2B5EF4-FFF2-40B4-BE49-F238E27FC236}">
                <a16:creationId xmlns:a16="http://schemas.microsoft.com/office/drawing/2014/main" id="{625D1573-AEEE-475A-9F06-25F10777ACC7}"/>
              </a:ext>
            </a:extLst>
          </p:cNvPr>
          <p:cNvSpPr>
            <a:spLocks xmlns:a="http://schemas.openxmlformats.org/drawingml/2006/main" noGrp="1"/>
          </p:cNvSpPr>
          <p:nvPr/>
        </p:nvSpPr>
        <p:spPr>
          <a:xfrm xmlns:a="http://schemas.openxmlformats.org/drawingml/2006/main">
            <a:off x="914400" y="1123950"/>
            <a:ext cx="13792200" cy="12573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05000"/>
              </a:lnSpc>
              <a:buNone/>
              <a:defRPr sz="3900" b="1">
                <a:solidFill>
                  <a:srgbClr val="073763"/>
                </a:solidFill>
              </a:defRPr>
            </a:pPr>
            <a:r>
              <a:rPr sz="3900" b="1">
                <a:solidFill>
                  <a:srgbClr val="073763"/>
                </a:solidFill>
              </a:rPr>
              <a:t>The clean business sequence is setup first, planning second, weekly execution third, leadership insight last.</a:t>
            </a:r>
          </a:p>
        </p:txBody>
      </p:sp>
      <p:sp>
        <p:nvSpPr>
          <p:cNvPr id="3" name="slide-3.title.rule">
            <a:extLst xmlns:a="http://schemas.openxmlformats.org/drawingml/2006/main">
              <a:ext uri="{FF2B5EF4-FFF2-40B4-BE49-F238E27FC236}">
                <a16:creationId xmlns:a16="http://schemas.microsoft.com/office/drawing/2014/main" id="{619C38E6-429F-44DC-9F6B-AE9B229B6804}"/>
              </a:ext>
            </a:extLst>
          </p:cNvPr>
          <p:cNvSpPr>
            <a:spLocks xmlns:a="http://schemas.openxmlformats.org/drawingml/2006/main" noGrp="1"/>
          </p:cNvSpPr>
          <p:nvPr/>
        </p:nvSpPr>
        <p:spPr>
          <a:xfrm xmlns:a="http://schemas.openxmlformats.org/drawingml/2006/main">
            <a:off x="914400" y="2514600"/>
            <a:ext cx="2286000" cy="57150"/>
          </a:xfrm>
          <a:prstGeom xmlns:a="http://schemas.openxmlformats.org/drawingml/2006/main" prst="rect">
            <a:avLst/>
          </a:prstGeom>
          <a:solidFill xmlns:a="http://schemas.openxmlformats.org/drawingml/2006/main">
            <a:srgbClr val="EF7D00"/>
          </a:solidFill>
          <a:ln xmlns:a="http://schemas.openxmlformats.org/drawingml/2006/main" w="0">
            <a:solidFill>
              <a:srgbClr val="EF7D00"/>
            </a:solidFill>
            <a:prstDash val="solid"/>
          </a:ln>
        </p:spPr>
      </p:sp>
      <p:sp>
        <p:nvSpPr>
          <p:cNvPr id="4" name="slide-3.title.subtitle">
            <a:extLst xmlns:a="http://schemas.openxmlformats.org/drawingml/2006/main">
              <a:ext uri="{FF2B5EF4-FFF2-40B4-BE49-F238E27FC236}">
                <a16:creationId xmlns:a16="http://schemas.microsoft.com/office/drawing/2014/main" id="{5F98910F-7C9A-4A5C-9937-D02410522DD1}"/>
              </a:ext>
            </a:extLst>
          </p:cNvPr>
          <p:cNvSpPr>
            <a:spLocks xmlns:a="http://schemas.openxmlformats.org/drawingml/2006/main" noGrp="1"/>
          </p:cNvSpPr>
          <p:nvPr/>
        </p:nvSpPr>
        <p:spPr>
          <a:xfrm xmlns:a="http://schemas.openxmlformats.org/drawingml/2006/main">
            <a:off x="914400" y="2724150"/>
            <a:ext cx="11639550" cy="6858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22000"/>
              </a:lnSpc>
              <a:buNone/>
              <a:defRPr sz="1800">
                <a:solidFill>
                  <a:srgbClr val="526375"/>
                </a:solidFill>
              </a:defRPr>
            </a:pPr>
            <a:r>
              <a:rPr sz="1800">
                <a:solidFill>
                  <a:srgbClr val="526375"/>
                </a:solidFill>
              </a:rPr>
              <a:t>The product works best when master data is correct before allocations, and allocations exist before timesheets are submitted.</a:t>
            </a:r>
          </a:p>
        </p:txBody>
      </p:sp>
      <p:sp>
        <p:nvSpPr>
          <p:cNvPr id="5" name="step.1.number">
            <a:extLst xmlns:a="http://schemas.openxmlformats.org/drawingml/2006/main">
              <a:ext uri="{FF2B5EF4-FFF2-40B4-BE49-F238E27FC236}">
                <a16:creationId xmlns:a16="http://schemas.microsoft.com/office/drawing/2014/main" id="{3F3E9006-4983-476E-92F5-71B238C3FE3B}"/>
              </a:ext>
            </a:extLst>
          </p:cNvPr>
          <p:cNvSpPr>
            <a:spLocks xmlns:a="http://schemas.openxmlformats.org/drawingml/2006/main" noGrp="1"/>
          </p:cNvSpPr>
          <p:nvPr/>
        </p:nvSpPr>
        <p:spPr>
          <a:xfrm xmlns:a="http://schemas.openxmlformats.org/drawingml/2006/main">
            <a:off x="914400" y="3733800"/>
            <a:ext cx="609600" cy="3048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b="1">
                <a:solidFill>
                  <a:srgbClr val="EF7D00"/>
                </a:solidFill>
              </a:defRPr>
            </a:pPr>
            <a:r>
              <a:rPr sz="1950" b="1">
                <a:solidFill>
                  <a:srgbClr val="EF7D00"/>
                </a:solidFill>
              </a:rPr>
              <a:t>01</a:t>
            </a:r>
          </a:p>
        </p:txBody>
      </p:sp>
      <p:sp>
        <p:nvSpPr>
          <p:cNvPr id="6" name="step.1.title">
            <a:extLst xmlns:a="http://schemas.openxmlformats.org/drawingml/2006/main">
              <a:ext uri="{FF2B5EF4-FFF2-40B4-BE49-F238E27FC236}">
                <a16:creationId xmlns:a16="http://schemas.microsoft.com/office/drawing/2014/main" id="{43006009-F597-4EF2-92E6-B6F1A4995E8D}"/>
              </a:ext>
            </a:extLst>
          </p:cNvPr>
          <p:cNvSpPr>
            <a:spLocks xmlns:a="http://schemas.openxmlformats.org/drawingml/2006/main" noGrp="1"/>
          </p:cNvSpPr>
          <p:nvPr/>
        </p:nvSpPr>
        <p:spPr>
          <a:xfrm xmlns:a="http://schemas.openxmlformats.org/drawingml/2006/main">
            <a:off x="1695450" y="3733800"/>
            <a:ext cx="4438650" cy="3048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b="1">
                <a:solidFill>
                  <a:srgbClr val="073763"/>
                </a:solidFill>
              </a:defRPr>
            </a:pPr>
            <a:r>
              <a:rPr sz="1950" b="1">
                <a:solidFill>
                  <a:srgbClr val="073763"/>
                </a:solidFill>
              </a:rPr>
              <a:t>Governance Settings</a:t>
            </a:r>
          </a:p>
        </p:txBody>
      </p:sp>
      <p:sp>
        <p:nvSpPr>
          <p:cNvPr id="7" name="step.1.body">
            <a:extLst xmlns:a="http://schemas.openxmlformats.org/drawingml/2006/main">
              <a:ext uri="{FF2B5EF4-FFF2-40B4-BE49-F238E27FC236}">
                <a16:creationId xmlns:a16="http://schemas.microsoft.com/office/drawing/2014/main" id="{6E9FD851-425A-444D-BE75-6827D4E01829}"/>
              </a:ext>
            </a:extLst>
          </p:cNvPr>
          <p:cNvSpPr>
            <a:spLocks xmlns:a="http://schemas.openxmlformats.org/drawingml/2006/main" noGrp="1"/>
          </p:cNvSpPr>
          <p:nvPr/>
        </p:nvSpPr>
        <p:spPr>
          <a:xfrm xmlns:a="http://schemas.openxmlformats.org/drawingml/2006/main">
            <a:off x="1695450" y="4095750"/>
            <a:ext cx="4438650" cy="552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20000"/>
              </a:lnSpc>
              <a:buNone/>
              <a:defRPr sz="1500">
                <a:solidFill>
                  <a:srgbClr val="526375"/>
                </a:solidFill>
              </a:defRPr>
            </a:pPr>
            <a:r>
              <a:rPr sz="1500">
                <a:solidFill>
                  <a:srgbClr val="526375"/>
                </a:solidFill>
              </a:rPr>
              <a:t>Admin and HR maintain roles, departments, countries, Country Directors, and utilization thresholds.</a:t>
            </a:r>
          </a:p>
        </p:txBody>
      </p:sp>
      <p:sp>
        <p:nvSpPr>
          <p:cNvPr id="8" name="">
            <a:extLst xmlns:a="http://schemas.openxmlformats.org/drawingml/2006/main">
              <a:ext uri="{FF2B5EF4-FFF2-40B4-BE49-F238E27FC236}">
                <a16:creationId xmlns:a16="http://schemas.microsoft.com/office/drawing/2014/main" id="{AB256DCD-9EE5-4716-87D3-26095482F927}"/>
              </a:ext>
            </a:extLst>
          </p:cNvPr>
          <p:cNvSpPr>
            <a:spLocks xmlns:a="http://schemas.openxmlformats.org/drawingml/2006/main" noGrp="1"/>
          </p:cNvSpPr>
          <p:nvPr/>
        </p:nvSpPr>
        <p:spPr>
          <a:xfrm xmlns:a="http://schemas.openxmlformats.org/drawingml/2006/main">
            <a:off x="914400" y="4876800"/>
            <a:ext cx="5219700" cy="19050"/>
          </a:xfrm>
          <a:prstGeom xmlns:a="http://schemas.openxmlformats.org/drawingml/2006/main" prst="rect">
            <a:avLst/>
          </a:prstGeom>
          <a:solidFill xmlns:a="http://schemas.openxmlformats.org/drawingml/2006/main">
            <a:srgbClr val="D7DEE7"/>
          </a:solidFill>
          <a:ln xmlns:a="http://schemas.openxmlformats.org/drawingml/2006/main" w="0">
            <a:solidFill>
              <a:srgbClr val="D7DEE7"/>
            </a:solidFill>
            <a:prstDash val="solid"/>
          </a:ln>
        </p:spPr>
      </p:sp>
      <p:sp>
        <p:nvSpPr>
          <p:cNvPr id="9" name="step.2.number">
            <a:extLst xmlns:a="http://schemas.openxmlformats.org/drawingml/2006/main">
              <a:ext uri="{FF2B5EF4-FFF2-40B4-BE49-F238E27FC236}">
                <a16:creationId xmlns:a16="http://schemas.microsoft.com/office/drawing/2014/main" id="{A3A70151-032A-488F-AA6A-4427DB196498}"/>
              </a:ext>
            </a:extLst>
          </p:cNvPr>
          <p:cNvSpPr>
            <a:spLocks xmlns:a="http://schemas.openxmlformats.org/drawingml/2006/main" noGrp="1"/>
          </p:cNvSpPr>
          <p:nvPr/>
        </p:nvSpPr>
        <p:spPr>
          <a:xfrm xmlns:a="http://schemas.openxmlformats.org/drawingml/2006/main">
            <a:off x="914400" y="5124450"/>
            <a:ext cx="609600" cy="3048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b="1">
                <a:solidFill>
                  <a:srgbClr val="EF7D00"/>
                </a:solidFill>
              </a:defRPr>
            </a:pPr>
            <a:r>
              <a:rPr sz="1950" b="1">
                <a:solidFill>
                  <a:srgbClr val="EF7D00"/>
                </a:solidFill>
              </a:rPr>
              <a:t>02</a:t>
            </a:r>
          </a:p>
        </p:txBody>
      </p:sp>
      <p:sp>
        <p:nvSpPr>
          <p:cNvPr id="10" name="step.2.title">
            <a:extLst xmlns:a="http://schemas.openxmlformats.org/drawingml/2006/main">
              <a:ext uri="{FF2B5EF4-FFF2-40B4-BE49-F238E27FC236}">
                <a16:creationId xmlns:a16="http://schemas.microsoft.com/office/drawing/2014/main" id="{FE52D0D6-FD14-42FD-A384-8997E717AE11}"/>
              </a:ext>
            </a:extLst>
          </p:cNvPr>
          <p:cNvSpPr>
            <a:spLocks xmlns:a="http://schemas.openxmlformats.org/drawingml/2006/main" noGrp="1"/>
          </p:cNvSpPr>
          <p:nvPr/>
        </p:nvSpPr>
        <p:spPr>
          <a:xfrm xmlns:a="http://schemas.openxmlformats.org/drawingml/2006/main">
            <a:off x="1695450" y="5124450"/>
            <a:ext cx="4438650" cy="3048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b="1">
                <a:solidFill>
                  <a:srgbClr val="073763"/>
                </a:solidFill>
              </a:defRPr>
            </a:pPr>
            <a:r>
              <a:rPr sz="1950" b="1">
                <a:solidFill>
                  <a:srgbClr val="073763"/>
                </a:solidFill>
              </a:rPr>
              <a:t>Employee Master</a:t>
            </a:r>
          </a:p>
        </p:txBody>
      </p:sp>
      <p:sp>
        <p:nvSpPr>
          <p:cNvPr id="11" name="step.2.body">
            <a:extLst xmlns:a="http://schemas.openxmlformats.org/drawingml/2006/main">
              <a:ext uri="{FF2B5EF4-FFF2-40B4-BE49-F238E27FC236}">
                <a16:creationId xmlns:a16="http://schemas.microsoft.com/office/drawing/2014/main" id="{F8D6DCD1-7955-4410-BE2B-9A7702E7A018}"/>
              </a:ext>
            </a:extLst>
          </p:cNvPr>
          <p:cNvSpPr>
            <a:spLocks xmlns:a="http://schemas.openxmlformats.org/drawingml/2006/main" noGrp="1"/>
          </p:cNvSpPr>
          <p:nvPr/>
        </p:nvSpPr>
        <p:spPr>
          <a:xfrm xmlns:a="http://schemas.openxmlformats.org/drawingml/2006/main">
            <a:off x="1695450" y="5467350"/>
            <a:ext cx="4438650" cy="552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20000"/>
              </a:lnSpc>
              <a:buNone/>
              <a:defRPr sz="1500">
                <a:solidFill>
                  <a:srgbClr val="526375"/>
                </a:solidFill>
              </a:defRPr>
            </a:pPr>
            <a:r>
              <a:rPr sz="1500">
                <a:solidFill>
                  <a:srgbClr val="526375"/>
                </a:solidFill>
              </a:rPr>
              <a:t>People records, country ownership, and active workforce structure are cleaned before planning begins.</a:t>
            </a:r>
          </a:p>
        </p:txBody>
      </p:sp>
      <p:sp>
        <p:nvSpPr>
          <p:cNvPr id="12" name="">
            <a:extLst xmlns:a="http://schemas.openxmlformats.org/drawingml/2006/main">
              <a:ext uri="{FF2B5EF4-FFF2-40B4-BE49-F238E27FC236}">
                <a16:creationId xmlns:a16="http://schemas.microsoft.com/office/drawing/2014/main" id="{B6753361-3DD0-44FF-9698-A98859010745}"/>
              </a:ext>
            </a:extLst>
          </p:cNvPr>
          <p:cNvSpPr>
            <a:spLocks xmlns:a="http://schemas.openxmlformats.org/drawingml/2006/main" noGrp="1"/>
          </p:cNvSpPr>
          <p:nvPr/>
        </p:nvSpPr>
        <p:spPr>
          <a:xfrm xmlns:a="http://schemas.openxmlformats.org/drawingml/2006/main">
            <a:off x="914400" y="6248400"/>
            <a:ext cx="5219700" cy="19050"/>
          </a:xfrm>
          <a:prstGeom xmlns:a="http://schemas.openxmlformats.org/drawingml/2006/main" prst="rect">
            <a:avLst/>
          </a:prstGeom>
          <a:solidFill xmlns:a="http://schemas.openxmlformats.org/drawingml/2006/main">
            <a:srgbClr val="D7DEE7"/>
          </a:solidFill>
          <a:ln xmlns:a="http://schemas.openxmlformats.org/drawingml/2006/main" w="0">
            <a:solidFill>
              <a:srgbClr val="D7DEE7"/>
            </a:solidFill>
            <a:prstDash val="solid"/>
          </a:ln>
        </p:spPr>
      </p:sp>
      <p:sp>
        <p:nvSpPr>
          <p:cNvPr id="13" name="step.3.number">
            <a:extLst xmlns:a="http://schemas.openxmlformats.org/drawingml/2006/main">
              <a:ext uri="{FF2B5EF4-FFF2-40B4-BE49-F238E27FC236}">
                <a16:creationId xmlns:a16="http://schemas.microsoft.com/office/drawing/2014/main" id="{1BDC76EB-DB9D-4E35-9375-2975B54AEA27}"/>
              </a:ext>
            </a:extLst>
          </p:cNvPr>
          <p:cNvSpPr>
            <a:spLocks xmlns:a="http://schemas.openxmlformats.org/drawingml/2006/main" noGrp="1"/>
          </p:cNvSpPr>
          <p:nvPr/>
        </p:nvSpPr>
        <p:spPr>
          <a:xfrm xmlns:a="http://schemas.openxmlformats.org/drawingml/2006/main">
            <a:off x="914400" y="6496050"/>
            <a:ext cx="609600" cy="3048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b="1">
                <a:solidFill>
                  <a:srgbClr val="EF7D00"/>
                </a:solidFill>
              </a:defRPr>
            </a:pPr>
            <a:r>
              <a:rPr sz="1950" b="1">
                <a:solidFill>
                  <a:srgbClr val="EF7D00"/>
                </a:solidFill>
              </a:rPr>
              <a:t>03</a:t>
            </a:r>
          </a:p>
        </p:txBody>
      </p:sp>
      <p:sp>
        <p:nvSpPr>
          <p:cNvPr id="14" name="step.3.title">
            <a:extLst xmlns:a="http://schemas.openxmlformats.org/drawingml/2006/main">
              <a:ext uri="{FF2B5EF4-FFF2-40B4-BE49-F238E27FC236}">
                <a16:creationId xmlns:a16="http://schemas.microsoft.com/office/drawing/2014/main" id="{584761F9-594E-4FA7-AFD8-C7CC54392A1C}"/>
              </a:ext>
            </a:extLst>
          </p:cNvPr>
          <p:cNvSpPr>
            <a:spLocks xmlns:a="http://schemas.openxmlformats.org/drawingml/2006/main" noGrp="1"/>
          </p:cNvSpPr>
          <p:nvPr/>
        </p:nvSpPr>
        <p:spPr>
          <a:xfrm xmlns:a="http://schemas.openxmlformats.org/drawingml/2006/main">
            <a:off x="1695450" y="6496050"/>
            <a:ext cx="4438650" cy="3048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b="1">
                <a:solidFill>
                  <a:srgbClr val="073763"/>
                </a:solidFill>
              </a:defRPr>
            </a:pPr>
            <a:r>
              <a:rPr sz="1950" b="1">
                <a:solidFill>
                  <a:srgbClr val="073763"/>
                </a:solidFill>
              </a:rPr>
              <a:t>Client Portfolio</a:t>
            </a:r>
          </a:p>
        </p:txBody>
      </p:sp>
      <p:sp>
        <p:nvSpPr>
          <p:cNvPr id="15" name="step.3.body">
            <a:extLst xmlns:a="http://schemas.openxmlformats.org/drawingml/2006/main">
              <a:ext uri="{FF2B5EF4-FFF2-40B4-BE49-F238E27FC236}">
                <a16:creationId xmlns:a16="http://schemas.microsoft.com/office/drawing/2014/main" id="{B60B8AF6-3ED6-460E-93DD-E2836FE733B4}"/>
              </a:ext>
            </a:extLst>
          </p:cNvPr>
          <p:cNvSpPr>
            <a:spLocks xmlns:a="http://schemas.openxmlformats.org/drawingml/2006/main" noGrp="1"/>
          </p:cNvSpPr>
          <p:nvPr/>
        </p:nvSpPr>
        <p:spPr>
          <a:xfrm xmlns:a="http://schemas.openxmlformats.org/drawingml/2006/main">
            <a:off x="1695450" y="6858000"/>
            <a:ext cx="4438650" cy="552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20000"/>
              </a:lnSpc>
              <a:buNone/>
              <a:defRPr sz="1500">
                <a:solidFill>
                  <a:srgbClr val="526375"/>
                </a:solidFill>
              </a:defRPr>
            </a:pPr>
            <a:r>
              <a:rPr sz="1500">
                <a:solidFill>
                  <a:srgbClr val="526375"/>
                </a:solidFill>
              </a:rPr>
              <a:t>Client ownership and visibility are aligned to delivery leadership.</a:t>
            </a:r>
          </a:p>
        </p:txBody>
      </p:sp>
      <p:sp>
        <p:nvSpPr>
          <p:cNvPr id="16" name="step.4.number">
            <a:extLst xmlns:a="http://schemas.openxmlformats.org/drawingml/2006/main">
              <a:ext uri="{FF2B5EF4-FFF2-40B4-BE49-F238E27FC236}">
                <a16:creationId xmlns:a16="http://schemas.microsoft.com/office/drawing/2014/main" id="{8D177A7C-AB88-46FC-8A8E-81AE939F0D10}"/>
              </a:ext>
            </a:extLst>
          </p:cNvPr>
          <p:cNvSpPr>
            <a:spLocks xmlns:a="http://schemas.openxmlformats.org/drawingml/2006/main" noGrp="1"/>
          </p:cNvSpPr>
          <p:nvPr/>
        </p:nvSpPr>
        <p:spPr>
          <a:xfrm xmlns:a="http://schemas.openxmlformats.org/drawingml/2006/main">
            <a:off x="6534150" y="3733800"/>
            <a:ext cx="609600" cy="3048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b="1">
                <a:solidFill>
                  <a:srgbClr val="EF7D00"/>
                </a:solidFill>
              </a:defRPr>
            </a:pPr>
            <a:r>
              <a:rPr sz="1950" b="1">
                <a:solidFill>
                  <a:srgbClr val="EF7D00"/>
                </a:solidFill>
              </a:rPr>
              <a:t>04</a:t>
            </a:r>
          </a:p>
        </p:txBody>
      </p:sp>
      <p:sp>
        <p:nvSpPr>
          <p:cNvPr id="17" name="step.4.title">
            <a:extLst xmlns:a="http://schemas.openxmlformats.org/drawingml/2006/main">
              <a:ext uri="{FF2B5EF4-FFF2-40B4-BE49-F238E27FC236}">
                <a16:creationId xmlns:a16="http://schemas.microsoft.com/office/drawing/2014/main" id="{7A596C58-36D4-4B18-AD84-7DE692948D97}"/>
              </a:ext>
            </a:extLst>
          </p:cNvPr>
          <p:cNvSpPr>
            <a:spLocks xmlns:a="http://schemas.openxmlformats.org/drawingml/2006/main" noGrp="1"/>
          </p:cNvSpPr>
          <p:nvPr/>
        </p:nvSpPr>
        <p:spPr>
          <a:xfrm xmlns:a="http://schemas.openxmlformats.org/drawingml/2006/main">
            <a:off x="7315200" y="3733800"/>
            <a:ext cx="4438650" cy="3048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b="1">
                <a:solidFill>
                  <a:srgbClr val="073763"/>
                </a:solidFill>
              </a:defRPr>
            </a:pPr>
            <a:r>
              <a:rPr sz="1950" b="1">
                <a:solidFill>
                  <a:srgbClr val="073763"/>
                </a:solidFill>
              </a:rPr>
              <a:t>Project Master</a:t>
            </a:r>
          </a:p>
        </p:txBody>
      </p:sp>
      <p:sp>
        <p:nvSpPr>
          <p:cNvPr id="18" name="step.4.body">
            <a:extLst xmlns:a="http://schemas.openxmlformats.org/drawingml/2006/main">
              <a:ext uri="{FF2B5EF4-FFF2-40B4-BE49-F238E27FC236}">
                <a16:creationId xmlns:a16="http://schemas.microsoft.com/office/drawing/2014/main" id="{768EBC49-4AC1-4009-89E4-A005DA8A38CF}"/>
              </a:ext>
            </a:extLst>
          </p:cNvPr>
          <p:cNvSpPr>
            <a:spLocks xmlns:a="http://schemas.openxmlformats.org/drawingml/2006/main" noGrp="1"/>
          </p:cNvSpPr>
          <p:nvPr/>
        </p:nvSpPr>
        <p:spPr>
          <a:xfrm xmlns:a="http://schemas.openxmlformats.org/drawingml/2006/main">
            <a:off x="7315200" y="4095750"/>
            <a:ext cx="4438650" cy="552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20000"/>
              </a:lnSpc>
              <a:buNone/>
              <a:defRPr sz="1500">
                <a:solidFill>
                  <a:srgbClr val="526375"/>
                </a:solidFill>
              </a:defRPr>
            </a:pPr>
            <a:r>
              <a:rPr sz="1500">
                <a:solidFill>
                  <a:srgbClr val="526375"/>
                </a:solidFill>
              </a:rPr>
              <a:t>Projects and processes are defined with PM ownership, dates, and commercial status.</a:t>
            </a:r>
          </a:p>
        </p:txBody>
      </p:sp>
      <p:sp>
        <p:nvSpPr>
          <p:cNvPr id="19" name="">
            <a:extLst xmlns:a="http://schemas.openxmlformats.org/drawingml/2006/main">
              <a:ext uri="{FF2B5EF4-FFF2-40B4-BE49-F238E27FC236}">
                <a16:creationId xmlns:a16="http://schemas.microsoft.com/office/drawing/2014/main" id="{4A3EA9EC-1A94-473F-86D6-17CD820CB8E5}"/>
              </a:ext>
            </a:extLst>
          </p:cNvPr>
          <p:cNvSpPr>
            <a:spLocks xmlns:a="http://schemas.openxmlformats.org/drawingml/2006/main" noGrp="1"/>
          </p:cNvSpPr>
          <p:nvPr/>
        </p:nvSpPr>
        <p:spPr>
          <a:xfrm xmlns:a="http://schemas.openxmlformats.org/drawingml/2006/main">
            <a:off x="6534150" y="4876800"/>
            <a:ext cx="5219700" cy="19050"/>
          </a:xfrm>
          <a:prstGeom xmlns:a="http://schemas.openxmlformats.org/drawingml/2006/main" prst="rect">
            <a:avLst/>
          </a:prstGeom>
          <a:solidFill xmlns:a="http://schemas.openxmlformats.org/drawingml/2006/main">
            <a:srgbClr val="D7DEE7"/>
          </a:solidFill>
          <a:ln xmlns:a="http://schemas.openxmlformats.org/drawingml/2006/main" w="0">
            <a:solidFill>
              <a:srgbClr val="D7DEE7"/>
            </a:solidFill>
            <a:prstDash val="solid"/>
          </a:ln>
        </p:spPr>
      </p:sp>
      <p:sp>
        <p:nvSpPr>
          <p:cNvPr id="20" name="step.5.number">
            <a:extLst xmlns:a="http://schemas.openxmlformats.org/drawingml/2006/main">
              <a:ext uri="{FF2B5EF4-FFF2-40B4-BE49-F238E27FC236}">
                <a16:creationId xmlns:a16="http://schemas.microsoft.com/office/drawing/2014/main" id="{39A077BC-A531-49CE-A5CB-FF5F4E14EBBF}"/>
              </a:ext>
            </a:extLst>
          </p:cNvPr>
          <p:cNvSpPr>
            <a:spLocks xmlns:a="http://schemas.openxmlformats.org/drawingml/2006/main" noGrp="1"/>
          </p:cNvSpPr>
          <p:nvPr/>
        </p:nvSpPr>
        <p:spPr>
          <a:xfrm xmlns:a="http://schemas.openxmlformats.org/drawingml/2006/main">
            <a:off x="6534150" y="5124450"/>
            <a:ext cx="609600" cy="3048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b="1">
                <a:solidFill>
                  <a:srgbClr val="EF7D00"/>
                </a:solidFill>
              </a:defRPr>
            </a:pPr>
            <a:r>
              <a:rPr sz="1950" b="1">
                <a:solidFill>
                  <a:srgbClr val="EF7D00"/>
                </a:solidFill>
              </a:rPr>
              <a:t>05</a:t>
            </a:r>
          </a:p>
        </p:txBody>
      </p:sp>
      <p:sp>
        <p:nvSpPr>
          <p:cNvPr id="21" name="step.5.title">
            <a:extLst xmlns:a="http://schemas.openxmlformats.org/drawingml/2006/main">
              <a:ext uri="{FF2B5EF4-FFF2-40B4-BE49-F238E27FC236}">
                <a16:creationId xmlns:a16="http://schemas.microsoft.com/office/drawing/2014/main" id="{359D5DA1-F1EA-44EE-AA16-10F08EFEDED2}"/>
              </a:ext>
            </a:extLst>
          </p:cNvPr>
          <p:cNvSpPr>
            <a:spLocks xmlns:a="http://schemas.openxmlformats.org/drawingml/2006/main" noGrp="1"/>
          </p:cNvSpPr>
          <p:nvPr/>
        </p:nvSpPr>
        <p:spPr>
          <a:xfrm xmlns:a="http://schemas.openxmlformats.org/drawingml/2006/main">
            <a:off x="7315200" y="5124450"/>
            <a:ext cx="4438650" cy="3048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b="1">
                <a:solidFill>
                  <a:srgbClr val="073763"/>
                </a:solidFill>
              </a:defRPr>
            </a:pPr>
            <a:r>
              <a:rPr sz="1950" b="1">
                <a:solidFill>
                  <a:srgbClr val="073763"/>
                </a:solidFill>
              </a:rPr>
              <a:t>Allocation Control</a:t>
            </a:r>
          </a:p>
        </p:txBody>
      </p:sp>
      <p:sp>
        <p:nvSpPr>
          <p:cNvPr id="22" name="step.5.body">
            <a:extLst xmlns:a="http://schemas.openxmlformats.org/drawingml/2006/main">
              <a:ext uri="{FF2B5EF4-FFF2-40B4-BE49-F238E27FC236}">
                <a16:creationId xmlns:a16="http://schemas.microsoft.com/office/drawing/2014/main" id="{25827EEB-9C34-48ED-9655-A8A9FF746F15}"/>
              </a:ext>
            </a:extLst>
          </p:cNvPr>
          <p:cNvSpPr>
            <a:spLocks xmlns:a="http://schemas.openxmlformats.org/drawingml/2006/main" noGrp="1"/>
          </p:cNvSpPr>
          <p:nvPr/>
        </p:nvSpPr>
        <p:spPr>
          <a:xfrm xmlns:a="http://schemas.openxmlformats.org/drawingml/2006/main">
            <a:off x="7315200" y="5467350"/>
            <a:ext cx="4438650" cy="552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20000"/>
              </a:lnSpc>
              <a:buNone/>
              <a:defRPr sz="1500">
                <a:solidFill>
                  <a:srgbClr val="526375"/>
                </a:solidFill>
              </a:defRPr>
            </a:pPr>
            <a:r>
              <a:rPr sz="1500">
                <a:solidFill>
                  <a:srgbClr val="526375"/>
                </a:solidFill>
              </a:rPr>
              <a:t>Planned allocation percentages and date ranges define expected utilization.</a:t>
            </a:r>
          </a:p>
        </p:txBody>
      </p:sp>
      <p:sp>
        <p:nvSpPr>
          <p:cNvPr id="23" name="">
            <a:extLst xmlns:a="http://schemas.openxmlformats.org/drawingml/2006/main">
              <a:ext uri="{FF2B5EF4-FFF2-40B4-BE49-F238E27FC236}">
                <a16:creationId xmlns:a16="http://schemas.microsoft.com/office/drawing/2014/main" id="{89302E28-5948-4DFB-A34C-9A393EABB2C5}"/>
              </a:ext>
            </a:extLst>
          </p:cNvPr>
          <p:cNvSpPr>
            <a:spLocks xmlns:a="http://schemas.openxmlformats.org/drawingml/2006/main" noGrp="1"/>
          </p:cNvSpPr>
          <p:nvPr/>
        </p:nvSpPr>
        <p:spPr>
          <a:xfrm xmlns:a="http://schemas.openxmlformats.org/drawingml/2006/main">
            <a:off x="6534150" y="6248400"/>
            <a:ext cx="5219700" cy="19050"/>
          </a:xfrm>
          <a:prstGeom xmlns:a="http://schemas.openxmlformats.org/drawingml/2006/main" prst="rect">
            <a:avLst/>
          </a:prstGeom>
          <a:solidFill xmlns:a="http://schemas.openxmlformats.org/drawingml/2006/main">
            <a:srgbClr val="D7DEE7"/>
          </a:solidFill>
          <a:ln xmlns:a="http://schemas.openxmlformats.org/drawingml/2006/main" w="0">
            <a:solidFill>
              <a:srgbClr val="D7DEE7"/>
            </a:solidFill>
            <a:prstDash val="solid"/>
          </a:ln>
        </p:spPr>
      </p:sp>
      <p:sp>
        <p:nvSpPr>
          <p:cNvPr id="24" name="step.6.number">
            <a:extLst xmlns:a="http://schemas.openxmlformats.org/drawingml/2006/main">
              <a:ext uri="{FF2B5EF4-FFF2-40B4-BE49-F238E27FC236}">
                <a16:creationId xmlns:a16="http://schemas.microsoft.com/office/drawing/2014/main" id="{CC1ACDAF-F180-4324-9D83-0B457B52F9AB}"/>
              </a:ext>
            </a:extLst>
          </p:cNvPr>
          <p:cNvSpPr>
            <a:spLocks xmlns:a="http://schemas.openxmlformats.org/drawingml/2006/main" noGrp="1"/>
          </p:cNvSpPr>
          <p:nvPr/>
        </p:nvSpPr>
        <p:spPr>
          <a:xfrm xmlns:a="http://schemas.openxmlformats.org/drawingml/2006/main">
            <a:off x="6534150" y="6496050"/>
            <a:ext cx="609600" cy="3048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b="1">
                <a:solidFill>
                  <a:srgbClr val="EF7D00"/>
                </a:solidFill>
              </a:defRPr>
            </a:pPr>
            <a:r>
              <a:rPr sz="1950" b="1">
                <a:solidFill>
                  <a:srgbClr val="EF7D00"/>
                </a:solidFill>
              </a:rPr>
              <a:t>06</a:t>
            </a:r>
          </a:p>
        </p:txBody>
      </p:sp>
      <p:sp>
        <p:nvSpPr>
          <p:cNvPr id="25" name="step.6.title">
            <a:extLst xmlns:a="http://schemas.openxmlformats.org/drawingml/2006/main">
              <a:ext uri="{FF2B5EF4-FFF2-40B4-BE49-F238E27FC236}">
                <a16:creationId xmlns:a16="http://schemas.microsoft.com/office/drawing/2014/main" id="{B6F6E681-5EE3-424D-9500-76503C06EC40}"/>
              </a:ext>
            </a:extLst>
          </p:cNvPr>
          <p:cNvSpPr>
            <a:spLocks xmlns:a="http://schemas.openxmlformats.org/drawingml/2006/main" noGrp="1"/>
          </p:cNvSpPr>
          <p:nvPr/>
        </p:nvSpPr>
        <p:spPr>
          <a:xfrm xmlns:a="http://schemas.openxmlformats.org/drawingml/2006/main">
            <a:off x="7315200" y="6496050"/>
            <a:ext cx="4438650" cy="3048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b="1">
                <a:solidFill>
                  <a:srgbClr val="073763"/>
                </a:solidFill>
              </a:defRPr>
            </a:pPr>
            <a:r>
              <a:rPr sz="1950" b="1">
                <a:solidFill>
                  <a:srgbClr val="073763"/>
                </a:solidFill>
              </a:rPr>
              <a:t>My Timesheet</a:t>
            </a:r>
          </a:p>
        </p:txBody>
      </p:sp>
      <p:sp>
        <p:nvSpPr>
          <p:cNvPr id="26" name="step.6.body">
            <a:extLst xmlns:a="http://schemas.openxmlformats.org/drawingml/2006/main">
              <a:ext uri="{FF2B5EF4-FFF2-40B4-BE49-F238E27FC236}">
                <a16:creationId xmlns:a16="http://schemas.microsoft.com/office/drawing/2014/main" id="{B644604B-7EFD-438A-BEF7-BC2CE9B5A25E}"/>
              </a:ext>
            </a:extLst>
          </p:cNvPr>
          <p:cNvSpPr>
            <a:spLocks xmlns:a="http://schemas.openxmlformats.org/drawingml/2006/main" noGrp="1"/>
          </p:cNvSpPr>
          <p:nvPr/>
        </p:nvSpPr>
        <p:spPr>
          <a:xfrm xmlns:a="http://schemas.openxmlformats.org/drawingml/2006/main">
            <a:off x="7315200" y="6858000"/>
            <a:ext cx="4438650" cy="552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20000"/>
              </a:lnSpc>
              <a:buNone/>
              <a:defRPr sz="1500">
                <a:solidFill>
                  <a:srgbClr val="526375"/>
                </a:solidFill>
              </a:defRPr>
            </a:pPr>
            <a:r>
              <a:rPr sz="1500">
                <a:solidFill>
                  <a:srgbClr val="526375"/>
                </a:solidFill>
              </a:rPr>
              <a:t>Employees log weekly work only after valid project assignments are in place.</a:t>
            </a:r>
          </a:p>
        </p:txBody>
      </p:sp>
      <p:sp>
        <p:nvSpPr>
          <p:cNvPr id="27" name="step.7.number">
            <a:extLst xmlns:a="http://schemas.openxmlformats.org/drawingml/2006/main">
              <a:ext uri="{FF2B5EF4-FFF2-40B4-BE49-F238E27FC236}">
                <a16:creationId xmlns:a16="http://schemas.microsoft.com/office/drawing/2014/main" id="{65D7DD24-C3C6-4AB0-BEB9-0EBE8B7324D2}"/>
              </a:ext>
            </a:extLst>
          </p:cNvPr>
          <p:cNvSpPr>
            <a:spLocks xmlns:a="http://schemas.openxmlformats.org/drawingml/2006/main" noGrp="1"/>
          </p:cNvSpPr>
          <p:nvPr/>
        </p:nvSpPr>
        <p:spPr>
          <a:xfrm xmlns:a="http://schemas.openxmlformats.org/drawingml/2006/main">
            <a:off x="12153900" y="3733800"/>
            <a:ext cx="609600" cy="3048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b="1">
                <a:solidFill>
                  <a:srgbClr val="EF7D00"/>
                </a:solidFill>
              </a:defRPr>
            </a:pPr>
            <a:r>
              <a:rPr sz="1950" b="1">
                <a:solidFill>
                  <a:srgbClr val="EF7D00"/>
                </a:solidFill>
              </a:rPr>
              <a:t>07</a:t>
            </a:r>
          </a:p>
        </p:txBody>
      </p:sp>
      <p:sp>
        <p:nvSpPr>
          <p:cNvPr id="28" name="step.7.title">
            <a:extLst xmlns:a="http://schemas.openxmlformats.org/drawingml/2006/main">
              <a:ext uri="{FF2B5EF4-FFF2-40B4-BE49-F238E27FC236}">
                <a16:creationId xmlns:a16="http://schemas.microsoft.com/office/drawing/2014/main" id="{34A50886-7CED-4D49-BB49-56CB13D133F2}"/>
              </a:ext>
            </a:extLst>
          </p:cNvPr>
          <p:cNvSpPr>
            <a:spLocks xmlns:a="http://schemas.openxmlformats.org/drawingml/2006/main" noGrp="1"/>
          </p:cNvSpPr>
          <p:nvPr/>
        </p:nvSpPr>
        <p:spPr>
          <a:xfrm xmlns:a="http://schemas.openxmlformats.org/drawingml/2006/main">
            <a:off x="12934950" y="3733800"/>
            <a:ext cx="4438650" cy="3048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b="1">
                <a:solidFill>
                  <a:srgbClr val="073763"/>
                </a:solidFill>
              </a:defRPr>
            </a:pPr>
            <a:r>
              <a:rPr sz="1950" b="1">
                <a:solidFill>
                  <a:srgbClr val="073763"/>
                </a:solidFill>
              </a:rPr>
              <a:t>Timesheet Governance</a:t>
            </a:r>
          </a:p>
        </p:txBody>
      </p:sp>
      <p:sp>
        <p:nvSpPr>
          <p:cNvPr id="29" name="step.7.body">
            <a:extLst xmlns:a="http://schemas.openxmlformats.org/drawingml/2006/main">
              <a:ext uri="{FF2B5EF4-FFF2-40B4-BE49-F238E27FC236}">
                <a16:creationId xmlns:a16="http://schemas.microsoft.com/office/drawing/2014/main" id="{F8B72C69-8809-45CC-B21F-DEB755FA4C94}"/>
              </a:ext>
            </a:extLst>
          </p:cNvPr>
          <p:cNvSpPr>
            <a:spLocks xmlns:a="http://schemas.openxmlformats.org/drawingml/2006/main" noGrp="1"/>
          </p:cNvSpPr>
          <p:nvPr/>
        </p:nvSpPr>
        <p:spPr>
          <a:xfrm xmlns:a="http://schemas.openxmlformats.org/drawingml/2006/main">
            <a:off x="12934950" y="4095750"/>
            <a:ext cx="4438650" cy="552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20000"/>
              </a:lnSpc>
              <a:buNone/>
              <a:defRPr sz="1500">
                <a:solidFill>
                  <a:srgbClr val="526375"/>
                </a:solidFill>
              </a:defRPr>
            </a:pPr>
            <a:r>
              <a:rPr sz="1500">
                <a:solidFill>
                  <a:srgbClr val="526375"/>
                </a:solidFill>
              </a:rPr>
              <a:t>Country Directors, PMs, or Team Leads approve or reject submitted effort.</a:t>
            </a:r>
          </a:p>
        </p:txBody>
      </p:sp>
      <p:sp>
        <p:nvSpPr>
          <p:cNvPr id="30" name="">
            <a:extLst xmlns:a="http://schemas.openxmlformats.org/drawingml/2006/main">
              <a:ext uri="{FF2B5EF4-FFF2-40B4-BE49-F238E27FC236}">
                <a16:creationId xmlns:a16="http://schemas.microsoft.com/office/drawing/2014/main" id="{47653CAB-4B37-4FB1-88D5-9B3171235565}"/>
              </a:ext>
            </a:extLst>
          </p:cNvPr>
          <p:cNvSpPr>
            <a:spLocks xmlns:a="http://schemas.openxmlformats.org/drawingml/2006/main" noGrp="1"/>
          </p:cNvSpPr>
          <p:nvPr/>
        </p:nvSpPr>
        <p:spPr>
          <a:xfrm xmlns:a="http://schemas.openxmlformats.org/drawingml/2006/main">
            <a:off x="12153900" y="4876800"/>
            <a:ext cx="5219700" cy="19050"/>
          </a:xfrm>
          <a:prstGeom xmlns:a="http://schemas.openxmlformats.org/drawingml/2006/main" prst="rect">
            <a:avLst/>
          </a:prstGeom>
          <a:solidFill xmlns:a="http://schemas.openxmlformats.org/drawingml/2006/main">
            <a:srgbClr val="D7DEE7"/>
          </a:solidFill>
          <a:ln xmlns:a="http://schemas.openxmlformats.org/drawingml/2006/main" w="0">
            <a:solidFill>
              <a:srgbClr val="D7DEE7"/>
            </a:solidFill>
            <a:prstDash val="solid"/>
          </a:ln>
        </p:spPr>
      </p:sp>
      <p:sp>
        <p:nvSpPr>
          <p:cNvPr id="31" name="step.8.number">
            <a:extLst xmlns:a="http://schemas.openxmlformats.org/drawingml/2006/main">
              <a:ext uri="{FF2B5EF4-FFF2-40B4-BE49-F238E27FC236}">
                <a16:creationId xmlns:a16="http://schemas.microsoft.com/office/drawing/2014/main" id="{AE1DE69B-835E-4552-B80D-397BE42AF1BA}"/>
              </a:ext>
            </a:extLst>
          </p:cNvPr>
          <p:cNvSpPr>
            <a:spLocks xmlns:a="http://schemas.openxmlformats.org/drawingml/2006/main" noGrp="1"/>
          </p:cNvSpPr>
          <p:nvPr/>
        </p:nvSpPr>
        <p:spPr>
          <a:xfrm xmlns:a="http://schemas.openxmlformats.org/drawingml/2006/main">
            <a:off x="12153900" y="5124450"/>
            <a:ext cx="609600" cy="3048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b="1">
                <a:solidFill>
                  <a:srgbClr val="EF7D00"/>
                </a:solidFill>
              </a:defRPr>
            </a:pPr>
            <a:r>
              <a:rPr sz="1950" b="1">
                <a:solidFill>
                  <a:srgbClr val="EF7D00"/>
                </a:solidFill>
              </a:rPr>
              <a:t>08</a:t>
            </a:r>
          </a:p>
        </p:txBody>
      </p:sp>
      <p:sp>
        <p:nvSpPr>
          <p:cNvPr id="32" name="step.8.title">
            <a:extLst xmlns:a="http://schemas.openxmlformats.org/drawingml/2006/main">
              <a:ext uri="{FF2B5EF4-FFF2-40B4-BE49-F238E27FC236}">
                <a16:creationId xmlns:a16="http://schemas.microsoft.com/office/drawing/2014/main" id="{70E90AC2-514C-457C-AE2B-B514B450304E}"/>
              </a:ext>
            </a:extLst>
          </p:cNvPr>
          <p:cNvSpPr>
            <a:spLocks xmlns:a="http://schemas.openxmlformats.org/drawingml/2006/main" noGrp="1"/>
          </p:cNvSpPr>
          <p:nvPr/>
        </p:nvSpPr>
        <p:spPr>
          <a:xfrm xmlns:a="http://schemas.openxmlformats.org/drawingml/2006/main">
            <a:off x="12934950" y="5124450"/>
            <a:ext cx="4438650" cy="3048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b="1">
                <a:solidFill>
                  <a:srgbClr val="073763"/>
                </a:solidFill>
              </a:defRPr>
            </a:pPr>
            <a:r>
              <a:rPr sz="1950" b="1">
                <a:solidFill>
                  <a:srgbClr val="073763"/>
                </a:solidFill>
              </a:rPr>
              <a:t>Utilization Views</a:t>
            </a:r>
          </a:p>
        </p:txBody>
      </p:sp>
      <p:sp>
        <p:nvSpPr>
          <p:cNvPr id="33" name="step.8.body">
            <a:extLst xmlns:a="http://schemas.openxmlformats.org/drawingml/2006/main">
              <a:ext uri="{FF2B5EF4-FFF2-40B4-BE49-F238E27FC236}">
                <a16:creationId xmlns:a16="http://schemas.microsoft.com/office/drawing/2014/main" id="{30CCE6B8-31C3-4436-90B3-0BC3C897A9D2}"/>
              </a:ext>
            </a:extLst>
          </p:cNvPr>
          <p:cNvSpPr>
            <a:spLocks xmlns:a="http://schemas.openxmlformats.org/drawingml/2006/main" noGrp="1"/>
          </p:cNvSpPr>
          <p:nvPr/>
        </p:nvSpPr>
        <p:spPr>
          <a:xfrm xmlns:a="http://schemas.openxmlformats.org/drawingml/2006/main">
            <a:off x="12934950" y="5467350"/>
            <a:ext cx="4438650" cy="552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20000"/>
              </a:lnSpc>
              <a:buNone/>
              <a:defRPr sz="1500">
                <a:solidFill>
                  <a:srgbClr val="526375"/>
                </a:solidFill>
              </a:defRPr>
            </a:pPr>
            <a:r>
              <a:rPr sz="1500">
                <a:solidFill>
                  <a:srgbClr val="526375"/>
                </a:solidFill>
              </a:rPr>
              <a:t>Planned, actual, and forecast pages convert transactions into leadership insight.</a:t>
            </a:r>
          </a:p>
        </p:txBody>
      </p:sp>
      <p:sp>
        <p:nvSpPr>
          <p:cNvPr id="34" name="">
            <a:extLst xmlns:a="http://schemas.openxmlformats.org/drawingml/2006/main">
              <a:ext uri="{FF2B5EF4-FFF2-40B4-BE49-F238E27FC236}">
                <a16:creationId xmlns:a16="http://schemas.microsoft.com/office/drawing/2014/main" id="{3509CD16-1C52-4944-B942-14901744CBAA}"/>
              </a:ext>
            </a:extLst>
          </p:cNvPr>
          <p:cNvSpPr>
            <a:spLocks xmlns:a="http://schemas.openxmlformats.org/drawingml/2006/main" noGrp="1"/>
          </p:cNvSpPr>
          <p:nvPr/>
        </p:nvSpPr>
        <p:spPr>
          <a:xfrm xmlns:a="http://schemas.openxmlformats.org/drawingml/2006/main">
            <a:off x="12153900" y="6248400"/>
            <a:ext cx="5219700" cy="19050"/>
          </a:xfrm>
          <a:prstGeom xmlns:a="http://schemas.openxmlformats.org/drawingml/2006/main" prst="rect">
            <a:avLst/>
          </a:prstGeom>
          <a:solidFill xmlns:a="http://schemas.openxmlformats.org/drawingml/2006/main">
            <a:srgbClr val="D7DEE7"/>
          </a:solidFill>
          <a:ln xmlns:a="http://schemas.openxmlformats.org/drawingml/2006/main" w="0">
            <a:solidFill>
              <a:srgbClr val="D7DEE7"/>
            </a:solidFill>
            <a:prstDash val="solid"/>
          </a:ln>
        </p:spPr>
      </p:sp>
      <p:sp>
        <p:nvSpPr>
          <p:cNvPr id="35" name="step.9.number">
            <a:extLst xmlns:a="http://schemas.openxmlformats.org/drawingml/2006/main">
              <a:ext uri="{FF2B5EF4-FFF2-40B4-BE49-F238E27FC236}">
                <a16:creationId xmlns:a16="http://schemas.microsoft.com/office/drawing/2014/main" id="{2F3BB0C6-2340-4EEA-87DE-12DA81F608FA}"/>
              </a:ext>
            </a:extLst>
          </p:cNvPr>
          <p:cNvSpPr>
            <a:spLocks xmlns:a="http://schemas.openxmlformats.org/drawingml/2006/main" noGrp="1"/>
          </p:cNvSpPr>
          <p:nvPr/>
        </p:nvSpPr>
        <p:spPr>
          <a:xfrm xmlns:a="http://schemas.openxmlformats.org/drawingml/2006/main">
            <a:off x="12153900" y="6496050"/>
            <a:ext cx="609600" cy="3048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b="1">
                <a:solidFill>
                  <a:srgbClr val="EF7D00"/>
                </a:solidFill>
              </a:defRPr>
            </a:pPr>
            <a:r>
              <a:rPr sz="1950" b="1">
                <a:solidFill>
                  <a:srgbClr val="EF7D00"/>
                </a:solidFill>
              </a:rPr>
              <a:t>09</a:t>
            </a:r>
          </a:p>
        </p:txBody>
      </p:sp>
      <p:sp>
        <p:nvSpPr>
          <p:cNvPr id="36" name="step.9.title">
            <a:extLst xmlns:a="http://schemas.openxmlformats.org/drawingml/2006/main">
              <a:ext uri="{FF2B5EF4-FFF2-40B4-BE49-F238E27FC236}">
                <a16:creationId xmlns:a16="http://schemas.microsoft.com/office/drawing/2014/main" id="{54DB2152-538A-4877-92DB-F700AFB6E489}"/>
              </a:ext>
            </a:extLst>
          </p:cNvPr>
          <p:cNvSpPr>
            <a:spLocks xmlns:a="http://schemas.openxmlformats.org/drawingml/2006/main" noGrp="1"/>
          </p:cNvSpPr>
          <p:nvPr/>
        </p:nvSpPr>
        <p:spPr>
          <a:xfrm xmlns:a="http://schemas.openxmlformats.org/drawingml/2006/main">
            <a:off x="12934950" y="6496050"/>
            <a:ext cx="4438650" cy="3048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b="1">
                <a:solidFill>
                  <a:srgbClr val="073763"/>
                </a:solidFill>
              </a:defRPr>
            </a:pPr>
            <a:r>
              <a:rPr sz="1950" b="1">
                <a:solidFill>
                  <a:srgbClr val="073763"/>
                </a:solidFill>
              </a:rPr>
              <a:t>Audit and Export</a:t>
            </a:r>
          </a:p>
        </p:txBody>
      </p:sp>
      <p:sp>
        <p:nvSpPr>
          <p:cNvPr id="37" name="step.9.body">
            <a:extLst xmlns:a="http://schemas.openxmlformats.org/drawingml/2006/main">
              <a:ext uri="{FF2B5EF4-FFF2-40B4-BE49-F238E27FC236}">
                <a16:creationId xmlns:a16="http://schemas.microsoft.com/office/drawing/2014/main" id="{9990FE2F-C459-469F-B4AB-BFD6B6F1E12F}"/>
              </a:ext>
            </a:extLst>
          </p:cNvPr>
          <p:cNvSpPr>
            <a:spLocks xmlns:a="http://schemas.openxmlformats.org/drawingml/2006/main" noGrp="1"/>
          </p:cNvSpPr>
          <p:nvPr/>
        </p:nvSpPr>
        <p:spPr>
          <a:xfrm xmlns:a="http://schemas.openxmlformats.org/drawingml/2006/main">
            <a:off x="12934950" y="6858000"/>
            <a:ext cx="4438650" cy="552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20000"/>
              </a:lnSpc>
              <a:buNone/>
              <a:defRPr sz="1500">
                <a:solidFill>
                  <a:srgbClr val="526375"/>
                </a:solidFill>
              </a:defRPr>
            </a:pPr>
            <a:r>
              <a:rPr sz="1500">
                <a:solidFill>
                  <a:srgbClr val="526375"/>
                </a:solidFill>
              </a:rPr>
              <a:t>Admin users keep traceability, reporting, and evidence under control.</a:t>
            </a:r>
          </a:p>
        </p:txBody>
      </p:sp>
    </p:spTree>
    <p:extLst>
      <p:ext uri="{BB962C8B-B14F-4D97-AF65-F5344CB8AC3E}">
        <p14:creationId xmlns:p14="http://schemas.microsoft.com/office/powerpoint/2010/main" val="994745793"/>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 name="slide-4.title.kicker">
            <a:extLst xmlns:a="http://schemas.openxmlformats.org/drawingml/2006/main">
              <a:ext uri="{FF2B5EF4-FFF2-40B4-BE49-F238E27FC236}">
                <a16:creationId xmlns:a16="http://schemas.microsoft.com/office/drawing/2014/main" id="{837BF0D0-1896-4981-9D3C-D7651213F9FD}"/>
              </a:ext>
            </a:extLst>
          </p:cNvPr>
          <p:cNvSpPr>
            <a:spLocks xmlns:a="http://schemas.openxmlformats.org/drawingml/2006/main" noGrp="1"/>
          </p:cNvSpPr>
          <p:nvPr/>
        </p:nvSpPr>
        <p:spPr>
          <a:xfrm xmlns:a="http://schemas.openxmlformats.org/drawingml/2006/main">
            <a:off x="914400" y="762000"/>
            <a:ext cx="1645920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b="1">
                <a:solidFill>
                  <a:srgbClr val="EF7D00"/>
                </a:solidFill>
              </a:defRPr>
            </a:pPr>
            <a:r>
              <a:rPr sz="1350" b="1">
                <a:solidFill>
                  <a:srgbClr val="EF7D00"/>
                </a:solidFill>
              </a:rPr>
              <a:t>ROLE-BASED OPERATING MODEL</a:t>
            </a:r>
          </a:p>
        </p:txBody>
      </p:sp>
      <p:sp>
        <p:nvSpPr>
          <p:cNvPr id="2" name="slide-4.title.title">
            <a:extLst xmlns:a="http://schemas.openxmlformats.org/drawingml/2006/main">
              <a:ext uri="{FF2B5EF4-FFF2-40B4-BE49-F238E27FC236}">
                <a16:creationId xmlns:a16="http://schemas.microsoft.com/office/drawing/2014/main" id="{A0AC8667-1C3D-44E9-850B-2212D81C6E5B}"/>
              </a:ext>
            </a:extLst>
          </p:cNvPr>
          <p:cNvSpPr>
            <a:spLocks xmlns:a="http://schemas.openxmlformats.org/drawingml/2006/main" noGrp="1"/>
          </p:cNvSpPr>
          <p:nvPr/>
        </p:nvSpPr>
        <p:spPr>
          <a:xfrm xmlns:a="http://schemas.openxmlformats.org/drawingml/2006/main">
            <a:off x="914400" y="1104900"/>
            <a:ext cx="13430250" cy="11620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05000"/>
              </a:lnSpc>
              <a:buNone/>
              <a:defRPr sz="3600" b="1">
                <a:solidFill>
                  <a:srgbClr val="073763"/>
                </a:solidFill>
              </a:defRPr>
            </a:pPr>
            <a:r>
              <a:rPr sz="3600" b="1">
                <a:solidFill>
                  <a:srgbClr val="073763"/>
                </a:solidFill>
              </a:rPr>
              <a:t>The app is strongest when each role updates only the layer it owns and uses drilldowns instead of editing from the wrong screen.</a:t>
            </a:r>
          </a:p>
        </p:txBody>
      </p:sp>
      <p:sp>
        <p:nvSpPr>
          <p:cNvPr id="3" name="slide-4.title.rule">
            <a:extLst xmlns:a="http://schemas.openxmlformats.org/drawingml/2006/main">
              <a:ext uri="{FF2B5EF4-FFF2-40B4-BE49-F238E27FC236}">
                <a16:creationId xmlns:a16="http://schemas.microsoft.com/office/drawing/2014/main" id="{AF6E1CE1-062A-4D4B-AE0D-69FC85DA5DA4}"/>
              </a:ext>
            </a:extLst>
          </p:cNvPr>
          <p:cNvSpPr>
            <a:spLocks xmlns:a="http://schemas.openxmlformats.org/drawingml/2006/main" noGrp="1"/>
          </p:cNvSpPr>
          <p:nvPr/>
        </p:nvSpPr>
        <p:spPr>
          <a:xfrm xmlns:a="http://schemas.openxmlformats.org/drawingml/2006/main">
            <a:off x="914400" y="2381250"/>
            <a:ext cx="2095500" cy="57150"/>
          </a:xfrm>
          <a:prstGeom xmlns:a="http://schemas.openxmlformats.org/drawingml/2006/main" prst="rect">
            <a:avLst/>
          </a:prstGeom>
          <a:solidFill xmlns:a="http://schemas.openxmlformats.org/drawingml/2006/main">
            <a:srgbClr val="EF7D00"/>
          </a:solidFill>
          <a:ln xmlns:a="http://schemas.openxmlformats.org/drawingml/2006/main" w="0">
            <a:solidFill>
              <a:srgbClr val="EF7D00"/>
            </a:solidFill>
            <a:prstDash val="solid"/>
          </a:ln>
        </p:spPr>
      </p:sp>
      <p:sp>
        <p:nvSpPr>
          <p:cNvPr id="4" name="slide-4.title.subtitle">
            <a:extLst xmlns:a="http://schemas.openxmlformats.org/drawingml/2006/main">
              <a:ext uri="{FF2B5EF4-FFF2-40B4-BE49-F238E27FC236}">
                <a16:creationId xmlns:a16="http://schemas.microsoft.com/office/drawing/2014/main" id="{613A3BE7-2E68-4042-AF20-EEA99BAFB120}"/>
              </a:ext>
            </a:extLst>
          </p:cNvPr>
          <p:cNvSpPr>
            <a:spLocks xmlns:a="http://schemas.openxmlformats.org/drawingml/2006/main" noGrp="1"/>
          </p:cNvSpPr>
          <p:nvPr/>
        </p:nvSpPr>
        <p:spPr>
          <a:xfrm xmlns:a="http://schemas.openxmlformats.org/drawingml/2006/main">
            <a:off x="914400" y="2571750"/>
            <a:ext cx="8305800" cy="3238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22000"/>
              </a:lnSpc>
              <a:buNone/>
              <a:defRPr sz="1650">
                <a:solidFill>
                  <a:srgbClr val="526375"/>
                </a:solidFill>
              </a:defRPr>
            </a:pPr>
            <a:r>
              <a:rPr sz="1650">
                <a:solidFill>
                  <a:srgbClr val="526375"/>
                </a:solidFill>
              </a:rPr>
              <a:t>This protects data quality and keeps leadership reporting aligned with real operational ownership.</a:t>
            </a:r>
          </a:p>
        </p:txBody>
      </p:sp>
      <p:sp>
        <p:nvSpPr>
          <p:cNvPr id="5" name="slide-4.h.role">
            <a:extLst xmlns:a="http://schemas.openxmlformats.org/drawingml/2006/main">
              <a:ext uri="{FF2B5EF4-FFF2-40B4-BE49-F238E27FC236}">
                <a16:creationId xmlns:a16="http://schemas.microsoft.com/office/drawing/2014/main" id="{D11C3F21-AB53-456F-AAAF-641372D17A87}"/>
              </a:ext>
            </a:extLst>
          </p:cNvPr>
          <p:cNvSpPr>
            <a:spLocks xmlns:a="http://schemas.openxmlformats.org/drawingml/2006/main" noGrp="1"/>
          </p:cNvSpPr>
          <p:nvPr/>
        </p:nvSpPr>
        <p:spPr>
          <a:xfrm xmlns:a="http://schemas.openxmlformats.org/drawingml/2006/main">
            <a:off x="914400" y="3086100"/>
            <a:ext cx="22860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b="1">
                <a:solidFill>
                  <a:srgbClr val="EF7D00"/>
                </a:solidFill>
              </a:defRPr>
            </a:pPr>
            <a:r>
              <a:rPr sz="1200" b="1">
                <a:solidFill>
                  <a:srgbClr val="EF7D00"/>
                </a:solidFill>
              </a:rPr>
              <a:t>ROLE</a:t>
            </a:r>
          </a:p>
        </p:txBody>
      </p:sp>
      <p:sp>
        <p:nvSpPr>
          <p:cNvPr id="6" name="slide-4.h.purpose">
            <a:extLst xmlns:a="http://schemas.openxmlformats.org/drawingml/2006/main">
              <a:ext uri="{FF2B5EF4-FFF2-40B4-BE49-F238E27FC236}">
                <a16:creationId xmlns:a16="http://schemas.microsoft.com/office/drawing/2014/main" id="{BE4FBADE-37C5-4ECE-B06A-11FADC5BE44C}"/>
              </a:ext>
            </a:extLst>
          </p:cNvPr>
          <p:cNvSpPr>
            <a:spLocks xmlns:a="http://schemas.openxmlformats.org/drawingml/2006/main" noGrp="1"/>
          </p:cNvSpPr>
          <p:nvPr/>
        </p:nvSpPr>
        <p:spPr>
          <a:xfrm xmlns:a="http://schemas.openxmlformats.org/drawingml/2006/main">
            <a:off x="3467100" y="3086100"/>
            <a:ext cx="504825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b="1">
                <a:solidFill>
                  <a:srgbClr val="EF7D00"/>
                </a:solidFill>
              </a:defRPr>
            </a:pPr>
            <a:r>
              <a:rPr sz="1200" b="1">
                <a:solidFill>
                  <a:srgbClr val="EF7D00"/>
                </a:solidFill>
              </a:rPr>
              <a:t>PRIMARY DECISION</a:t>
            </a:r>
          </a:p>
        </p:txBody>
      </p:sp>
      <p:sp>
        <p:nvSpPr>
          <p:cNvPr id="7" name="slide-4.h.screens">
            <a:extLst xmlns:a="http://schemas.openxmlformats.org/drawingml/2006/main">
              <a:ext uri="{FF2B5EF4-FFF2-40B4-BE49-F238E27FC236}">
                <a16:creationId xmlns:a16="http://schemas.microsoft.com/office/drawing/2014/main" id="{8E042C68-9F54-45A8-8D54-CC5CDFCB741C}"/>
              </a:ext>
            </a:extLst>
          </p:cNvPr>
          <p:cNvSpPr>
            <a:spLocks xmlns:a="http://schemas.openxmlformats.org/drawingml/2006/main" noGrp="1"/>
          </p:cNvSpPr>
          <p:nvPr/>
        </p:nvSpPr>
        <p:spPr>
          <a:xfrm xmlns:a="http://schemas.openxmlformats.org/drawingml/2006/main">
            <a:off x="8782050" y="3086100"/>
            <a:ext cx="49530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b="1">
                <a:solidFill>
                  <a:srgbClr val="EF7D00"/>
                </a:solidFill>
              </a:defRPr>
            </a:pPr>
            <a:r>
              <a:rPr sz="1200" b="1">
                <a:solidFill>
                  <a:srgbClr val="EF7D00"/>
                </a:solidFill>
              </a:rPr>
              <a:t>TYPICAL SCREENS</a:t>
            </a:r>
          </a:p>
        </p:txBody>
      </p:sp>
      <p:sp>
        <p:nvSpPr>
          <p:cNvPr id="8" name="">
            <a:extLst xmlns:a="http://schemas.openxmlformats.org/drawingml/2006/main">
              <a:ext uri="{FF2B5EF4-FFF2-40B4-BE49-F238E27FC236}">
                <a16:creationId xmlns:a16="http://schemas.microsoft.com/office/drawing/2014/main" id="{CE0E1BB4-7E31-4D41-968F-3417D44F43A6}"/>
              </a:ext>
            </a:extLst>
          </p:cNvPr>
          <p:cNvSpPr>
            <a:spLocks xmlns:a="http://schemas.openxmlformats.org/drawingml/2006/main" noGrp="1"/>
          </p:cNvSpPr>
          <p:nvPr/>
        </p:nvSpPr>
        <p:spPr>
          <a:xfrm xmlns:a="http://schemas.openxmlformats.org/drawingml/2006/main">
            <a:off x="914400" y="3486150"/>
            <a:ext cx="16459200" cy="19050"/>
          </a:xfrm>
          <a:prstGeom xmlns:a="http://schemas.openxmlformats.org/drawingml/2006/main" prst="rect">
            <a:avLst/>
          </a:prstGeom>
          <a:solidFill xmlns:a="http://schemas.openxmlformats.org/drawingml/2006/main">
            <a:srgbClr val="D7DEE7"/>
          </a:solidFill>
          <a:ln xmlns:a="http://schemas.openxmlformats.org/drawingml/2006/main" w="0">
            <a:solidFill>
              <a:srgbClr val="D7DEE7"/>
            </a:solidFill>
            <a:prstDash val="solid"/>
          </a:ln>
        </p:spPr>
      </p:sp>
      <p:sp>
        <p:nvSpPr>
          <p:cNvPr id="9" name="matrix.Admin.role">
            <a:extLst xmlns:a="http://schemas.openxmlformats.org/drawingml/2006/main">
              <a:ext uri="{FF2B5EF4-FFF2-40B4-BE49-F238E27FC236}">
                <a16:creationId xmlns:a16="http://schemas.microsoft.com/office/drawing/2014/main" id="{57936D4E-7A63-4931-AA1C-163CD05A7A83}"/>
              </a:ext>
            </a:extLst>
          </p:cNvPr>
          <p:cNvSpPr>
            <a:spLocks xmlns:a="http://schemas.openxmlformats.org/drawingml/2006/main" noGrp="1"/>
          </p:cNvSpPr>
          <p:nvPr/>
        </p:nvSpPr>
        <p:spPr>
          <a:xfrm xmlns:a="http://schemas.openxmlformats.org/drawingml/2006/main">
            <a:off x="914400" y="3714750"/>
            <a:ext cx="2286000" cy="228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00" b="1">
                <a:solidFill>
                  <a:srgbClr val="073763"/>
                </a:solidFill>
              </a:defRPr>
            </a:pPr>
            <a:r>
              <a:rPr sz="1500" b="1">
                <a:solidFill>
                  <a:srgbClr val="073763"/>
                </a:solidFill>
              </a:rPr>
              <a:t>Admin</a:t>
            </a:r>
          </a:p>
        </p:txBody>
      </p:sp>
      <p:sp>
        <p:nvSpPr>
          <p:cNvPr id="10" name="matrix.Admin.purpose">
            <a:extLst xmlns:a="http://schemas.openxmlformats.org/drawingml/2006/main">
              <a:ext uri="{FF2B5EF4-FFF2-40B4-BE49-F238E27FC236}">
                <a16:creationId xmlns:a16="http://schemas.microsoft.com/office/drawing/2014/main" id="{B6234CD7-E301-4041-A5A5-81AFD79A8EB4}"/>
              </a:ext>
            </a:extLst>
          </p:cNvPr>
          <p:cNvSpPr>
            <a:spLocks xmlns:a="http://schemas.openxmlformats.org/drawingml/2006/main" noGrp="1"/>
          </p:cNvSpPr>
          <p:nvPr/>
        </p:nvSpPr>
        <p:spPr>
          <a:xfrm xmlns:a="http://schemas.openxmlformats.org/drawingml/2006/main">
            <a:off x="3467100" y="3714750"/>
            <a:ext cx="5048250" cy="4953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18000"/>
              </a:lnSpc>
              <a:buNone/>
              <a:defRPr sz="1350">
                <a:solidFill>
                  <a:srgbClr val="073763"/>
                </a:solidFill>
              </a:defRPr>
            </a:pPr>
            <a:r>
              <a:rPr sz="1350">
                <a:solidFill>
                  <a:srgbClr val="073763"/>
                </a:solidFill>
              </a:rPr>
              <a:t>Own platform governance, imports/exports, audit, and controlled system maintenance.</a:t>
            </a:r>
          </a:p>
        </p:txBody>
      </p:sp>
      <p:sp>
        <p:nvSpPr>
          <p:cNvPr id="11" name="matrix.Admin.screens">
            <a:extLst xmlns:a="http://schemas.openxmlformats.org/drawingml/2006/main">
              <a:ext uri="{FF2B5EF4-FFF2-40B4-BE49-F238E27FC236}">
                <a16:creationId xmlns:a16="http://schemas.microsoft.com/office/drawing/2014/main" id="{E6DDBA49-AFCF-4F1D-994B-D828C1CD558F}"/>
              </a:ext>
            </a:extLst>
          </p:cNvPr>
          <p:cNvSpPr>
            <a:spLocks xmlns:a="http://schemas.openxmlformats.org/drawingml/2006/main" noGrp="1"/>
          </p:cNvSpPr>
          <p:nvPr/>
        </p:nvSpPr>
        <p:spPr>
          <a:xfrm xmlns:a="http://schemas.openxmlformats.org/drawingml/2006/main">
            <a:off x="8782050" y="3714750"/>
            <a:ext cx="4953000" cy="247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18000"/>
              </a:lnSpc>
              <a:buNone/>
              <a:defRPr sz="1350">
                <a:solidFill>
                  <a:srgbClr val="526375"/>
                </a:solidFill>
              </a:defRPr>
            </a:pPr>
            <a:r>
              <a:rPr sz="1350">
                <a:solidFill>
                  <a:srgbClr val="526375"/>
                </a:solidFill>
              </a:rPr>
              <a:t>Dashboard, Governance Settings, Import / Export, Audit Trail</a:t>
            </a:r>
          </a:p>
        </p:txBody>
      </p:sp>
      <p:sp>
        <p:nvSpPr>
          <p:cNvPr id="12" name="">
            <a:extLst xmlns:a="http://schemas.openxmlformats.org/drawingml/2006/main">
              <a:ext uri="{FF2B5EF4-FFF2-40B4-BE49-F238E27FC236}">
                <a16:creationId xmlns:a16="http://schemas.microsoft.com/office/drawing/2014/main" id="{C963BE57-77BF-42C9-862A-590183075284}"/>
              </a:ext>
            </a:extLst>
          </p:cNvPr>
          <p:cNvSpPr>
            <a:spLocks xmlns:a="http://schemas.openxmlformats.org/drawingml/2006/main" noGrp="1"/>
          </p:cNvSpPr>
          <p:nvPr/>
        </p:nvSpPr>
        <p:spPr>
          <a:xfrm xmlns:a="http://schemas.openxmlformats.org/drawingml/2006/main">
            <a:off x="914400" y="4400550"/>
            <a:ext cx="16459200" cy="19050"/>
          </a:xfrm>
          <a:prstGeom xmlns:a="http://schemas.openxmlformats.org/drawingml/2006/main" prst="rect">
            <a:avLst/>
          </a:prstGeom>
          <a:solidFill xmlns:a="http://schemas.openxmlformats.org/drawingml/2006/main">
            <a:srgbClr val="D7DEE7"/>
          </a:solidFill>
          <a:ln xmlns:a="http://schemas.openxmlformats.org/drawingml/2006/main" w="0">
            <a:solidFill>
              <a:srgbClr val="D7DEE7"/>
            </a:solidFill>
            <a:prstDash val="solid"/>
          </a:ln>
        </p:spPr>
      </p:sp>
      <p:sp>
        <p:nvSpPr>
          <p:cNvPr id="13" name="matrix.HR.role">
            <a:extLst xmlns:a="http://schemas.openxmlformats.org/drawingml/2006/main">
              <a:ext uri="{FF2B5EF4-FFF2-40B4-BE49-F238E27FC236}">
                <a16:creationId xmlns:a16="http://schemas.microsoft.com/office/drawing/2014/main" id="{4A232A75-BE80-4BCD-8779-94B42A7025BD}"/>
              </a:ext>
            </a:extLst>
          </p:cNvPr>
          <p:cNvSpPr>
            <a:spLocks xmlns:a="http://schemas.openxmlformats.org/drawingml/2006/main" noGrp="1"/>
          </p:cNvSpPr>
          <p:nvPr/>
        </p:nvSpPr>
        <p:spPr>
          <a:xfrm xmlns:a="http://schemas.openxmlformats.org/drawingml/2006/main">
            <a:off x="914400" y="4629150"/>
            <a:ext cx="2286000" cy="228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00" b="1">
                <a:solidFill>
                  <a:srgbClr val="073763"/>
                </a:solidFill>
              </a:defRPr>
            </a:pPr>
            <a:r>
              <a:rPr sz="1500" b="1">
                <a:solidFill>
                  <a:srgbClr val="073763"/>
                </a:solidFill>
              </a:rPr>
              <a:t>HR</a:t>
            </a:r>
          </a:p>
        </p:txBody>
      </p:sp>
      <p:sp>
        <p:nvSpPr>
          <p:cNvPr id="14" name="matrix.HR.purpose">
            <a:extLst xmlns:a="http://schemas.openxmlformats.org/drawingml/2006/main">
              <a:ext uri="{FF2B5EF4-FFF2-40B4-BE49-F238E27FC236}">
                <a16:creationId xmlns:a16="http://schemas.microsoft.com/office/drawing/2014/main" id="{B99F4FE5-56D9-46D4-9068-1ED53B1D4D19}"/>
              </a:ext>
            </a:extLst>
          </p:cNvPr>
          <p:cNvSpPr>
            <a:spLocks xmlns:a="http://schemas.openxmlformats.org/drawingml/2006/main" noGrp="1"/>
          </p:cNvSpPr>
          <p:nvPr/>
        </p:nvSpPr>
        <p:spPr>
          <a:xfrm xmlns:a="http://schemas.openxmlformats.org/drawingml/2006/main">
            <a:off x="3467100" y="4629150"/>
            <a:ext cx="5048250" cy="4953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18000"/>
              </a:lnSpc>
              <a:buNone/>
              <a:defRPr sz="1350">
                <a:solidFill>
                  <a:srgbClr val="073763"/>
                </a:solidFill>
              </a:defRPr>
            </a:pPr>
            <a:r>
              <a:rPr sz="1350">
                <a:solidFill>
                  <a:srgbClr val="073763"/>
                </a:solidFill>
              </a:rPr>
              <a:t>Maintain employee structure and watch staffing pressure across the business.</a:t>
            </a:r>
          </a:p>
        </p:txBody>
      </p:sp>
      <p:sp>
        <p:nvSpPr>
          <p:cNvPr id="15" name="matrix.HR.screens">
            <a:extLst xmlns:a="http://schemas.openxmlformats.org/drawingml/2006/main">
              <a:ext uri="{FF2B5EF4-FFF2-40B4-BE49-F238E27FC236}">
                <a16:creationId xmlns:a16="http://schemas.microsoft.com/office/drawing/2014/main" id="{D38718CD-9714-4FF5-A66D-84380BEA526B}"/>
              </a:ext>
            </a:extLst>
          </p:cNvPr>
          <p:cNvSpPr>
            <a:spLocks xmlns:a="http://schemas.openxmlformats.org/drawingml/2006/main" noGrp="1"/>
          </p:cNvSpPr>
          <p:nvPr/>
        </p:nvSpPr>
        <p:spPr>
          <a:xfrm xmlns:a="http://schemas.openxmlformats.org/drawingml/2006/main">
            <a:off x="8782050" y="4629150"/>
            <a:ext cx="4953000" cy="247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18000"/>
              </a:lnSpc>
              <a:buNone/>
              <a:defRPr sz="1350">
                <a:solidFill>
                  <a:srgbClr val="526375"/>
                </a:solidFill>
              </a:defRPr>
            </a:pPr>
            <a:r>
              <a:rPr sz="1350">
                <a:solidFill>
                  <a:srgbClr val="526375"/>
                </a:solidFill>
              </a:rPr>
              <a:t>Employee Master, Allocation Control, Utilization pages</a:t>
            </a:r>
          </a:p>
        </p:txBody>
      </p:sp>
      <p:sp>
        <p:nvSpPr>
          <p:cNvPr id="16" name="">
            <a:extLst xmlns:a="http://schemas.openxmlformats.org/drawingml/2006/main">
              <a:ext uri="{FF2B5EF4-FFF2-40B4-BE49-F238E27FC236}">
                <a16:creationId xmlns:a16="http://schemas.microsoft.com/office/drawing/2014/main" id="{0399E98B-FCC2-4722-BD29-BBA1EFA0FDD2}"/>
              </a:ext>
            </a:extLst>
          </p:cNvPr>
          <p:cNvSpPr>
            <a:spLocks xmlns:a="http://schemas.openxmlformats.org/drawingml/2006/main" noGrp="1"/>
          </p:cNvSpPr>
          <p:nvPr/>
        </p:nvSpPr>
        <p:spPr>
          <a:xfrm xmlns:a="http://schemas.openxmlformats.org/drawingml/2006/main">
            <a:off x="914400" y="5334000"/>
            <a:ext cx="16459200" cy="19050"/>
          </a:xfrm>
          <a:prstGeom xmlns:a="http://schemas.openxmlformats.org/drawingml/2006/main" prst="rect">
            <a:avLst/>
          </a:prstGeom>
          <a:solidFill xmlns:a="http://schemas.openxmlformats.org/drawingml/2006/main">
            <a:srgbClr val="D7DEE7"/>
          </a:solidFill>
          <a:ln xmlns:a="http://schemas.openxmlformats.org/drawingml/2006/main" w="0">
            <a:solidFill>
              <a:srgbClr val="D7DEE7"/>
            </a:solidFill>
            <a:prstDash val="solid"/>
          </a:ln>
        </p:spPr>
      </p:sp>
      <p:sp>
        <p:nvSpPr>
          <p:cNvPr id="17" name="matrix.Country Director.role">
            <a:extLst xmlns:a="http://schemas.openxmlformats.org/drawingml/2006/main">
              <a:ext uri="{FF2B5EF4-FFF2-40B4-BE49-F238E27FC236}">
                <a16:creationId xmlns:a16="http://schemas.microsoft.com/office/drawing/2014/main" id="{D15AB889-4535-440E-A900-849BE1D3ADDF}"/>
              </a:ext>
            </a:extLst>
          </p:cNvPr>
          <p:cNvSpPr>
            <a:spLocks xmlns:a="http://schemas.openxmlformats.org/drawingml/2006/main" noGrp="1"/>
          </p:cNvSpPr>
          <p:nvPr/>
        </p:nvSpPr>
        <p:spPr>
          <a:xfrm xmlns:a="http://schemas.openxmlformats.org/drawingml/2006/main">
            <a:off x="914400" y="5562600"/>
            <a:ext cx="2286000" cy="228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00" b="1">
                <a:solidFill>
                  <a:srgbClr val="073763"/>
                </a:solidFill>
              </a:defRPr>
            </a:pPr>
            <a:r>
              <a:rPr sz="1500" b="1">
                <a:solidFill>
                  <a:srgbClr val="073763"/>
                </a:solidFill>
              </a:rPr>
              <a:t>Country Director</a:t>
            </a:r>
          </a:p>
        </p:txBody>
      </p:sp>
      <p:sp>
        <p:nvSpPr>
          <p:cNvPr id="18" name="matrix.Country Director.purpose">
            <a:extLst xmlns:a="http://schemas.openxmlformats.org/drawingml/2006/main">
              <a:ext uri="{FF2B5EF4-FFF2-40B4-BE49-F238E27FC236}">
                <a16:creationId xmlns:a16="http://schemas.microsoft.com/office/drawing/2014/main" id="{172A239F-B369-432A-A8AF-ADE74A50F64B}"/>
              </a:ext>
            </a:extLst>
          </p:cNvPr>
          <p:cNvSpPr>
            <a:spLocks xmlns:a="http://schemas.openxmlformats.org/drawingml/2006/main" noGrp="1"/>
          </p:cNvSpPr>
          <p:nvPr/>
        </p:nvSpPr>
        <p:spPr>
          <a:xfrm xmlns:a="http://schemas.openxmlformats.org/drawingml/2006/main">
            <a:off x="3467100" y="5562600"/>
            <a:ext cx="5048250" cy="4953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18000"/>
              </a:lnSpc>
              <a:buNone/>
              <a:defRPr sz="1350">
                <a:solidFill>
                  <a:srgbClr val="073763"/>
                </a:solidFill>
              </a:defRPr>
            </a:pPr>
            <a:r>
              <a:rPr sz="1350">
                <a:solidFill>
                  <a:srgbClr val="073763"/>
                </a:solidFill>
              </a:rPr>
              <a:t>Review mapped employees, portfolio risk, approvals, and utilization health.</a:t>
            </a:r>
          </a:p>
        </p:txBody>
      </p:sp>
      <p:sp>
        <p:nvSpPr>
          <p:cNvPr id="19" name="matrix.Country Director.screens">
            <a:extLst xmlns:a="http://schemas.openxmlformats.org/drawingml/2006/main">
              <a:ext uri="{FF2B5EF4-FFF2-40B4-BE49-F238E27FC236}">
                <a16:creationId xmlns:a16="http://schemas.microsoft.com/office/drawing/2014/main" id="{BC46F060-BEF3-4B04-B40E-D48714A2BDA9}"/>
              </a:ext>
            </a:extLst>
          </p:cNvPr>
          <p:cNvSpPr>
            <a:spLocks xmlns:a="http://schemas.openxmlformats.org/drawingml/2006/main" noGrp="1"/>
          </p:cNvSpPr>
          <p:nvPr/>
        </p:nvSpPr>
        <p:spPr>
          <a:xfrm xmlns:a="http://schemas.openxmlformats.org/drawingml/2006/main">
            <a:off x="8782050" y="5562600"/>
            <a:ext cx="4953000" cy="247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18000"/>
              </a:lnSpc>
              <a:buNone/>
              <a:defRPr sz="1350">
                <a:solidFill>
                  <a:srgbClr val="526375"/>
                </a:solidFill>
              </a:defRPr>
            </a:pPr>
            <a:r>
              <a:rPr sz="1350">
                <a:solidFill>
                  <a:srgbClr val="526375"/>
                </a:solidFill>
              </a:rPr>
              <a:t>Dashboard, Employee Master, Project Master, Timesheet Governance</a:t>
            </a:r>
          </a:p>
        </p:txBody>
      </p:sp>
      <p:sp>
        <p:nvSpPr>
          <p:cNvPr id="20" name="">
            <a:extLst xmlns:a="http://schemas.openxmlformats.org/drawingml/2006/main">
              <a:ext uri="{FF2B5EF4-FFF2-40B4-BE49-F238E27FC236}">
                <a16:creationId xmlns:a16="http://schemas.microsoft.com/office/drawing/2014/main" id="{A3E75317-43D4-473F-995B-7B6D72AB6AC6}"/>
              </a:ext>
            </a:extLst>
          </p:cNvPr>
          <p:cNvSpPr>
            <a:spLocks xmlns:a="http://schemas.openxmlformats.org/drawingml/2006/main" noGrp="1"/>
          </p:cNvSpPr>
          <p:nvPr/>
        </p:nvSpPr>
        <p:spPr>
          <a:xfrm xmlns:a="http://schemas.openxmlformats.org/drawingml/2006/main">
            <a:off x="914400" y="6248400"/>
            <a:ext cx="16459200" cy="19050"/>
          </a:xfrm>
          <a:prstGeom xmlns:a="http://schemas.openxmlformats.org/drawingml/2006/main" prst="rect">
            <a:avLst/>
          </a:prstGeom>
          <a:solidFill xmlns:a="http://schemas.openxmlformats.org/drawingml/2006/main">
            <a:srgbClr val="D7DEE7"/>
          </a:solidFill>
          <a:ln xmlns:a="http://schemas.openxmlformats.org/drawingml/2006/main" w="0">
            <a:solidFill>
              <a:srgbClr val="D7DEE7"/>
            </a:solidFill>
            <a:prstDash val="solid"/>
          </a:ln>
        </p:spPr>
      </p:sp>
      <p:sp>
        <p:nvSpPr>
          <p:cNvPr id="21" name="matrix.Project Manager.role">
            <a:extLst xmlns:a="http://schemas.openxmlformats.org/drawingml/2006/main">
              <a:ext uri="{FF2B5EF4-FFF2-40B4-BE49-F238E27FC236}">
                <a16:creationId xmlns:a16="http://schemas.microsoft.com/office/drawing/2014/main" id="{4254FE09-DF36-4387-BFBC-13EF0E61CFFF}"/>
              </a:ext>
            </a:extLst>
          </p:cNvPr>
          <p:cNvSpPr>
            <a:spLocks xmlns:a="http://schemas.openxmlformats.org/drawingml/2006/main" noGrp="1"/>
          </p:cNvSpPr>
          <p:nvPr/>
        </p:nvSpPr>
        <p:spPr>
          <a:xfrm xmlns:a="http://schemas.openxmlformats.org/drawingml/2006/main">
            <a:off x="914400" y="6477000"/>
            <a:ext cx="2286000" cy="228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00" b="1">
                <a:solidFill>
                  <a:srgbClr val="073763"/>
                </a:solidFill>
              </a:defRPr>
            </a:pPr>
            <a:r>
              <a:rPr sz="1500" b="1">
                <a:solidFill>
                  <a:srgbClr val="073763"/>
                </a:solidFill>
              </a:rPr>
              <a:t>Project Manager</a:t>
            </a:r>
          </a:p>
        </p:txBody>
      </p:sp>
      <p:sp>
        <p:nvSpPr>
          <p:cNvPr id="22" name="matrix.Project Manager.purpose">
            <a:extLst xmlns:a="http://schemas.openxmlformats.org/drawingml/2006/main">
              <a:ext uri="{FF2B5EF4-FFF2-40B4-BE49-F238E27FC236}">
                <a16:creationId xmlns:a16="http://schemas.microsoft.com/office/drawing/2014/main" id="{B21849E8-3168-4229-AB0C-429FBA7C8CD9}"/>
              </a:ext>
            </a:extLst>
          </p:cNvPr>
          <p:cNvSpPr>
            <a:spLocks xmlns:a="http://schemas.openxmlformats.org/drawingml/2006/main" noGrp="1"/>
          </p:cNvSpPr>
          <p:nvPr/>
        </p:nvSpPr>
        <p:spPr>
          <a:xfrm xmlns:a="http://schemas.openxmlformats.org/drawingml/2006/main">
            <a:off x="3467100" y="6477000"/>
            <a:ext cx="5048250" cy="247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18000"/>
              </a:lnSpc>
              <a:buNone/>
              <a:defRPr sz="1350">
                <a:solidFill>
                  <a:srgbClr val="073763"/>
                </a:solidFill>
              </a:defRPr>
            </a:pPr>
            <a:r>
              <a:rPr sz="1350">
                <a:solidFill>
                  <a:srgbClr val="073763"/>
                </a:solidFill>
              </a:rPr>
              <a:t>Own project staffing and planned project capacity contribution.</a:t>
            </a:r>
          </a:p>
        </p:txBody>
      </p:sp>
      <p:sp>
        <p:nvSpPr>
          <p:cNvPr id="23" name="matrix.Project Manager.screens">
            <a:extLst xmlns:a="http://schemas.openxmlformats.org/drawingml/2006/main">
              <a:ext uri="{FF2B5EF4-FFF2-40B4-BE49-F238E27FC236}">
                <a16:creationId xmlns:a16="http://schemas.microsoft.com/office/drawing/2014/main" id="{2540E2EE-3958-4DA6-8396-906BF3275E00}"/>
              </a:ext>
            </a:extLst>
          </p:cNvPr>
          <p:cNvSpPr>
            <a:spLocks xmlns:a="http://schemas.openxmlformats.org/drawingml/2006/main" noGrp="1"/>
          </p:cNvSpPr>
          <p:nvPr/>
        </p:nvSpPr>
        <p:spPr>
          <a:xfrm xmlns:a="http://schemas.openxmlformats.org/drawingml/2006/main">
            <a:off x="8782050" y="6477000"/>
            <a:ext cx="4953000" cy="247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18000"/>
              </a:lnSpc>
              <a:buNone/>
              <a:defRPr sz="1350">
                <a:solidFill>
                  <a:srgbClr val="526375"/>
                </a:solidFill>
              </a:defRPr>
            </a:pPr>
            <a:r>
              <a:rPr sz="1350">
                <a:solidFill>
                  <a:srgbClr val="526375"/>
                </a:solidFill>
              </a:rPr>
              <a:t>Project Master, Project Detail, Allocation Control</a:t>
            </a:r>
          </a:p>
        </p:txBody>
      </p:sp>
      <p:sp>
        <p:nvSpPr>
          <p:cNvPr id="24" name="">
            <a:extLst xmlns:a="http://schemas.openxmlformats.org/drawingml/2006/main">
              <a:ext uri="{FF2B5EF4-FFF2-40B4-BE49-F238E27FC236}">
                <a16:creationId xmlns:a16="http://schemas.microsoft.com/office/drawing/2014/main" id="{184603D3-B0BE-43C9-9268-904257AD0576}"/>
              </a:ext>
            </a:extLst>
          </p:cNvPr>
          <p:cNvSpPr>
            <a:spLocks xmlns:a="http://schemas.openxmlformats.org/drawingml/2006/main" noGrp="1"/>
          </p:cNvSpPr>
          <p:nvPr/>
        </p:nvSpPr>
        <p:spPr>
          <a:xfrm xmlns:a="http://schemas.openxmlformats.org/drawingml/2006/main">
            <a:off x="914400" y="6934200"/>
            <a:ext cx="16459200" cy="19050"/>
          </a:xfrm>
          <a:prstGeom xmlns:a="http://schemas.openxmlformats.org/drawingml/2006/main" prst="rect">
            <a:avLst/>
          </a:prstGeom>
          <a:solidFill xmlns:a="http://schemas.openxmlformats.org/drawingml/2006/main">
            <a:srgbClr val="D7DEE7"/>
          </a:solidFill>
          <a:ln xmlns:a="http://schemas.openxmlformats.org/drawingml/2006/main" w="0">
            <a:solidFill>
              <a:srgbClr val="D7DEE7"/>
            </a:solidFill>
            <a:prstDash val="solid"/>
          </a:ln>
        </p:spPr>
      </p:sp>
      <p:sp>
        <p:nvSpPr>
          <p:cNvPr id="25" name="matrix.Employee.role">
            <a:extLst xmlns:a="http://schemas.openxmlformats.org/drawingml/2006/main">
              <a:ext uri="{FF2B5EF4-FFF2-40B4-BE49-F238E27FC236}">
                <a16:creationId xmlns:a16="http://schemas.microsoft.com/office/drawing/2014/main" id="{E1F253B7-98A6-4C74-AD68-165BB8D40B7D}"/>
              </a:ext>
            </a:extLst>
          </p:cNvPr>
          <p:cNvSpPr>
            <a:spLocks xmlns:a="http://schemas.openxmlformats.org/drawingml/2006/main" noGrp="1"/>
          </p:cNvSpPr>
          <p:nvPr/>
        </p:nvSpPr>
        <p:spPr>
          <a:xfrm xmlns:a="http://schemas.openxmlformats.org/drawingml/2006/main">
            <a:off x="914400" y="7162800"/>
            <a:ext cx="2286000" cy="228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500" b="1">
                <a:solidFill>
                  <a:srgbClr val="073763"/>
                </a:solidFill>
              </a:defRPr>
            </a:pPr>
            <a:r>
              <a:rPr sz="1500" b="1">
                <a:solidFill>
                  <a:srgbClr val="073763"/>
                </a:solidFill>
              </a:rPr>
              <a:t>Employee</a:t>
            </a:r>
          </a:p>
        </p:txBody>
      </p:sp>
      <p:sp>
        <p:nvSpPr>
          <p:cNvPr id="26" name="matrix.Employee.purpose">
            <a:extLst xmlns:a="http://schemas.openxmlformats.org/drawingml/2006/main">
              <a:ext uri="{FF2B5EF4-FFF2-40B4-BE49-F238E27FC236}">
                <a16:creationId xmlns:a16="http://schemas.microsoft.com/office/drawing/2014/main" id="{97A68964-31F1-454E-8F37-EE9EF4C11E87}"/>
              </a:ext>
            </a:extLst>
          </p:cNvPr>
          <p:cNvSpPr>
            <a:spLocks xmlns:a="http://schemas.openxmlformats.org/drawingml/2006/main" noGrp="1"/>
          </p:cNvSpPr>
          <p:nvPr/>
        </p:nvSpPr>
        <p:spPr>
          <a:xfrm xmlns:a="http://schemas.openxmlformats.org/drawingml/2006/main">
            <a:off x="3467100" y="7162800"/>
            <a:ext cx="5048250" cy="4953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18000"/>
              </a:lnSpc>
              <a:buNone/>
              <a:defRPr sz="1350">
                <a:solidFill>
                  <a:srgbClr val="073763"/>
                </a:solidFill>
              </a:defRPr>
            </a:pPr>
            <a:r>
              <a:rPr sz="1350">
                <a:solidFill>
                  <a:srgbClr val="073763"/>
                </a:solidFill>
              </a:rPr>
              <a:t>Submit weekly effort against valid work assignments and view own workload.</a:t>
            </a:r>
          </a:p>
        </p:txBody>
      </p:sp>
      <p:sp>
        <p:nvSpPr>
          <p:cNvPr id="27" name="matrix.Employee.screens">
            <a:extLst xmlns:a="http://schemas.openxmlformats.org/drawingml/2006/main">
              <a:ext uri="{FF2B5EF4-FFF2-40B4-BE49-F238E27FC236}">
                <a16:creationId xmlns:a16="http://schemas.microsoft.com/office/drawing/2014/main" id="{25F85C2B-0586-463D-9E2B-66689B019FAC}"/>
              </a:ext>
            </a:extLst>
          </p:cNvPr>
          <p:cNvSpPr>
            <a:spLocks xmlns:a="http://schemas.openxmlformats.org/drawingml/2006/main" noGrp="1"/>
          </p:cNvSpPr>
          <p:nvPr/>
        </p:nvSpPr>
        <p:spPr>
          <a:xfrm xmlns:a="http://schemas.openxmlformats.org/drawingml/2006/main">
            <a:off x="8782050" y="7162800"/>
            <a:ext cx="4953000" cy="247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18000"/>
              </a:lnSpc>
              <a:buNone/>
              <a:defRPr sz="1350">
                <a:solidFill>
                  <a:srgbClr val="526375"/>
                </a:solidFill>
              </a:defRPr>
            </a:pPr>
            <a:r>
              <a:rPr sz="1350">
                <a:solidFill>
                  <a:srgbClr val="526375"/>
                </a:solidFill>
              </a:rPr>
              <a:t>My Timesheet, own Employee Detail</a:t>
            </a:r>
          </a:p>
        </p:txBody>
      </p:sp>
      <p:sp>
        <p:nvSpPr>
          <p:cNvPr id="28" name="">
            <a:extLst xmlns:a="http://schemas.openxmlformats.org/drawingml/2006/main">
              <a:ext uri="{FF2B5EF4-FFF2-40B4-BE49-F238E27FC236}">
                <a16:creationId xmlns:a16="http://schemas.microsoft.com/office/drawing/2014/main" id="{A3315054-B7A8-489B-895A-1CFC54C554E8}"/>
              </a:ext>
            </a:extLst>
          </p:cNvPr>
          <p:cNvSpPr>
            <a:spLocks xmlns:a="http://schemas.openxmlformats.org/drawingml/2006/main" noGrp="1"/>
          </p:cNvSpPr>
          <p:nvPr/>
        </p:nvSpPr>
        <p:spPr>
          <a:xfrm xmlns:a="http://schemas.openxmlformats.org/drawingml/2006/main">
            <a:off x="914400" y="7867650"/>
            <a:ext cx="16459200" cy="19050"/>
          </a:xfrm>
          <a:prstGeom xmlns:a="http://schemas.openxmlformats.org/drawingml/2006/main" prst="rect">
            <a:avLst/>
          </a:prstGeom>
          <a:solidFill xmlns:a="http://schemas.openxmlformats.org/drawingml/2006/main">
            <a:srgbClr val="D7DEE7"/>
          </a:solidFill>
          <a:ln xmlns:a="http://schemas.openxmlformats.org/drawingml/2006/main" w="0">
            <a:solidFill>
              <a:srgbClr val="D7DEE7"/>
            </a:solidFill>
            <a:prstDash val="solid"/>
          </a:ln>
        </p:spPr>
      </p:sp>
      <p:sp>
        <p:nvSpPr>
          <p:cNvPr id="29" name="slide-4.implication">
            <a:extLst xmlns:a="http://schemas.openxmlformats.org/drawingml/2006/main">
              <a:ext uri="{FF2B5EF4-FFF2-40B4-BE49-F238E27FC236}">
                <a16:creationId xmlns:a16="http://schemas.microsoft.com/office/drawing/2014/main" id="{A2EDA399-0FF2-41A8-A13D-30F30D063E54}"/>
              </a:ext>
            </a:extLst>
          </p:cNvPr>
          <p:cNvSpPr>
            <a:spLocks xmlns:a="http://schemas.openxmlformats.org/drawingml/2006/main" noGrp="1"/>
          </p:cNvSpPr>
          <p:nvPr/>
        </p:nvSpPr>
        <p:spPr>
          <a:xfrm xmlns:a="http://schemas.openxmlformats.org/drawingml/2006/main">
            <a:off x="914400" y="8096250"/>
            <a:ext cx="15982950" cy="4953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20000"/>
              </a:lnSpc>
              <a:buNone/>
              <a:defRPr sz="1350">
                <a:solidFill>
                  <a:srgbClr val="526375"/>
                </a:solidFill>
              </a:defRPr>
            </a:pPr>
            <a:r>
              <a:rPr sz="1350">
                <a:solidFill>
                  <a:srgbClr val="526375"/>
                </a:solidFill>
              </a:rPr>
              <a:t>Leadership implication: the dashboard should trigger action, but edits should happen in the owning module: Employee Master for employee changes, Project Master for project changes, Allocation Control or scoped detail pages for planned utilization changes.</a:t>
            </a:r>
          </a:p>
        </p:txBody>
      </p:sp>
    </p:spTree>
    <p:extLst>
      <p:ext uri="{BB962C8B-B14F-4D97-AF65-F5344CB8AC3E}">
        <p14:creationId xmlns:p14="http://schemas.microsoft.com/office/powerpoint/2010/main" val="1487322306"/>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 name="slide-5.title.kicker">
            <a:extLst xmlns:a="http://schemas.openxmlformats.org/drawingml/2006/main">
              <a:ext uri="{FF2B5EF4-FFF2-40B4-BE49-F238E27FC236}">
                <a16:creationId xmlns:a16="http://schemas.microsoft.com/office/drawing/2014/main" id="{09C1D6DE-7F49-42E2-98AA-BECEDABAD26E}"/>
              </a:ext>
            </a:extLst>
          </p:cNvPr>
          <p:cNvSpPr>
            <a:spLocks xmlns:a="http://schemas.openxmlformats.org/drawingml/2006/main" noGrp="1"/>
          </p:cNvSpPr>
          <p:nvPr/>
        </p:nvSpPr>
        <p:spPr>
          <a:xfrm xmlns:a="http://schemas.openxmlformats.org/drawingml/2006/main">
            <a:off x="914400" y="762000"/>
            <a:ext cx="1645920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b="1">
                <a:solidFill>
                  <a:srgbClr val="EF7D00"/>
                </a:solidFill>
              </a:defRPr>
            </a:pPr>
            <a:r>
              <a:rPr sz="1350" b="1">
                <a:solidFill>
                  <a:srgbClr val="EF7D00"/>
                </a:solidFill>
              </a:rPr>
              <a:t>LIVE LEADERSHIP DEMO PATH</a:t>
            </a:r>
          </a:p>
        </p:txBody>
      </p:sp>
      <p:sp>
        <p:nvSpPr>
          <p:cNvPr id="2" name="slide-5.title.title">
            <a:extLst xmlns:a="http://schemas.openxmlformats.org/drawingml/2006/main">
              <a:ext uri="{FF2B5EF4-FFF2-40B4-BE49-F238E27FC236}">
                <a16:creationId xmlns:a16="http://schemas.microsoft.com/office/drawing/2014/main" id="{7177489E-D849-46A8-9D9C-38FD86D70C0F}"/>
              </a:ext>
            </a:extLst>
          </p:cNvPr>
          <p:cNvSpPr>
            <a:spLocks xmlns:a="http://schemas.openxmlformats.org/drawingml/2006/main" noGrp="1"/>
          </p:cNvSpPr>
          <p:nvPr/>
        </p:nvSpPr>
        <p:spPr>
          <a:xfrm xmlns:a="http://schemas.openxmlformats.org/drawingml/2006/main">
            <a:off x="914400" y="1123950"/>
            <a:ext cx="13525500" cy="12573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05000"/>
              </a:lnSpc>
              <a:buNone/>
              <a:defRPr sz="3900" b="1">
                <a:solidFill>
                  <a:srgbClr val="073763"/>
                </a:solidFill>
              </a:defRPr>
            </a:pPr>
            <a:r>
              <a:rPr sz="3900" b="1">
                <a:solidFill>
                  <a:srgbClr val="073763"/>
                </a:solidFill>
              </a:rPr>
              <a:t>Use a six-stop walkthrough so the audience sees signal, drilldown, transaction logic, and governance in one sequence.</a:t>
            </a:r>
          </a:p>
        </p:txBody>
      </p:sp>
      <p:sp>
        <p:nvSpPr>
          <p:cNvPr id="3" name="slide-5.title.rule">
            <a:extLst xmlns:a="http://schemas.openxmlformats.org/drawingml/2006/main">
              <a:ext uri="{FF2B5EF4-FFF2-40B4-BE49-F238E27FC236}">
                <a16:creationId xmlns:a16="http://schemas.microsoft.com/office/drawing/2014/main" id="{9E250E72-BD8E-4837-9C66-D978A2174265}"/>
              </a:ext>
            </a:extLst>
          </p:cNvPr>
          <p:cNvSpPr>
            <a:spLocks xmlns:a="http://schemas.openxmlformats.org/drawingml/2006/main" noGrp="1"/>
          </p:cNvSpPr>
          <p:nvPr/>
        </p:nvSpPr>
        <p:spPr>
          <a:xfrm xmlns:a="http://schemas.openxmlformats.org/drawingml/2006/main">
            <a:off x="914400" y="2514600"/>
            <a:ext cx="2095500" cy="57150"/>
          </a:xfrm>
          <a:prstGeom xmlns:a="http://schemas.openxmlformats.org/drawingml/2006/main" prst="rect">
            <a:avLst/>
          </a:prstGeom>
          <a:solidFill xmlns:a="http://schemas.openxmlformats.org/drawingml/2006/main">
            <a:srgbClr val="EF7D00"/>
          </a:solidFill>
          <a:ln xmlns:a="http://schemas.openxmlformats.org/drawingml/2006/main" w="0">
            <a:solidFill>
              <a:srgbClr val="EF7D00"/>
            </a:solidFill>
            <a:prstDash val="solid"/>
          </a:ln>
        </p:spPr>
      </p:sp>
      <p:sp>
        <p:nvSpPr>
          <p:cNvPr id="4" name="slide-5.title.subtitle">
            <a:extLst xmlns:a="http://schemas.openxmlformats.org/drawingml/2006/main">
              <a:ext uri="{FF2B5EF4-FFF2-40B4-BE49-F238E27FC236}">
                <a16:creationId xmlns:a16="http://schemas.microsoft.com/office/drawing/2014/main" id="{942D216D-B376-4DB5-8BE3-0FCE3BB8CB46}"/>
              </a:ext>
            </a:extLst>
          </p:cNvPr>
          <p:cNvSpPr>
            <a:spLocks xmlns:a="http://schemas.openxmlformats.org/drawingml/2006/main" noGrp="1"/>
          </p:cNvSpPr>
          <p:nvPr/>
        </p:nvSpPr>
        <p:spPr>
          <a:xfrm xmlns:a="http://schemas.openxmlformats.org/drawingml/2006/main">
            <a:off x="914400" y="2724150"/>
            <a:ext cx="12001500" cy="6858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22000"/>
              </a:lnSpc>
              <a:buNone/>
              <a:defRPr sz="1800">
                <a:solidFill>
                  <a:srgbClr val="526375"/>
                </a:solidFill>
              </a:defRPr>
            </a:pPr>
            <a:r>
              <a:rPr sz="1800">
                <a:solidFill>
                  <a:srgbClr val="526375"/>
                </a:solidFill>
              </a:rPr>
              <a:t>The goal is to show that utilization is not a static metric. It is produced by real master data, allocations, timesheets, and approvals.</a:t>
            </a:r>
          </a:p>
        </p:txBody>
      </p:sp>
      <p:sp>
        <p:nvSpPr>
          <p:cNvPr id="5" name="step.1.number">
            <a:extLst xmlns:a="http://schemas.openxmlformats.org/drawingml/2006/main">
              <a:ext uri="{FF2B5EF4-FFF2-40B4-BE49-F238E27FC236}">
                <a16:creationId xmlns:a16="http://schemas.microsoft.com/office/drawing/2014/main" id="{57E3511C-237E-4788-9038-A4DA9CD3F94F}"/>
              </a:ext>
            </a:extLst>
          </p:cNvPr>
          <p:cNvSpPr>
            <a:spLocks xmlns:a="http://schemas.openxmlformats.org/drawingml/2006/main" noGrp="1"/>
          </p:cNvSpPr>
          <p:nvPr/>
        </p:nvSpPr>
        <p:spPr>
          <a:xfrm xmlns:a="http://schemas.openxmlformats.org/drawingml/2006/main">
            <a:off x="914400" y="3733800"/>
            <a:ext cx="609600" cy="3048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b="1">
                <a:solidFill>
                  <a:srgbClr val="EF7D00"/>
                </a:solidFill>
              </a:defRPr>
            </a:pPr>
            <a:r>
              <a:rPr sz="1950" b="1">
                <a:solidFill>
                  <a:srgbClr val="EF7D00"/>
                </a:solidFill>
              </a:rPr>
              <a:t>01</a:t>
            </a:r>
          </a:p>
        </p:txBody>
      </p:sp>
      <p:sp>
        <p:nvSpPr>
          <p:cNvPr id="6" name="step.1.title">
            <a:extLst xmlns:a="http://schemas.openxmlformats.org/drawingml/2006/main">
              <a:ext uri="{FF2B5EF4-FFF2-40B4-BE49-F238E27FC236}">
                <a16:creationId xmlns:a16="http://schemas.microsoft.com/office/drawing/2014/main" id="{2258F1BD-D979-4332-933F-732376F0C422}"/>
              </a:ext>
            </a:extLst>
          </p:cNvPr>
          <p:cNvSpPr>
            <a:spLocks xmlns:a="http://schemas.openxmlformats.org/drawingml/2006/main" noGrp="1"/>
          </p:cNvSpPr>
          <p:nvPr/>
        </p:nvSpPr>
        <p:spPr>
          <a:xfrm xmlns:a="http://schemas.openxmlformats.org/drawingml/2006/main">
            <a:off x="1695450" y="3733800"/>
            <a:ext cx="7181850" cy="3048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b="1">
                <a:solidFill>
                  <a:srgbClr val="073763"/>
                </a:solidFill>
              </a:defRPr>
            </a:pPr>
            <a:r>
              <a:rPr sz="1950" b="1">
                <a:solidFill>
                  <a:srgbClr val="073763"/>
                </a:solidFill>
              </a:rPr>
              <a:t>Open Overview Dashboard</a:t>
            </a:r>
          </a:p>
        </p:txBody>
      </p:sp>
      <p:sp>
        <p:nvSpPr>
          <p:cNvPr id="7" name="step.1.body">
            <a:extLst xmlns:a="http://schemas.openxmlformats.org/drawingml/2006/main">
              <a:ext uri="{FF2B5EF4-FFF2-40B4-BE49-F238E27FC236}">
                <a16:creationId xmlns:a16="http://schemas.microsoft.com/office/drawing/2014/main" id="{958A1E1C-202A-4BE8-98A8-EB88C61D42F8}"/>
              </a:ext>
            </a:extLst>
          </p:cNvPr>
          <p:cNvSpPr>
            <a:spLocks xmlns:a="http://schemas.openxmlformats.org/drawingml/2006/main" noGrp="1"/>
          </p:cNvSpPr>
          <p:nvPr/>
        </p:nvSpPr>
        <p:spPr>
          <a:xfrm xmlns:a="http://schemas.openxmlformats.org/drawingml/2006/main">
            <a:off x="1695450" y="4095750"/>
            <a:ext cx="718185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20000"/>
              </a:lnSpc>
              <a:buNone/>
              <a:defRPr sz="1500">
                <a:solidFill>
                  <a:srgbClr val="526375"/>
                </a:solidFill>
              </a:defRPr>
            </a:pPr>
            <a:r>
              <a:rPr sz="1500">
                <a:solidFill>
                  <a:srgbClr val="526375"/>
                </a:solidFill>
              </a:rPr>
              <a:t>Start with active headcount, utilization, pending logs, and Country Director portfolio signals.</a:t>
            </a:r>
          </a:p>
        </p:txBody>
      </p:sp>
      <p:sp>
        <p:nvSpPr>
          <p:cNvPr id="8" name="">
            <a:extLst xmlns:a="http://schemas.openxmlformats.org/drawingml/2006/main">
              <a:ext uri="{FF2B5EF4-FFF2-40B4-BE49-F238E27FC236}">
                <a16:creationId xmlns:a16="http://schemas.microsoft.com/office/drawing/2014/main" id="{D4421684-5BDA-498F-8CEF-7F27CC7A6A9D}"/>
              </a:ext>
            </a:extLst>
          </p:cNvPr>
          <p:cNvSpPr>
            <a:spLocks xmlns:a="http://schemas.openxmlformats.org/drawingml/2006/main" noGrp="1"/>
          </p:cNvSpPr>
          <p:nvPr/>
        </p:nvSpPr>
        <p:spPr>
          <a:xfrm xmlns:a="http://schemas.openxmlformats.org/drawingml/2006/main">
            <a:off x="914400" y="4610100"/>
            <a:ext cx="7962900" cy="19050"/>
          </a:xfrm>
          <a:prstGeom xmlns:a="http://schemas.openxmlformats.org/drawingml/2006/main" prst="rect">
            <a:avLst/>
          </a:prstGeom>
          <a:solidFill xmlns:a="http://schemas.openxmlformats.org/drawingml/2006/main">
            <a:srgbClr val="D7DEE7"/>
          </a:solidFill>
          <a:ln xmlns:a="http://schemas.openxmlformats.org/drawingml/2006/main" w="0">
            <a:solidFill>
              <a:srgbClr val="D7DEE7"/>
            </a:solidFill>
            <a:prstDash val="solid"/>
          </a:ln>
        </p:spPr>
      </p:sp>
      <p:sp>
        <p:nvSpPr>
          <p:cNvPr id="9" name="step.2.number">
            <a:extLst xmlns:a="http://schemas.openxmlformats.org/drawingml/2006/main">
              <a:ext uri="{FF2B5EF4-FFF2-40B4-BE49-F238E27FC236}">
                <a16:creationId xmlns:a16="http://schemas.microsoft.com/office/drawing/2014/main" id="{A24FA345-5971-492C-8C30-318B35114F59}"/>
              </a:ext>
            </a:extLst>
          </p:cNvPr>
          <p:cNvSpPr>
            <a:spLocks xmlns:a="http://schemas.openxmlformats.org/drawingml/2006/main" noGrp="1"/>
          </p:cNvSpPr>
          <p:nvPr/>
        </p:nvSpPr>
        <p:spPr>
          <a:xfrm xmlns:a="http://schemas.openxmlformats.org/drawingml/2006/main">
            <a:off x="914400" y="4876800"/>
            <a:ext cx="609600" cy="3048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b="1">
                <a:solidFill>
                  <a:srgbClr val="EF7D00"/>
                </a:solidFill>
              </a:defRPr>
            </a:pPr>
            <a:r>
              <a:rPr sz="1950" b="1">
                <a:solidFill>
                  <a:srgbClr val="EF7D00"/>
                </a:solidFill>
              </a:rPr>
              <a:t>02</a:t>
            </a:r>
          </a:p>
        </p:txBody>
      </p:sp>
      <p:sp>
        <p:nvSpPr>
          <p:cNvPr id="10" name="step.2.title">
            <a:extLst xmlns:a="http://schemas.openxmlformats.org/drawingml/2006/main">
              <a:ext uri="{FF2B5EF4-FFF2-40B4-BE49-F238E27FC236}">
                <a16:creationId xmlns:a16="http://schemas.microsoft.com/office/drawing/2014/main" id="{E018D7F9-5BF0-43DA-9FF6-77BB46FDEB99}"/>
              </a:ext>
            </a:extLst>
          </p:cNvPr>
          <p:cNvSpPr>
            <a:spLocks xmlns:a="http://schemas.openxmlformats.org/drawingml/2006/main" noGrp="1"/>
          </p:cNvSpPr>
          <p:nvPr/>
        </p:nvSpPr>
        <p:spPr>
          <a:xfrm xmlns:a="http://schemas.openxmlformats.org/drawingml/2006/main">
            <a:off x="1695450" y="4876800"/>
            <a:ext cx="7181850" cy="3048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b="1">
                <a:solidFill>
                  <a:srgbClr val="073763"/>
                </a:solidFill>
              </a:defRPr>
            </a:pPr>
            <a:r>
              <a:rPr sz="1950" b="1">
                <a:solidFill>
                  <a:srgbClr val="073763"/>
                </a:solidFill>
              </a:rPr>
              <a:t>Open one Country Director card</a:t>
            </a:r>
          </a:p>
        </p:txBody>
      </p:sp>
      <p:sp>
        <p:nvSpPr>
          <p:cNvPr id="11" name="step.2.body">
            <a:extLst xmlns:a="http://schemas.openxmlformats.org/drawingml/2006/main">
              <a:ext uri="{FF2B5EF4-FFF2-40B4-BE49-F238E27FC236}">
                <a16:creationId xmlns:a16="http://schemas.microsoft.com/office/drawing/2014/main" id="{302CA457-B257-4453-BCCD-851840AE75BE}"/>
              </a:ext>
            </a:extLst>
          </p:cNvPr>
          <p:cNvSpPr>
            <a:spLocks xmlns:a="http://schemas.openxmlformats.org/drawingml/2006/main" noGrp="1"/>
          </p:cNvSpPr>
          <p:nvPr/>
        </p:nvSpPr>
        <p:spPr>
          <a:xfrm xmlns:a="http://schemas.openxmlformats.org/drawingml/2006/main">
            <a:off x="1695450" y="5238750"/>
            <a:ext cx="7181850" cy="552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20000"/>
              </a:lnSpc>
              <a:buNone/>
              <a:defRPr sz="1500">
                <a:solidFill>
                  <a:srgbClr val="526375"/>
                </a:solidFill>
              </a:defRPr>
            </a:pPr>
            <a:r>
              <a:rPr sz="1500">
                <a:solidFill>
                  <a:srgbClr val="526375"/>
                </a:solidFill>
              </a:rPr>
              <a:t>Show how the portfolio view leads to people, project, and client scope, not just summary metrics.</a:t>
            </a:r>
          </a:p>
        </p:txBody>
      </p:sp>
      <p:sp>
        <p:nvSpPr>
          <p:cNvPr id="12" name="">
            <a:extLst xmlns:a="http://schemas.openxmlformats.org/drawingml/2006/main">
              <a:ext uri="{FF2B5EF4-FFF2-40B4-BE49-F238E27FC236}">
                <a16:creationId xmlns:a16="http://schemas.microsoft.com/office/drawing/2014/main" id="{6C4682DC-FE53-4D0E-B6D5-109EE3503AC6}"/>
              </a:ext>
            </a:extLst>
          </p:cNvPr>
          <p:cNvSpPr>
            <a:spLocks xmlns:a="http://schemas.openxmlformats.org/drawingml/2006/main" noGrp="1"/>
          </p:cNvSpPr>
          <p:nvPr/>
        </p:nvSpPr>
        <p:spPr>
          <a:xfrm xmlns:a="http://schemas.openxmlformats.org/drawingml/2006/main">
            <a:off x="914400" y="6038850"/>
            <a:ext cx="7962900" cy="19050"/>
          </a:xfrm>
          <a:prstGeom xmlns:a="http://schemas.openxmlformats.org/drawingml/2006/main" prst="rect">
            <a:avLst/>
          </a:prstGeom>
          <a:solidFill xmlns:a="http://schemas.openxmlformats.org/drawingml/2006/main">
            <a:srgbClr val="D7DEE7"/>
          </a:solidFill>
          <a:ln xmlns:a="http://schemas.openxmlformats.org/drawingml/2006/main" w="0">
            <a:solidFill>
              <a:srgbClr val="D7DEE7"/>
            </a:solidFill>
            <a:prstDash val="solid"/>
          </a:ln>
        </p:spPr>
      </p:sp>
      <p:sp>
        <p:nvSpPr>
          <p:cNvPr id="13" name="step.3.number">
            <a:extLst xmlns:a="http://schemas.openxmlformats.org/drawingml/2006/main">
              <a:ext uri="{FF2B5EF4-FFF2-40B4-BE49-F238E27FC236}">
                <a16:creationId xmlns:a16="http://schemas.microsoft.com/office/drawing/2014/main" id="{AAC81DEF-BBB0-4EC4-9C7E-DF3FD4732815}"/>
              </a:ext>
            </a:extLst>
          </p:cNvPr>
          <p:cNvSpPr>
            <a:spLocks xmlns:a="http://schemas.openxmlformats.org/drawingml/2006/main" noGrp="1"/>
          </p:cNvSpPr>
          <p:nvPr/>
        </p:nvSpPr>
        <p:spPr>
          <a:xfrm xmlns:a="http://schemas.openxmlformats.org/drawingml/2006/main">
            <a:off x="914400" y="6305550"/>
            <a:ext cx="609600" cy="3048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b="1">
                <a:solidFill>
                  <a:srgbClr val="EF7D00"/>
                </a:solidFill>
              </a:defRPr>
            </a:pPr>
            <a:r>
              <a:rPr sz="1950" b="1">
                <a:solidFill>
                  <a:srgbClr val="EF7D00"/>
                </a:solidFill>
              </a:rPr>
              <a:t>03</a:t>
            </a:r>
          </a:p>
        </p:txBody>
      </p:sp>
      <p:sp>
        <p:nvSpPr>
          <p:cNvPr id="14" name="step.3.title">
            <a:extLst xmlns:a="http://schemas.openxmlformats.org/drawingml/2006/main">
              <a:ext uri="{FF2B5EF4-FFF2-40B4-BE49-F238E27FC236}">
                <a16:creationId xmlns:a16="http://schemas.microsoft.com/office/drawing/2014/main" id="{492FB5F2-5999-4A8F-B583-CDF34FEA6F9A}"/>
              </a:ext>
            </a:extLst>
          </p:cNvPr>
          <p:cNvSpPr>
            <a:spLocks xmlns:a="http://schemas.openxmlformats.org/drawingml/2006/main" noGrp="1"/>
          </p:cNvSpPr>
          <p:nvPr/>
        </p:nvSpPr>
        <p:spPr>
          <a:xfrm xmlns:a="http://schemas.openxmlformats.org/drawingml/2006/main">
            <a:off x="1695450" y="6305550"/>
            <a:ext cx="7181850" cy="3048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b="1">
                <a:solidFill>
                  <a:srgbClr val="073763"/>
                </a:solidFill>
              </a:defRPr>
            </a:pPr>
            <a:r>
              <a:rPr sz="1950" b="1">
                <a:solidFill>
                  <a:srgbClr val="073763"/>
                </a:solidFill>
              </a:rPr>
              <a:t>Open one employee</a:t>
            </a:r>
          </a:p>
        </p:txBody>
      </p:sp>
      <p:sp>
        <p:nvSpPr>
          <p:cNvPr id="15" name="step.3.body">
            <a:extLst xmlns:a="http://schemas.openxmlformats.org/drawingml/2006/main">
              <a:ext uri="{FF2B5EF4-FFF2-40B4-BE49-F238E27FC236}">
                <a16:creationId xmlns:a16="http://schemas.microsoft.com/office/drawing/2014/main" id="{BE1E6E44-DCD7-4C22-B7CA-B3F0C24AEB0D}"/>
              </a:ext>
            </a:extLst>
          </p:cNvPr>
          <p:cNvSpPr>
            <a:spLocks xmlns:a="http://schemas.openxmlformats.org/drawingml/2006/main" noGrp="1"/>
          </p:cNvSpPr>
          <p:nvPr/>
        </p:nvSpPr>
        <p:spPr>
          <a:xfrm xmlns:a="http://schemas.openxmlformats.org/drawingml/2006/main">
            <a:off x="1695450" y="6648450"/>
            <a:ext cx="718185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20000"/>
              </a:lnSpc>
              <a:buNone/>
              <a:defRPr sz="1500">
                <a:solidFill>
                  <a:srgbClr val="526375"/>
                </a:solidFill>
              </a:defRPr>
            </a:pPr>
            <a:r>
              <a:rPr sz="1500">
                <a:solidFill>
                  <a:srgbClr val="526375"/>
                </a:solidFill>
              </a:rPr>
              <a:t>Explain allocation, utilization, and project participation from the people perspective.</a:t>
            </a:r>
          </a:p>
        </p:txBody>
      </p:sp>
      <p:sp>
        <p:nvSpPr>
          <p:cNvPr id="16" name="step.4.number">
            <a:extLst xmlns:a="http://schemas.openxmlformats.org/drawingml/2006/main">
              <a:ext uri="{FF2B5EF4-FFF2-40B4-BE49-F238E27FC236}">
                <a16:creationId xmlns:a16="http://schemas.microsoft.com/office/drawing/2014/main" id="{AD349468-CFA5-4632-8E21-6812DD3DC80C}"/>
              </a:ext>
            </a:extLst>
          </p:cNvPr>
          <p:cNvSpPr>
            <a:spLocks xmlns:a="http://schemas.openxmlformats.org/drawingml/2006/main" noGrp="1"/>
          </p:cNvSpPr>
          <p:nvPr/>
        </p:nvSpPr>
        <p:spPr>
          <a:xfrm xmlns:a="http://schemas.openxmlformats.org/drawingml/2006/main">
            <a:off x="9410700" y="3733800"/>
            <a:ext cx="609600" cy="3048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b="1">
                <a:solidFill>
                  <a:srgbClr val="EF7D00"/>
                </a:solidFill>
              </a:defRPr>
            </a:pPr>
            <a:r>
              <a:rPr sz="1950" b="1">
                <a:solidFill>
                  <a:srgbClr val="EF7D00"/>
                </a:solidFill>
              </a:rPr>
              <a:t>04</a:t>
            </a:r>
          </a:p>
        </p:txBody>
      </p:sp>
      <p:sp>
        <p:nvSpPr>
          <p:cNvPr id="17" name="step.4.title">
            <a:extLst xmlns:a="http://schemas.openxmlformats.org/drawingml/2006/main">
              <a:ext uri="{FF2B5EF4-FFF2-40B4-BE49-F238E27FC236}">
                <a16:creationId xmlns:a16="http://schemas.microsoft.com/office/drawing/2014/main" id="{EFE784D4-44EA-43B7-B02B-AA06B05DDBE5}"/>
              </a:ext>
            </a:extLst>
          </p:cNvPr>
          <p:cNvSpPr>
            <a:spLocks xmlns:a="http://schemas.openxmlformats.org/drawingml/2006/main" noGrp="1"/>
          </p:cNvSpPr>
          <p:nvPr/>
        </p:nvSpPr>
        <p:spPr>
          <a:xfrm xmlns:a="http://schemas.openxmlformats.org/drawingml/2006/main">
            <a:off x="10191750" y="3733800"/>
            <a:ext cx="7181850" cy="3048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b="1">
                <a:solidFill>
                  <a:srgbClr val="073763"/>
                </a:solidFill>
              </a:defRPr>
            </a:pPr>
            <a:r>
              <a:rPr sz="1950" b="1">
                <a:solidFill>
                  <a:srgbClr val="073763"/>
                </a:solidFill>
              </a:rPr>
              <a:t>Open one project</a:t>
            </a:r>
          </a:p>
        </p:txBody>
      </p:sp>
      <p:sp>
        <p:nvSpPr>
          <p:cNvPr id="18" name="step.4.body">
            <a:extLst xmlns:a="http://schemas.openxmlformats.org/drawingml/2006/main">
              <a:ext uri="{FF2B5EF4-FFF2-40B4-BE49-F238E27FC236}">
                <a16:creationId xmlns:a16="http://schemas.microsoft.com/office/drawing/2014/main" id="{08D19630-94F2-42AE-A2CA-938B500C735C}"/>
              </a:ext>
            </a:extLst>
          </p:cNvPr>
          <p:cNvSpPr>
            <a:spLocks xmlns:a="http://schemas.openxmlformats.org/drawingml/2006/main" noGrp="1"/>
          </p:cNvSpPr>
          <p:nvPr/>
        </p:nvSpPr>
        <p:spPr>
          <a:xfrm xmlns:a="http://schemas.openxmlformats.org/drawingml/2006/main">
            <a:off x="10191750" y="4095750"/>
            <a:ext cx="718185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20000"/>
              </a:lnSpc>
              <a:buNone/>
              <a:defRPr sz="1500">
                <a:solidFill>
                  <a:srgbClr val="526375"/>
                </a:solidFill>
              </a:defRPr>
            </a:pPr>
            <a:r>
              <a:rPr sz="1500">
                <a:solidFill>
                  <a:srgbClr val="526375"/>
                </a:solidFill>
              </a:rPr>
              <a:t>Show PM ownership, assigned consultants, allocation percentages, and actual contribution.</a:t>
            </a:r>
          </a:p>
        </p:txBody>
      </p:sp>
      <p:sp>
        <p:nvSpPr>
          <p:cNvPr id="19" name="">
            <a:extLst xmlns:a="http://schemas.openxmlformats.org/drawingml/2006/main">
              <a:ext uri="{FF2B5EF4-FFF2-40B4-BE49-F238E27FC236}">
                <a16:creationId xmlns:a16="http://schemas.microsoft.com/office/drawing/2014/main" id="{47CA813D-B56D-4541-8DA9-29754C669928}"/>
              </a:ext>
            </a:extLst>
          </p:cNvPr>
          <p:cNvSpPr>
            <a:spLocks xmlns:a="http://schemas.openxmlformats.org/drawingml/2006/main" noGrp="1"/>
          </p:cNvSpPr>
          <p:nvPr/>
        </p:nvSpPr>
        <p:spPr>
          <a:xfrm xmlns:a="http://schemas.openxmlformats.org/drawingml/2006/main">
            <a:off x="9410700" y="4610100"/>
            <a:ext cx="7962900" cy="19050"/>
          </a:xfrm>
          <a:prstGeom xmlns:a="http://schemas.openxmlformats.org/drawingml/2006/main" prst="rect">
            <a:avLst/>
          </a:prstGeom>
          <a:solidFill xmlns:a="http://schemas.openxmlformats.org/drawingml/2006/main">
            <a:srgbClr val="D7DEE7"/>
          </a:solidFill>
          <a:ln xmlns:a="http://schemas.openxmlformats.org/drawingml/2006/main" w="0">
            <a:solidFill>
              <a:srgbClr val="D7DEE7"/>
            </a:solidFill>
            <a:prstDash val="solid"/>
          </a:ln>
        </p:spPr>
      </p:sp>
      <p:sp>
        <p:nvSpPr>
          <p:cNvPr id="20" name="step.5.number">
            <a:extLst xmlns:a="http://schemas.openxmlformats.org/drawingml/2006/main">
              <a:ext uri="{FF2B5EF4-FFF2-40B4-BE49-F238E27FC236}">
                <a16:creationId xmlns:a16="http://schemas.microsoft.com/office/drawing/2014/main" id="{E891C35D-3ADA-4DCA-8CC8-00E824DAB048}"/>
              </a:ext>
            </a:extLst>
          </p:cNvPr>
          <p:cNvSpPr>
            <a:spLocks xmlns:a="http://schemas.openxmlformats.org/drawingml/2006/main" noGrp="1"/>
          </p:cNvSpPr>
          <p:nvPr/>
        </p:nvSpPr>
        <p:spPr>
          <a:xfrm xmlns:a="http://schemas.openxmlformats.org/drawingml/2006/main">
            <a:off x="9410700" y="4876800"/>
            <a:ext cx="609600" cy="3048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b="1">
                <a:solidFill>
                  <a:srgbClr val="EF7D00"/>
                </a:solidFill>
              </a:defRPr>
            </a:pPr>
            <a:r>
              <a:rPr sz="1950" b="1">
                <a:solidFill>
                  <a:srgbClr val="EF7D00"/>
                </a:solidFill>
              </a:rPr>
              <a:t>05</a:t>
            </a:r>
          </a:p>
        </p:txBody>
      </p:sp>
      <p:sp>
        <p:nvSpPr>
          <p:cNvPr id="21" name="step.5.title">
            <a:extLst xmlns:a="http://schemas.openxmlformats.org/drawingml/2006/main">
              <a:ext uri="{FF2B5EF4-FFF2-40B4-BE49-F238E27FC236}">
                <a16:creationId xmlns:a16="http://schemas.microsoft.com/office/drawing/2014/main" id="{A8C7171D-1309-4319-9FED-BDF1392225B3}"/>
              </a:ext>
            </a:extLst>
          </p:cNvPr>
          <p:cNvSpPr>
            <a:spLocks xmlns:a="http://schemas.openxmlformats.org/drawingml/2006/main" noGrp="1"/>
          </p:cNvSpPr>
          <p:nvPr/>
        </p:nvSpPr>
        <p:spPr>
          <a:xfrm xmlns:a="http://schemas.openxmlformats.org/drawingml/2006/main">
            <a:off x="10191750" y="4876800"/>
            <a:ext cx="7181850" cy="3048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b="1">
                <a:solidFill>
                  <a:srgbClr val="073763"/>
                </a:solidFill>
              </a:defRPr>
            </a:pPr>
            <a:r>
              <a:rPr sz="1950" b="1">
                <a:solidFill>
                  <a:srgbClr val="073763"/>
                </a:solidFill>
              </a:rPr>
              <a:t>Open Allocation Control and then Timesheet Governance</a:t>
            </a:r>
          </a:p>
        </p:txBody>
      </p:sp>
      <p:sp>
        <p:nvSpPr>
          <p:cNvPr id="22" name="step.5.body">
            <a:extLst xmlns:a="http://schemas.openxmlformats.org/drawingml/2006/main">
              <a:ext uri="{FF2B5EF4-FFF2-40B4-BE49-F238E27FC236}">
                <a16:creationId xmlns:a16="http://schemas.microsoft.com/office/drawing/2014/main" id="{009ABDAF-8294-4BBA-A2B6-93860952C827}"/>
              </a:ext>
            </a:extLst>
          </p:cNvPr>
          <p:cNvSpPr>
            <a:spLocks xmlns:a="http://schemas.openxmlformats.org/drawingml/2006/main" noGrp="1"/>
          </p:cNvSpPr>
          <p:nvPr/>
        </p:nvSpPr>
        <p:spPr>
          <a:xfrm xmlns:a="http://schemas.openxmlformats.org/drawingml/2006/main">
            <a:off x="10191750" y="5238750"/>
            <a:ext cx="718185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20000"/>
              </a:lnSpc>
              <a:buNone/>
              <a:defRPr sz="1500">
                <a:solidFill>
                  <a:srgbClr val="526375"/>
                </a:solidFill>
              </a:defRPr>
            </a:pPr>
            <a:r>
              <a:rPr sz="1500">
                <a:solidFill>
                  <a:srgbClr val="526375"/>
                </a:solidFill>
              </a:rPr>
              <a:t>Connect planned capacity with weekly execution and approval.</a:t>
            </a:r>
          </a:p>
        </p:txBody>
      </p:sp>
      <p:sp>
        <p:nvSpPr>
          <p:cNvPr id="23" name="">
            <a:extLst xmlns:a="http://schemas.openxmlformats.org/drawingml/2006/main">
              <a:ext uri="{FF2B5EF4-FFF2-40B4-BE49-F238E27FC236}">
                <a16:creationId xmlns:a16="http://schemas.microsoft.com/office/drawing/2014/main" id="{6A6AEE7C-B972-43FE-8C0F-96D3D5511405}"/>
              </a:ext>
            </a:extLst>
          </p:cNvPr>
          <p:cNvSpPr>
            <a:spLocks xmlns:a="http://schemas.openxmlformats.org/drawingml/2006/main" noGrp="1"/>
          </p:cNvSpPr>
          <p:nvPr/>
        </p:nvSpPr>
        <p:spPr>
          <a:xfrm xmlns:a="http://schemas.openxmlformats.org/drawingml/2006/main">
            <a:off x="9410700" y="5753100"/>
            <a:ext cx="7962900" cy="19050"/>
          </a:xfrm>
          <a:prstGeom xmlns:a="http://schemas.openxmlformats.org/drawingml/2006/main" prst="rect">
            <a:avLst/>
          </a:prstGeom>
          <a:solidFill xmlns:a="http://schemas.openxmlformats.org/drawingml/2006/main">
            <a:srgbClr val="D7DEE7"/>
          </a:solidFill>
          <a:ln xmlns:a="http://schemas.openxmlformats.org/drawingml/2006/main" w="0">
            <a:solidFill>
              <a:srgbClr val="D7DEE7"/>
            </a:solidFill>
            <a:prstDash val="solid"/>
          </a:ln>
        </p:spPr>
      </p:sp>
      <p:sp>
        <p:nvSpPr>
          <p:cNvPr id="24" name="step.6.number">
            <a:extLst xmlns:a="http://schemas.openxmlformats.org/drawingml/2006/main">
              <a:ext uri="{FF2B5EF4-FFF2-40B4-BE49-F238E27FC236}">
                <a16:creationId xmlns:a16="http://schemas.microsoft.com/office/drawing/2014/main" id="{B6BA67F9-1D4C-4867-A79E-A6F7A9165647}"/>
              </a:ext>
            </a:extLst>
          </p:cNvPr>
          <p:cNvSpPr>
            <a:spLocks xmlns:a="http://schemas.openxmlformats.org/drawingml/2006/main" noGrp="1"/>
          </p:cNvSpPr>
          <p:nvPr/>
        </p:nvSpPr>
        <p:spPr>
          <a:xfrm xmlns:a="http://schemas.openxmlformats.org/drawingml/2006/main">
            <a:off x="9410700" y="6019800"/>
            <a:ext cx="609600" cy="3048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b="1">
                <a:solidFill>
                  <a:srgbClr val="EF7D00"/>
                </a:solidFill>
              </a:defRPr>
            </a:pPr>
            <a:r>
              <a:rPr sz="1950" b="1">
                <a:solidFill>
                  <a:srgbClr val="EF7D00"/>
                </a:solidFill>
              </a:rPr>
              <a:t>06</a:t>
            </a:r>
          </a:p>
        </p:txBody>
      </p:sp>
      <p:sp>
        <p:nvSpPr>
          <p:cNvPr id="25" name="step.6.title">
            <a:extLst xmlns:a="http://schemas.openxmlformats.org/drawingml/2006/main">
              <a:ext uri="{FF2B5EF4-FFF2-40B4-BE49-F238E27FC236}">
                <a16:creationId xmlns:a16="http://schemas.microsoft.com/office/drawing/2014/main" id="{1FEEF324-D522-4B70-893F-5223E53A53E2}"/>
              </a:ext>
            </a:extLst>
          </p:cNvPr>
          <p:cNvSpPr>
            <a:spLocks xmlns:a="http://schemas.openxmlformats.org/drawingml/2006/main" noGrp="1"/>
          </p:cNvSpPr>
          <p:nvPr/>
        </p:nvSpPr>
        <p:spPr>
          <a:xfrm xmlns:a="http://schemas.openxmlformats.org/drawingml/2006/main">
            <a:off x="10191750" y="6019800"/>
            <a:ext cx="7181850" cy="3048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950" b="1">
                <a:solidFill>
                  <a:srgbClr val="073763"/>
                </a:solidFill>
              </a:defRPr>
            </a:pPr>
            <a:r>
              <a:rPr sz="1950" b="1">
                <a:solidFill>
                  <a:srgbClr val="073763"/>
                </a:solidFill>
              </a:rPr>
              <a:t>Close on Planned, Actual, Forecast, Audit</a:t>
            </a:r>
          </a:p>
        </p:txBody>
      </p:sp>
      <p:sp>
        <p:nvSpPr>
          <p:cNvPr id="26" name="step.6.body">
            <a:extLst xmlns:a="http://schemas.openxmlformats.org/drawingml/2006/main">
              <a:ext uri="{FF2B5EF4-FFF2-40B4-BE49-F238E27FC236}">
                <a16:creationId xmlns:a16="http://schemas.microsoft.com/office/drawing/2014/main" id="{3ADE9B5E-3E34-4238-B648-8C281E7F34CB}"/>
              </a:ext>
            </a:extLst>
          </p:cNvPr>
          <p:cNvSpPr>
            <a:spLocks xmlns:a="http://schemas.openxmlformats.org/drawingml/2006/main" noGrp="1"/>
          </p:cNvSpPr>
          <p:nvPr/>
        </p:nvSpPr>
        <p:spPr>
          <a:xfrm xmlns:a="http://schemas.openxmlformats.org/drawingml/2006/main">
            <a:off x="10191750" y="6381750"/>
            <a:ext cx="7181850" cy="285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20000"/>
              </a:lnSpc>
              <a:buNone/>
              <a:defRPr sz="1500">
                <a:solidFill>
                  <a:srgbClr val="526375"/>
                </a:solidFill>
              </a:defRPr>
            </a:pPr>
            <a:r>
              <a:rPr sz="1500">
                <a:solidFill>
                  <a:srgbClr val="526375"/>
                </a:solidFill>
              </a:rPr>
              <a:t>Finish with the three reporting views and the control surfaces that make them trustworthy.</a:t>
            </a:r>
          </a:p>
        </p:txBody>
      </p:sp>
    </p:spTree>
    <p:extLst>
      <p:ext uri="{BB962C8B-B14F-4D97-AF65-F5344CB8AC3E}">
        <p14:creationId xmlns:p14="http://schemas.microsoft.com/office/powerpoint/2010/main" val="1298243420"/>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 name="slide-6.title.kicker">
            <a:extLst xmlns:a="http://schemas.openxmlformats.org/drawingml/2006/main">
              <a:ext uri="{FF2B5EF4-FFF2-40B4-BE49-F238E27FC236}">
                <a16:creationId xmlns:a16="http://schemas.microsoft.com/office/drawing/2014/main" id="{70645EC4-8177-4C18-8D8C-E05C14CD37EA}"/>
              </a:ext>
            </a:extLst>
          </p:cNvPr>
          <p:cNvSpPr>
            <a:spLocks xmlns:a="http://schemas.openxmlformats.org/drawingml/2006/main" noGrp="1"/>
          </p:cNvSpPr>
          <p:nvPr/>
        </p:nvSpPr>
        <p:spPr>
          <a:xfrm xmlns:a="http://schemas.openxmlformats.org/drawingml/2006/main">
            <a:off x="914400" y="762000"/>
            <a:ext cx="1645920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b="1">
                <a:solidFill>
                  <a:srgbClr val="EF7D00"/>
                </a:solidFill>
              </a:defRPr>
            </a:pPr>
            <a:r>
              <a:rPr sz="1350" b="1">
                <a:solidFill>
                  <a:srgbClr val="EF7D00"/>
                </a:solidFill>
              </a:rPr>
              <a:t>HOW UTILIZATION IS CALCULATED</a:t>
            </a:r>
          </a:p>
        </p:txBody>
      </p:sp>
      <p:sp>
        <p:nvSpPr>
          <p:cNvPr id="2" name="slide-6.title.title">
            <a:extLst xmlns:a="http://schemas.openxmlformats.org/drawingml/2006/main">
              <a:ext uri="{FF2B5EF4-FFF2-40B4-BE49-F238E27FC236}">
                <a16:creationId xmlns:a16="http://schemas.microsoft.com/office/drawing/2014/main" id="{86DFA222-A45A-4C03-8F76-EFCDA83492E0}"/>
              </a:ext>
            </a:extLst>
          </p:cNvPr>
          <p:cNvSpPr>
            <a:spLocks xmlns:a="http://schemas.openxmlformats.org/drawingml/2006/main" noGrp="1"/>
          </p:cNvSpPr>
          <p:nvPr/>
        </p:nvSpPr>
        <p:spPr>
          <a:xfrm xmlns:a="http://schemas.openxmlformats.org/drawingml/2006/main">
            <a:off x="914400" y="1123950"/>
            <a:ext cx="13620750" cy="18859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05000"/>
              </a:lnSpc>
              <a:buNone/>
              <a:defRPr sz="3900" b="1">
                <a:solidFill>
                  <a:srgbClr val="073763"/>
                </a:solidFill>
              </a:defRPr>
            </a:pPr>
            <a:r>
              <a:rPr sz="3900" b="1">
                <a:solidFill>
                  <a:srgbClr val="073763"/>
                </a:solidFill>
              </a:rPr>
              <a:t>Leadership should treat planned, actual, and forecast utilization as three different business instruments, not one interchangeable number.</a:t>
            </a:r>
          </a:p>
        </p:txBody>
      </p:sp>
      <p:sp>
        <p:nvSpPr>
          <p:cNvPr id="3" name="slide-6.title.rule">
            <a:extLst xmlns:a="http://schemas.openxmlformats.org/drawingml/2006/main">
              <a:ext uri="{FF2B5EF4-FFF2-40B4-BE49-F238E27FC236}">
                <a16:creationId xmlns:a16="http://schemas.microsoft.com/office/drawing/2014/main" id="{ECB99DB0-F959-4C14-8782-1126017C4D7C}"/>
              </a:ext>
            </a:extLst>
          </p:cNvPr>
          <p:cNvSpPr>
            <a:spLocks xmlns:a="http://schemas.openxmlformats.org/drawingml/2006/main" noGrp="1"/>
          </p:cNvSpPr>
          <p:nvPr/>
        </p:nvSpPr>
        <p:spPr>
          <a:xfrm xmlns:a="http://schemas.openxmlformats.org/drawingml/2006/main">
            <a:off x="914400" y="3143250"/>
            <a:ext cx="2095500" cy="57150"/>
          </a:xfrm>
          <a:prstGeom xmlns:a="http://schemas.openxmlformats.org/drawingml/2006/main" prst="rect">
            <a:avLst/>
          </a:prstGeom>
          <a:solidFill xmlns:a="http://schemas.openxmlformats.org/drawingml/2006/main">
            <a:srgbClr val="EF7D00"/>
          </a:solidFill>
          <a:ln xmlns:a="http://schemas.openxmlformats.org/drawingml/2006/main" w="0">
            <a:solidFill>
              <a:srgbClr val="EF7D00"/>
            </a:solidFill>
            <a:prstDash val="solid"/>
          </a:ln>
        </p:spPr>
      </p:sp>
      <p:sp>
        <p:nvSpPr>
          <p:cNvPr id="4" name="slide-6.title.subtitle">
            <a:extLst xmlns:a="http://schemas.openxmlformats.org/drawingml/2006/main">
              <a:ext uri="{FF2B5EF4-FFF2-40B4-BE49-F238E27FC236}">
                <a16:creationId xmlns:a16="http://schemas.microsoft.com/office/drawing/2014/main" id="{DF45557C-29B5-4B9B-A915-3FAD6D86864B}"/>
              </a:ext>
            </a:extLst>
          </p:cNvPr>
          <p:cNvSpPr>
            <a:spLocks xmlns:a="http://schemas.openxmlformats.org/drawingml/2006/main" noGrp="1"/>
          </p:cNvSpPr>
          <p:nvPr/>
        </p:nvSpPr>
        <p:spPr>
          <a:xfrm xmlns:a="http://schemas.openxmlformats.org/drawingml/2006/main">
            <a:off x="914400" y="3352800"/>
            <a:ext cx="9753600" cy="6858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22000"/>
              </a:lnSpc>
              <a:buNone/>
              <a:defRPr sz="1800">
                <a:solidFill>
                  <a:srgbClr val="526375"/>
                </a:solidFill>
              </a:defRPr>
            </a:pPr>
            <a:r>
              <a:rPr sz="1800">
                <a:solidFill>
                  <a:srgbClr val="526375"/>
                </a:solidFill>
              </a:rPr>
              <a:t>The tracker already separates planning commitment, approved delivery effort, and upcoming future load.</a:t>
            </a:r>
          </a:p>
        </p:txBody>
      </p:sp>
      <p:sp>
        <p:nvSpPr>
          <p:cNvPr id="5" name="list.Planned utilization.title">
            <a:extLst xmlns:a="http://schemas.openxmlformats.org/drawingml/2006/main">
              <a:ext uri="{FF2B5EF4-FFF2-40B4-BE49-F238E27FC236}">
                <a16:creationId xmlns:a16="http://schemas.microsoft.com/office/drawing/2014/main" id="{D7C625A5-FAEE-41D8-B3F3-A6FB1196C1F0}"/>
              </a:ext>
            </a:extLst>
          </p:cNvPr>
          <p:cNvSpPr>
            <a:spLocks xmlns:a="http://schemas.openxmlformats.org/drawingml/2006/main" noGrp="1"/>
          </p:cNvSpPr>
          <p:nvPr/>
        </p:nvSpPr>
        <p:spPr>
          <a:xfrm xmlns:a="http://schemas.openxmlformats.org/drawingml/2006/main">
            <a:off x="914400" y="4324350"/>
            <a:ext cx="51435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b="1">
                <a:solidFill>
                  <a:srgbClr val="EF7D00"/>
                </a:solidFill>
              </a:defRPr>
            </a:pPr>
            <a:r>
              <a:rPr sz="1200" b="1">
                <a:solidFill>
                  <a:srgbClr val="EF7D00"/>
                </a:solidFill>
              </a:rPr>
              <a:t>PLANNED UTILIZATION</a:t>
            </a:r>
          </a:p>
        </p:txBody>
      </p:sp>
      <p:sp>
        <p:nvSpPr>
          <p:cNvPr id="6" name="list.Planned utilization.item.1">
            <a:extLst xmlns:a="http://schemas.openxmlformats.org/drawingml/2006/main">
              <a:ext uri="{FF2B5EF4-FFF2-40B4-BE49-F238E27FC236}">
                <a16:creationId xmlns:a16="http://schemas.microsoft.com/office/drawing/2014/main" id="{5D5E1312-20C8-444C-9DE4-00A22022DF5E}"/>
              </a:ext>
            </a:extLst>
          </p:cNvPr>
          <p:cNvSpPr>
            <a:spLocks xmlns:a="http://schemas.openxmlformats.org/drawingml/2006/main" noGrp="1"/>
          </p:cNvSpPr>
          <p:nvPr/>
        </p:nvSpPr>
        <p:spPr>
          <a:xfrm xmlns:a="http://schemas.openxmlformats.org/drawingml/2006/main">
            <a:off x="914400" y="4648200"/>
            <a:ext cx="3448050" cy="666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20000"/>
              </a:lnSpc>
              <a:buNone/>
              <a:defRPr sz="1800">
                <a:solidFill>
                  <a:srgbClr val="073763"/>
                </a:solidFill>
              </a:defRPr>
            </a:pPr>
            <a:r>
              <a:rPr sz="1800">
                <a:solidFill>
                  <a:srgbClr val="073763"/>
                </a:solidFill>
              </a:rPr>
              <a:t>- Comes from allocation percentages.</a:t>
            </a:r>
          </a:p>
        </p:txBody>
      </p:sp>
      <p:sp>
        <p:nvSpPr>
          <p:cNvPr id="7" name="list.Planned utilization.item.2">
            <a:extLst xmlns:a="http://schemas.openxmlformats.org/drawingml/2006/main">
              <a:ext uri="{FF2B5EF4-FFF2-40B4-BE49-F238E27FC236}">
                <a16:creationId xmlns:a16="http://schemas.microsoft.com/office/drawing/2014/main" id="{AC6924A2-E550-4CFE-A810-77E721D470C4}"/>
              </a:ext>
            </a:extLst>
          </p:cNvPr>
          <p:cNvSpPr>
            <a:spLocks xmlns:a="http://schemas.openxmlformats.org/drawingml/2006/main" noGrp="1"/>
          </p:cNvSpPr>
          <p:nvPr/>
        </p:nvSpPr>
        <p:spPr>
          <a:xfrm xmlns:a="http://schemas.openxmlformats.org/drawingml/2006/main">
            <a:off x="914400" y="5429250"/>
            <a:ext cx="4800600" cy="666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20000"/>
              </a:lnSpc>
              <a:buNone/>
              <a:defRPr sz="1800">
                <a:solidFill>
                  <a:srgbClr val="073763"/>
                </a:solidFill>
              </a:defRPr>
            </a:pPr>
            <a:r>
              <a:rPr sz="1800">
                <a:solidFill>
                  <a:srgbClr val="073763"/>
                </a:solidFill>
              </a:rPr>
              <a:t>- Uses active date ranges on projects and resources.</a:t>
            </a:r>
          </a:p>
        </p:txBody>
      </p:sp>
      <p:sp>
        <p:nvSpPr>
          <p:cNvPr id="8" name="list.Planned utilization.item.3">
            <a:extLst xmlns:a="http://schemas.openxmlformats.org/drawingml/2006/main">
              <a:ext uri="{FF2B5EF4-FFF2-40B4-BE49-F238E27FC236}">
                <a16:creationId xmlns:a16="http://schemas.microsoft.com/office/drawing/2014/main" id="{15BF4413-E967-43FE-A055-D14F0F9FCBEC}"/>
              </a:ext>
            </a:extLst>
          </p:cNvPr>
          <p:cNvSpPr>
            <a:spLocks xmlns:a="http://schemas.openxmlformats.org/drawingml/2006/main" noGrp="1"/>
          </p:cNvSpPr>
          <p:nvPr/>
        </p:nvSpPr>
        <p:spPr>
          <a:xfrm xmlns:a="http://schemas.openxmlformats.org/drawingml/2006/main">
            <a:off x="914400" y="6229350"/>
            <a:ext cx="4286250" cy="666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20000"/>
              </a:lnSpc>
              <a:buNone/>
              <a:defRPr sz="1800">
                <a:solidFill>
                  <a:srgbClr val="073763"/>
                </a:solidFill>
              </a:defRPr>
            </a:pPr>
            <a:r>
              <a:rPr sz="1800">
                <a:solidFill>
                  <a:srgbClr val="073763"/>
                </a:solidFill>
              </a:rPr>
              <a:t>- Answers: what capacity have we committed?</a:t>
            </a:r>
          </a:p>
        </p:txBody>
      </p:sp>
      <p:sp>
        <p:nvSpPr>
          <p:cNvPr id="9" name="list.Actual utilization.title">
            <a:extLst xmlns:a="http://schemas.openxmlformats.org/drawingml/2006/main">
              <a:ext uri="{FF2B5EF4-FFF2-40B4-BE49-F238E27FC236}">
                <a16:creationId xmlns:a16="http://schemas.microsoft.com/office/drawing/2014/main" id="{0911A1CA-DE75-40D2-B52D-CC6A337113BB}"/>
              </a:ext>
            </a:extLst>
          </p:cNvPr>
          <p:cNvSpPr>
            <a:spLocks xmlns:a="http://schemas.openxmlformats.org/drawingml/2006/main" noGrp="1"/>
          </p:cNvSpPr>
          <p:nvPr/>
        </p:nvSpPr>
        <p:spPr>
          <a:xfrm xmlns:a="http://schemas.openxmlformats.org/drawingml/2006/main">
            <a:off x="6572250" y="4324350"/>
            <a:ext cx="51435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b="1">
                <a:solidFill>
                  <a:srgbClr val="EF7D00"/>
                </a:solidFill>
              </a:defRPr>
            </a:pPr>
            <a:r>
              <a:rPr sz="1200" b="1">
                <a:solidFill>
                  <a:srgbClr val="EF7D00"/>
                </a:solidFill>
              </a:rPr>
              <a:t>ACTUAL UTILIZATION</a:t>
            </a:r>
          </a:p>
        </p:txBody>
      </p:sp>
      <p:sp>
        <p:nvSpPr>
          <p:cNvPr id="10" name="list.Actual utilization.item.1">
            <a:extLst xmlns:a="http://schemas.openxmlformats.org/drawingml/2006/main">
              <a:ext uri="{FF2B5EF4-FFF2-40B4-BE49-F238E27FC236}">
                <a16:creationId xmlns:a16="http://schemas.microsoft.com/office/drawing/2014/main" id="{67F5A0F6-41B1-4D50-A752-0E18F57E9518}"/>
              </a:ext>
            </a:extLst>
          </p:cNvPr>
          <p:cNvSpPr>
            <a:spLocks xmlns:a="http://schemas.openxmlformats.org/drawingml/2006/main" noGrp="1"/>
          </p:cNvSpPr>
          <p:nvPr/>
        </p:nvSpPr>
        <p:spPr>
          <a:xfrm xmlns:a="http://schemas.openxmlformats.org/drawingml/2006/main">
            <a:off x="6572250" y="4648200"/>
            <a:ext cx="4248150" cy="666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20000"/>
              </a:lnSpc>
              <a:buNone/>
              <a:defRPr sz="1800">
                <a:solidFill>
                  <a:srgbClr val="073763"/>
                </a:solidFill>
              </a:defRPr>
            </a:pPr>
            <a:r>
              <a:rPr sz="1800">
                <a:solidFill>
                  <a:srgbClr val="073763"/>
                </a:solidFill>
              </a:rPr>
              <a:t>- Comes only from approved timesheet hours.</a:t>
            </a:r>
          </a:p>
        </p:txBody>
      </p:sp>
      <p:sp>
        <p:nvSpPr>
          <p:cNvPr id="11" name="list.Actual utilization.item.2">
            <a:extLst xmlns:a="http://schemas.openxmlformats.org/drawingml/2006/main">
              <a:ext uri="{FF2B5EF4-FFF2-40B4-BE49-F238E27FC236}">
                <a16:creationId xmlns:a16="http://schemas.microsoft.com/office/drawing/2014/main" id="{9176D92F-5419-4D4F-BFED-49FAADE8F548}"/>
              </a:ext>
            </a:extLst>
          </p:cNvPr>
          <p:cNvSpPr>
            <a:spLocks xmlns:a="http://schemas.openxmlformats.org/drawingml/2006/main" noGrp="1"/>
          </p:cNvSpPr>
          <p:nvPr/>
        </p:nvSpPr>
        <p:spPr>
          <a:xfrm xmlns:a="http://schemas.openxmlformats.org/drawingml/2006/main">
            <a:off x="6572250" y="5429250"/>
            <a:ext cx="4705350" cy="3429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20000"/>
              </a:lnSpc>
              <a:buNone/>
              <a:defRPr sz="1800">
                <a:solidFill>
                  <a:srgbClr val="073763"/>
                </a:solidFill>
              </a:defRPr>
            </a:pPr>
            <a:r>
              <a:rPr sz="1800">
                <a:solidFill>
                  <a:srgbClr val="073763"/>
                </a:solidFill>
              </a:rPr>
              <a:t>- Rejects future submission and unapproved effort.</a:t>
            </a:r>
          </a:p>
        </p:txBody>
      </p:sp>
      <p:sp>
        <p:nvSpPr>
          <p:cNvPr id="12" name="list.Actual utilization.item.3">
            <a:extLst xmlns:a="http://schemas.openxmlformats.org/drawingml/2006/main">
              <a:ext uri="{FF2B5EF4-FFF2-40B4-BE49-F238E27FC236}">
                <a16:creationId xmlns:a16="http://schemas.microsoft.com/office/drawing/2014/main" id="{D5707540-08DB-45AC-9B5D-4FDBD8FC2DB3}"/>
              </a:ext>
            </a:extLst>
          </p:cNvPr>
          <p:cNvSpPr>
            <a:spLocks xmlns:a="http://schemas.openxmlformats.org/drawingml/2006/main" noGrp="1"/>
          </p:cNvSpPr>
          <p:nvPr/>
        </p:nvSpPr>
        <p:spPr>
          <a:xfrm xmlns:a="http://schemas.openxmlformats.org/drawingml/2006/main">
            <a:off x="6572250" y="5905500"/>
            <a:ext cx="4152900" cy="3429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20000"/>
              </a:lnSpc>
              <a:buNone/>
              <a:defRPr sz="1800">
                <a:solidFill>
                  <a:srgbClr val="073763"/>
                </a:solidFill>
              </a:defRPr>
            </a:pPr>
            <a:r>
              <a:rPr sz="1800">
                <a:solidFill>
                  <a:srgbClr val="073763"/>
                </a:solidFill>
              </a:rPr>
              <a:t>- Answers: what work actually got delivered?</a:t>
            </a:r>
          </a:p>
        </p:txBody>
      </p:sp>
      <p:sp>
        <p:nvSpPr>
          <p:cNvPr id="13" name="list.Forecast utilization.title">
            <a:extLst xmlns:a="http://schemas.openxmlformats.org/drawingml/2006/main">
              <a:ext uri="{FF2B5EF4-FFF2-40B4-BE49-F238E27FC236}">
                <a16:creationId xmlns:a16="http://schemas.microsoft.com/office/drawing/2014/main" id="{6496A411-670B-4DED-B20B-44C8BD38D4E2}"/>
              </a:ext>
            </a:extLst>
          </p:cNvPr>
          <p:cNvSpPr>
            <a:spLocks xmlns:a="http://schemas.openxmlformats.org/drawingml/2006/main" noGrp="1"/>
          </p:cNvSpPr>
          <p:nvPr/>
        </p:nvSpPr>
        <p:spPr>
          <a:xfrm xmlns:a="http://schemas.openxmlformats.org/drawingml/2006/main">
            <a:off x="12230100" y="4324350"/>
            <a:ext cx="51435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b="1">
                <a:solidFill>
                  <a:srgbClr val="EF7D00"/>
                </a:solidFill>
              </a:defRPr>
            </a:pPr>
            <a:r>
              <a:rPr sz="1200" b="1">
                <a:solidFill>
                  <a:srgbClr val="EF7D00"/>
                </a:solidFill>
              </a:rPr>
              <a:t>FORECAST UTILIZATION</a:t>
            </a:r>
          </a:p>
        </p:txBody>
      </p:sp>
      <p:sp>
        <p:nvSpPr>
          <p:cNvPr id="14" name="list.Forecast utilization.item.1">
            <a:extLst xmlns:a="http://schemas.openxmlformats.org/drawingml/2006/main">
              <a:ext uri="{FF2B5EF4-FFF2-40B4-BE49-F238E27FC236}">
                <a16:creationId xmlns:a16="http://schemas.microsoft.com/office/drawing/2014/main" id="{8874512E-9DAE-456E-9FAC-C7D4470A0415}"/>
              </a:ext>
            </a:extLst>
          </p:cNvPr>
          <p:cNvSpPr>
            <a:spLocks xmlns:a="http://schemas.openxmlformats.org/drawingml/2006/main" noGrp="1"/>
          </p:cNvSpPr>
          <p:nvPr/>
        </p:nvSpPr>
        <p:spPr>
          <a:xfrm xmlns:a="http://schemas.openxmlformats.org/drawingml/2006/main">
            <a:off x="12230100" y="4648200"/>
            <a:ext cx="4305300" cy="3429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20000"/>
              </a:lnSpc>
              <a:buNone/>
              <a:defRPr sz="1800">
                <a:solidFill>
                  <a:srgbClr val="073763"/>
                </a:solidFill>
              </a:defRPr>
            </a:pPr>
            <a:r>
              <a:rPr sz="1800">
                <a:solidFill>
                  <a:srgbClr val="073763"/>
                </a:solidFill>
              </a:rPr>
              <a:t>- Uses future allocations and project timelines.</a:t>
            </a:r>
          </a:p>
        </p:txBody>
      </p:sp>
      <p:sp>
        <p:nvSpPr>
          <p:cNvPr id="15" name="list.Forecast utilization.item.2">
            <a:extLst xmlns:a="http://schemas.openxmlformats.org/drawingml/2006/main">
              <a:ext uri="{FF2B5EF4-FFF2-40B4-BE49-F238E27FC236}">
                <a16:creationId xmlns:a16="http://schemas.microsoft.com/office/drawing/2014/main" id="{768A845F-BAF1-45E1-8F2A-CC803B687552}"/>
              </a:ext>
            </a:extLst>
          </p:cNvPr>
          <p:cNvSpPr>
            <a:spLocks xmlns:a="http://schemas.openxmlformats.org/drawingml/2006/main" noGrp="1"/>
          </p:cNvSpPr>
          <p:nvPr/>
        </p:nvSpPr>
        <p:spPr>
          <a:xfrm xmlns:a="http://schemas.openxmlformats.org/drawingml/2006/main">
            <a:off x="12230100" y="5105400"/>
            <a:ext cx="4876800" cy="3429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20000"/>
              </a:lnSpc>
              <a:buNone/>
              <a:defRPr sz="1800">
                <a:solidFill>
                  <a:srgbClr val="073763"/>
                </a:solidFill>
              </a:defRPr>
            </a:pPr>
            <a:r>
              <a:rPr sz="1800">
                <a:solidFill>
                  <a:srgbClr val="073763"/>
                </a:solidFill>
              </a:rPr>
              <a:t>- Highlights roll-offs, bench risk, and overload ahead.</a:t>
            </a:r>
          </a:p>
        </p:txBody>
      </p:sp>
      <p:sp>
        <p:nvSpPr>
          <p:cNvPr id="16" name="list.Forecast utilization.item.3">
            <a:extLst xmlns:a="http://schemas.openxmlformats.org/drawingml/2006/main">
              <a:ext uri="{FF2B5EF4-FFF2-40B4-BE49-F238E27FC236}">
                <a16:creationId xmlns:a16="http://schemas.microsoft.com/office/drawing/2014/main" id="{36668369-5C96-43F0-8B74-0D27F3630F16}"/>
              </a:ext>
            </a:extLst>
          </p:cNvPr>
          <p:cNvSpPr>
            <a:spLocks xmlns:a="http://schemas.openxmlformats.org/drawingml/2006/main" noGrp="1"/>
          </p:cNvSpPr>
          <p:nvPr/>
        </p:nvSpPr>
        <p:spPr>
          <a:xfrm xmlns:a="http://schemas.openxmlformats.org/drawingml/2006/main">
            <a:off x="12230100" y="5562600"/>
            <a:ext cx="4572000" cy="3429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20000"/>
              </a:lnSpc>
              <a:buNone/>
              <a:defRPr sz="1800">
                <a:solidFill>
                  <a:srgbClr val="073763"/>
                </a:solidFill>
              </a:defRPr>
            </a:pPr>
            <a:r>
              <a:rPr sz="1800">
                <a:solidFill>
                  <a:srgbClr val="073763"/>
                </a:solidFill>
              </a:rPr>
              <a:t>- Answers: where will staffing pressure land next?</a:t>
            </a:r>
          </a:p>
        </p:txBody>
      </p:sp>
      <p:sp>
        <p:nvSpPr>
          <p:cNvPr id="17" name="">
            <a:extLst xmlns:a="http://schemas.openxmlformats.org/drawingml/2006/main">
              <a:ext uri="{FF2B5EF4-FFF2-40B4-BE49-F238E27FC236}">
                <a16:creationId xmlns:a16="http://schemas.microsoft.com/office/drawing/2014/main" id="{F29F1BDB-37B0-4BC9-95B3-A7FA82AA7F41}"/>
              </a:ext>
            </a:extLst>
          </p:cNvPr>
          <p:cNvSpPr>
            <a:spLocks xmlns:a="http://schemas.openxmlformats.org/drawingml/2006/main" noGrp="1"/>
          </p:cNvSpPr>
          <p:nvPr/>
        </p:nvSpPr>
        <p:spPr>
          <a:xfrm xmlns:a="http://schemas.openxmlformats.org/drawingml/2006/main">
            <a:off x="914400" y="7181850"/>
            <a:ext cx="16459200" cy="19050"/>
          </a:xfrm>
          <a:prstGeom xmlns:a="http://schemas.openxmlformats.org/drawingml/2006/main" prst="rect">
            <a:avLst/>
          </a:prstGeom>
          <a:solidFill xmlns:a="http://schemas.openxmlformats.org/drawingml/2006/main">
            <a:srgbClr val="D7DEE7"/>
          </a:solidFill>
          <a:ln xmlns:a="http://schemas.openxmlformats.org/drawingml/2006/main" w="0">
            <a:solidFill>
              <a:srgbClr val="D7DEE7"/>
            </a:solidFill>
            <a:prstDash val="solid"/>
          </a:ln>
        </p:spPr>
      </p:sp>
      <p:sp>
        <p:nvSpPr>
          <p:cNvPr id="18" name="stat.Eligibility policy.label">
            <a:extLst xmlns:a="http://schemas.openxmlformats.org/drawingml/2006/main">
              <a:ext uri="{FF2B5EF4-FFF2-40B4-BE49-F238E27FC236}">
                <a16:creationId xmlns:a16="http://schemas.microsoft.com/office/drawing/2014/main" id="{C06CDDC3-E9BB-48A7-AECE-893CACF3DA1B}"/>
              </a:ext>
            </a:extLst>
          </p:cNvPr>
          <p:cNvSpPr>
            <a:spLocks xmlns:a="http://schemas.openxmlformats.org/drawingml/2006/main" noGrp="1"/>
          </p:cNvSpPr>
          <p:nvPr/>
        </p:nvSpPr>
        <p:spPr>
          <a:xfrm xmlns:a="http://schemas.openxmlformats.org/drawingml/2006/main">
            <a:off x="914400" y="7505700"/>
            <a:ext cx="79248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b="1">
                <a:solidFill>
                  <a:srgbClr val="8B9AAF"/>
                </a:solidFill>
              </a:defRPr>
            </a:pPr>
            <a:r>
              <a:rPr sz="1200" b="1">
                <a:solidFill>
                  <a:srgbClr val="8B9AAF"/>
                </a:solidFill>
              </a:rPr>
              <a:t>ELIGIBILITY POLICY</a:t>
            </a:r>
          </a:p>
        </p:txBody>
      </p:sp>
      <p:sp>
        <p:nvSpPr>
          <p:cNvPr id="19" name="stat.Eligibility policy.body">
            <a:extLst xmlns:a="http://schemas.openxmlformats.org/drawingml/2006/main">
              <a:ext uri="{FF2B5EF4-FFF2-40B4-BE49-F238E27FC236}">
                <a16:creationId xmlns:a16="http://schemas.microsoft.com/office/drawing/2014/main" id="{94E55EAC-2904-4748-9245-2CF9FA8305E3}"/>
              </a:ext>
            </a:extLst>
          </p:cNvPr>
          <p:cNvSpPr>
            <a:spLocks xmlns:a="http://schemas.openxmlformats.org/drawingml/2006/main" noGrp="1"/>
          </p:cNvSpPr>
          <p:nvPr/>
        </p:nvSpPr>
        <p:spPr>
          <a:xfrm xmlns:a="http://schemas.openxmlformats.org/drawingml/2006/main">
            <a:off x="914400" y="7791450"/>
            <a:ext cx="7924800" cy="1314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12000"/>
              </a:lnSpc>
              <a:buNone/>
              <a:defRPr sz="2550" b="1">
                <a:solidFill>
                  <a:srgbClr val="073763"/>
                </a:solidFill>
              </a:defRPr>
            </a:pPr>
            <a:r>
              <a:rPr sz="2550" b="1">
                <a:solidFill>
                  <a:srgbClr val="073763"/>
                </a:solidFill>
              </a:rPr>
              <a:t>Admin, HR, and Country Director governance users remain in the app but are excluded from delivery-utilization denominators.</a:t>
            </a:r>
          </a:p>
        </p:txBody>
      </p:sp>
      <p:sp>
        <p:nvSpPr>
          <p:cNvPr id="20" name="stat.PM treatment.label">
            <a:extLst xmlns:a="http://schemas.openxmlformats.org/drawingml/2006/main">
              <a:ext uri="{FF2B5EF4-FFF2-40B4-BE49-F238E27FC236}">
                <a16:creationId xmlns:a16="http://schemas.microsoft.com/office/drawing/2014/main" id="{D7E4D93D-0FF8-40B2-9346-E46B17078C5F}"/>
              </a:ext>
            </a:extLst>
          </p:cNvPr>
          <p:cNvSpPr>
            <a:spLocks xmlns:a="http://schemas.openxmlformats.org/drawingml/2006/main" noGrp="1"/>
          </p:cNvSpPr>
          <p:nvPr/>
        </p:nvSpPr>
        <p:spPr>
          <a:xfrm xmlns:a="http://schemas.openxmlformats.org/drawingml/2006/main">
            <a:off x="9448800" y="7505700"/>
            <a:ext cx="79248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b="1">
                <a:solidFill>
                  <a:srgbClr val="8B9AAF"/>
                </a:solidFill>
              </a:defRPr>
            </a:pPr>
            <a:r>
              <a:rPr sz="1200" b="1">
                <a:solidFill>
                  <a:srgbClr val="8B9AAF"/>
                </a:solidFill>
              </a:rPr>
              <a:t>PM TREATMENT</a:t>
            </a:r>
          </a:p>
        </p:txBody>
      </p:sp>
      <p:sp>
        <p:nvSpPr>
          <p:cNvPr id="21" name="stat.PM treatment.body">
            <a:extLst xmlns:a="http://schemas.openxmlformats.org/drawingml/2006/main">
              <a:ext uri="{FF2B5EF4-FFF2-40B4-BE49-F238E27FC236}">
                <a16:creationId xmlns:a16="http://schemas.microsoft.com/office/drawing/2014/main" id="{771410F3-2CA6-413D-9CBD-9B9DD59BEC5E}"/>
              </a:ext>
            </a:extLst>
          </p:cNvPr>
          <p:cNvSpPr>
            <a:spLocks xmlns:a="http://schemas.openxmlformats.org/drawingml/2006/main" noGrp="1"/>
          </p:cNvSpPr>
          <p:nvPr/>
        </p:nvSpPr>
        <p:spPr>
          <a:xfrm xmlns:a="http://schemas.openxmlformats.org/drawingml/2006/main">
            <a:off x="9448800" y="7791450"/>
            <a:ext cx="7924800" cy="8763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12000"/>
              </a:lnSpc>
              <a:buNone/>
              <a:defRPr sz="2550" b="1">
                <a:solidFill>
                  <a:srgbClr val="073763"/>
                </a:solidFill>
              </a:defRPr>
            </a:pPr>
            <a:r>
              <a:rPr sz="2550" b="1">
                <a:solidFill>
                  <a:srgbClr val="073763"/>
                </a:solidFill>
              </a:rPr>
              <a:t>Project Managers count in utilization only when they hold active project allocation.</a:t>
            </a:r>
          </a:p>
        </p:txBody>
      </p:sp>
    </p:spTree>
    <p:extLst>
      <p:ext uri="{BB962C8B-B14F-4D97-AF65-F5344CB8AC3E}">
        <p14:creationId xmlns:p14="http://schemas.microsoft.com/office/powerpoint/2010/main" val="598323052"/>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 name="slide-7.title.kicker">
            <a:extLst xmlns:a="http://schemas.openxmlformats.org/drawingml/2006/main">
              <a:ext uri="{FF2B5EF4-FFF2-40B4-BE49-F238E27FC236}">
                <a16:creationId xmlns:a16="http://schemas.microsoft.com/office/drawing/2014/main" id="{7421B01D-34B7-4E68-B731-D94E199C1E44}"/>
              </a:ext>
            </a:extLst>
          </p:cNvPr>
          <p:cNvSpPr>
            <a:spLocks xmlns:a="http://schemas.openxmlformats.org/drawingml/2006/main" noGrp="1"/>
          </p:cNvSpPr>
          <p:nvPr/>
        </p:nvSpPr>
        <p:spPr>
          <a:xfrm xmlns:a="http://schemas.openxmlformats.org/drawingml/2006/main">
            <a:off x="914400" y="762000"/>
            <a:ext cx="1645920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b="1">
                <a:solidFill>
                  <a:srgbClr val="EF7D00"/>
                </a:solidFill>
              </a:defRPr>
            </a:pPr>
            <a:r>
              <a:rPr sz="1350" b="1">
                <a:solidFill>
                  <a:srgbClr val="EF7D00"/>
                </a:solidFill>
              </a:rPr>
              <a:t>CONTROL SURFACES THAT MATTER</a:t>
            </a:r>
          </a:p>
        </p:txBody>
      </p:sp>
      <p:sp>
        <p:nvSpPr>
          <p:cNvPr id="2" name="slide-7.title.title">
            <a:extLst xmlns:a="http://schemas.openxmlformats.org/drawingml/2006/main">
              <a:ext uri="{FF2B5EF4-FFF2-40B4-BE49-F238E27FC236}">
                <a16:creationId xmlns:a16="http://schemas.microsoft.com/office/drawing/2014/main" id="{55B10106-1343-439C-9C45-B1DDEE9811B4}"/>
              </a:ext>
            </a:extLst>
          </p:cNvPr>
          <p:cNvSpPr>
            <a:spLocks xmlns:a="http://schemas.openxmlformats.org/drawingml/2006/main" noGrp="1"/>
          </p:cNvSpPr>
          <p:nvPr/>
        </p:nvSpPr>
        <p:spPr>
          <a:xfrm xmlns:a="http://schemas.openxmlformats.org/drawingml/2006/main">
            <a:off x="914400" y="1123950"/>
            <a:ext cx="13030200" cy="12573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05000"/>
              </a:lnSpc>
              <a:buNone/>
              <a:defRPr sz="3900" b="1">
                <a:solidFill>
                  <a:srgbClr val="073763"/>
                </a:solidFill>
              </a:defRPr>
            </a:pPr>
            <a:r>
              <a:rPr sz="3900" b="1">
                <a:solidFill>
                  <a:srgbClr val="073763"/>
                </a:solidFill>
              </a:rPr>
              <a:t>The product is not only about dashboards. Its value depends on approvals, auditability, and governed master-data change.</a:t>
            </a:r>
          </a:p>
        </p:txBody>
      </p:sp>
      <p:sp>
        <p:nvSpPr>
          <p:cNvPr id="3" name="slide-7.title.rule">
            <a:extLst xmlns:a="http://schemas.openxmlformats.org/drawingml/2006/main">
              <a:ext uri="{FF2B5EF4-FFF2-40B4-BE49-F238E27FC236}">
                <a16:creationId xmlns:a16="http://schemas.microsoft.com/office/drawing/2014/main" id="{2917D3E0-114F-4F54-A6EA-C8D68D4BEE5C}"/>
              </a:ext>
            </a:extLst>
          </p:cNvPr>
          <p:cNvSpPr>
            <a:spLocks xmlns:a="http://schemas.openxmlformats.org/drawingml/2006/main" noGrp="1"/>
          </p:cNvSpPr>
          <p:nvPr/>
        </p:nvSpPr>
        <p:spPr>
          <a:xfrm xmlns:a="http://schemas.openxmlformats.org/drawingml/2006/main">
            <a:off x="914400" y="2514600"/>
            <a:ext cx="2095500" cy="57150"/>
          </a:xfrm>
          <a:prstGeom xmlns:a="http://schemas.openxmlformats.org/drawingml/2006/main" prst="rect">
            <a:avLst/>
          </a:prstGeom>
          <a:solidFill xmlns:a="http://schemas.openxmlformats.org/drawingml/2006/main">
            <a:srgbClr val="EF7D00"/>
          </a:solidFill>
          <a:ln xmlns:a="http://schemas.openxmlformats.org/drawingml/2006/main" w="0">
            <a:solidFill>
              <a:srgbClr val="EF7D00"/>
            </a:solidFill>
            <a:prstDash val="solid"/>
          </a:ln>
        </p:spPr>
      </p:sp>
      <p:sp>
        <p:nvSpPr>
          <p:cNvPr id="4" name="slide-7.title.subtitle">
            <a:extLst xmlns:a="http://schemas.openxmlformats.org/drawingml/2006/main">
              <a:ext uri="{FF2B5EF4-FFF2-40B4-BE49-F238E27FC236}">
                <a16:creationId xmlns:a16="http://schemas.microsoft.com/office/drawing/2014/main" id="{3B781102-929C-4C94-88F7-A7C3CB473478}"/>
              </a:ext>
            </a:extLst>
          </p:cNvPr>
          <p:cNvSpPr>
            <a:spLocks xmlns:a="http://schemas.openxmlformats.org/drawingml/2006/main" noGrp="1"/>
          </p:cNvSpPr>
          <p:nvPr/>
        </p:nvSpPr>
        <p:spPr>
          <a:xfrm xmlns:a="http://schemas.openxmlformats.org/drawingml/2006/main">
            <a:off x="914400" y="2724150"/>
            <a:ext cx="6762750" cy="3429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22000"/>
              </a:lnSpc>
              <a:buNone/>
              <a:defRPr sz="1800">
                <a:solidFill>
                  <a:srgbClr val="526375"/>
                </a:solidFill>
              </a:defRPr>
            </a:pPr>
            <a:r>
              <a:rPr sz="1800">
                <a:solidFill>
                  <a:srgbClr val="526375"/>
                </a:solidFill>
              </a:rPr>
              <a:t>This is what makes leadership reporting defendable instead of anecdotal.</a:t>
            </a:r>
          </a:p>
        </p:txBody>
      </p:sp>
      <p:sp>
        <p:nvSpPr>
          <p:cNvPr id="5" name="stat.Timesheet governance.label">
            <a:extLst xmlns:a="http://schemas.openxmlformats.org/drawingml/2006/main">
              <a:ext uri="{FF2B5EF4-FFF2-40B4-BE49-F238E27FC236}">
                <a16:creationId xmlns:a16="http://schemas.microsoft.com/office/drawing/2014/main" id="{FEA5ECBC-CB4D-493D-80E7-801FD1089DD7}"/>
              </a:ext>
            </a:extLst>
          </p:cNvPr>
          <p:cNvSpPr>
            <a:spLocks xmlns:a="http://schemas.openxmlformats.org/drawingml/2006/main" noGrp="1"/>
          </p:cNvSpPr>
          <p:nvPr/>
        </p:nvSpPr>
        <p:spPr>
          <a:xfrm xmlns:a="http://schemas.openxmlformats.org/drawingml/2006/main">
            <a:off x="914400" y="3390900"/>
            <a:ext cx="79629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b="1">
                <a:solidFill>
                  <a:srgbClr val="8B9AAF"/>
                </a:solidFill>
              </a:defRPr>
            </a:pPr>
            <a:r>
              <a:rPr sz="1200" b="1">
                <a:solidFill>
                  <a:srgbClr val="8B9AAF"/>
                </a:solidFill>
              </a:rPr>
              <a:t>TIMESHEET GOVERNANCE</a:t>
            </a:r>
          </a:p>
        </p:txBody>
      </p:sp>
      <p:sp>
        <p:nvSpPr>
          <p:cNvPr id="6" name="stat.Timesheet governance.body">
            <a:extLst xmlns:a="http://schemas.openxmlformats.org/drawingml/2006/main">
              <a:ext uri="{FF2B5EF4-FFF2-40B4-BE49-F238E27FC236}">
                <a16:creationId xmlns:a16="http://schemas.microsoft.com/office/drawing/2014/main" id="{1126F023-2673-426C-87D7-76E0D41116AC}"/>
              </a:ext>
            </a:extLst>
          </p:cNvPr>
          <p:cNvSpPr>
            <a:spLocks xmlns:a="http://schemas.openxmlformats.org/drawingml/2006/main" noGrp="1"/>
          </p:cNvSpPr>
          <p:nvPr/>
        </p:nvSpPr>
        <p:spPr>
          <a:xfrm xmlns:a="http://schemas.openxmlformats.org/drawingml/2006/main">
            <a:off x="914400" y="3657600"/>
            <a:ext cx="7962900" cy="8763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12000"/>
              </a:lnSpc>
              <a:buNone/>
              <a:defRPr sz="2550" b="1">
                <a:solidFill>
                  <a:srgbClr val="073763"/>
                </a:solidFill>
              </a:defRPr>
            </a:pPr>
            <a:r>
              <a:rPr sz="2550" b="1">
                <a:solidFill>
                  <a:srgbClr val="073763"/>
                </a:solidFill>
              </a:rPr>
              <a:t>Submitted effort is reviewed and either approved or rejected with reason before it influences actual utilization.</a:t>
            </a:r>
          </a:p>
        </p:txBody>
      </p:sp>
      <p:sp>
        <p:nvSpPr>
          <p:cNvPr id="7" name="">
            <a:extLst xmlns:a="http://schemas.openxmlformats.org/drawingml/2006/main">
              <a:ext uri="{FF2B5EF4-FFF2-40B4-BE49-F238E27FC236}">
                <a16:creationId xmlns:a16="http://schemas.microsoft.com/office/drawing/2014/main" id="{283A87A5-F9AB-4054-919F-DCD21D5872CD}"/>
              </a:ext>
            </a:extLst>
          </p:cNvPr>
          <p:cNvSpPr>
            <a:spLocks xmlns:a="http://schemas.openxmlformats.org/drawingml/2006/main" noGrp="1"/>
          </p:cNvSpPr>
          <p:nvPr/>
        </p:nvSpPr>
        <p:spPr>
          <a:xfrm xmlns:a="http://schemas.openxmlformats.org/drawingml/2006/main">
            <a:off x="914400" y="4800600"/>
            <a:ext cx="7962900" cy="19050"/>
          </a:xfrm>
          <a:prstGeom xmlns:a="http://schemas.openxmlformats.org/drawingml/2006/main" prst="rect">
            <a:avLst/>
          </a:prstGeom>
          <a:solidFill xmlns:a="http://schemas.openxmlformats.org/drawingml/2006/main">
            <a:srgbClr val="D7DEE7"/>
          </a:solidFill>
          <a:ln xmlns:a="http://schemas.openxmlformats.org/drawingml/2006/main" w="0">
            <a:solidFill>
              <a:srgbClr val="D7DEE7"/>
            </a:solidFill>
            <a:prstDash val="solid"/>
          </a:ln>
        </p:spPr>
      </p:sp>
      <p:sp>
        <p:nvSpPr>
          <p:cNvPr id="8" name="stat.Audit trail.label">
            <a:extLst xmlns:a="http://schemas.openxmlformats.org/drawingml/2006/main">
              <a:ext uri="{FF2B5EF4-FFF2-40B4-BE49-F238E27FC236}">
                <a16:creationId xmlns:a16="http://schemas.microsoft.com/office/drawing/2014/main" id="{93401A24-4428-4007-8C28-C4D7817C8501}"/>
              </a:ext>
            </a:extLst>
          </p:cNvPr>
          <p:cNvSpPr>
            <a:spLocks xmlns:a="http://schemas.openxmlformats.org/drawingml/2006/main" noGrp="1"/>
          </p:cNvSpPr>
          <p:nvPr/>
        </p:nvSpPr>
        <p:spPr>
          <a:xfrm xmlns:a="http://schemas.openxmlformats.org/drawingml/2006/main">
            <a:off x="914400" y="5086350"/>
            <a:ext cx="79629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b="1">
                <a:solidFill>
                  <a:srgbClr val="8B9AAF"/>
                </a:solidFill>
              </a:defRPr>
            </a:pPr>
            <a:r>
              <a:rPr sz="1200" b="1">
                <a:solidFill>
                  <a:srgbClr val="8B9AAF"/>
                </a:solidFill>
              </a:rPr>
              <a:t>AUDIT TRAIL</a:t>
            </a:r>
          </a:p>
        </p:txBody>
      </p:sp>
      <p:sp>
        <p:nvSpPr>
          <p:cNvPr id="9" name="stat.Audit trail.body">
            <a:extLst xmlns:a="http://schemas.openxmlformats.org/drawingml/2006/main">
              <a:ext uri="{FF2B5EF4-FFF2-40B4-BE49-F238E27FC236}">
                <a16:creationId xmlns:a16="http://schemas.microsoft.com/office/drawing/2014/main" id="{7455CCD4-FEDD-453E-AB4C-D4A3FCE13BB7}"/>
              </a:ext>
            </a:extLst>
          </p:cNvPr>
          <p:cNvSpPr>
            <a:spLocks xmlns:a="http://schemas.openxmlformats.org/drawingml/2006/main" noGrp="1"/>
          </p:cNvSpPr>
          <p:nvPr/>
        </p:nvSpPr>
        <p:spPr>
          <a:xfrm xmlns:a="http://schemas.openxmlformats.org/drawingml/2006/main">
            <a:off x="914400" y="5372100"/>
            <a:ext cx="7962900" cy="8763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12000"/>
              </a:lnSpc>
              <a:buNone/>
              <a:defRPr sz="2550" b="1">
                <a:solidFill>
                  <a:srgbClr val="073763"/>
                </a:solidFill>
              </a:defRPr>
            </a:pPr>
            <a:r>
              <a:rPr sz="2550" b="1">
                <a:solidFill>
                  <a:srgbClr val="073763"/>
                </a:solidFill>
              </a:rPr>
              <a:t>Login, employee, project, allocation, settings, and approval actions are kept visible for operational traceability.</a:t>
            </a:r>
          </a:p>
        </p:txBody>
      </p:sp>
      <p:sp>
        <p:nvSpPr>
          <p:cNvPr id="10" name="">
            <a:extLst xmlns:a="http://schemas.openxmlformats.org/drawingml/2006/main">
              <a:ext uri="{FF2B5EF4-FFF2-40B4-BE49-F238E27FC236}">
                <a16:creationId xmlns:a16="http://schemas.microsoft.com/office/drawing/2014/main" id="{AB5A1A0F-C74B-4187-B610-85A93EBB6822}"/>
              </a:ext>
            </a:extLst>
          </p:cNvPr>
          <p:cNvSpPr>
            <a:spLocks xmlns:a="http://schemas.openxmlformats.org/drawingml/2006/main" noGrp="1"/>
          </p:cNvSpPr>
          <p:nvPr/>
        </p:nvSpPr>
        <p:spPr>
          <a:xfrm xmlns:a="http://schemas.openxmlformats.org/drawingml/2006/main">
            <a:off x="914400" y="6496050"/>
            <a:ext cx="7962900" cy="19050"/>
          </a:xfrm>
          <a:prstGeom xmlns:a="http://schemas.openxmlformats.org/drawingml/2006/main" prst="rect">
            <a:avLst/>
          </a:prstGeom>
          <a:solidFill xmlns:a="http://schemas.openxmlformats.org/drawingml/2006/main">
            <a:srgbClr val="D7DEE7"/>
          </a:solidFill>
          <a:ln xmlns:a="http://schemas.openxmlformats.org/drawingml/2006/main" w="0">
            <a:solidFill>
              <a:srgbClr val="D7DEE7"/>
            </a:solidFill>
            <a:prstDash val="solid"/>
          </a:ln>
        </p:spPr>
      </p:sp>
      <p:sp>
        <p:nvSpPr>
          <p:cNvPr id="11" name="stat.Import and export.label">
            <a:extLst xmlns:a="http://schemas.openxmlformats.org/drawingml/2006/main">
              <a:ext uri="{FF2B5EF4-FFF2-40B4-BE49-F238E27FC236}">
                <a16:creationId xmlns:a16="http://schemas.microsoft.com/office/drawing/2014/main" id="{D8B0F48D-82B3-4AC9-AB6F-1979E776FDE2}"/>
              </a:ext>
            </a:extLst>
          </p:cNvPr>
          <p:cNvSpPr>
            <a:spLocks xmlns:a="http://schemas.openxmlformats.org/drawingml/2006/main" noGrp="1"/>
          </p:cNvSpPr>
          <p:nvPr/>
        </p:nvSpPr>
        <p:spPr>
          <a:xfrm xmlns:a="http://schemas.openxmlformats.org/drawingml/2006/main">
            <a:off x="914400" y="6781800"/>
            <a:ext cx="79629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b="1">
                <a:solidFill>
                  <a:srgbClr val="8B9AAF"/>
                </a:solidFill>
              </a:defRPr>
            </a:pPr>
            <a:r>
              <a:rPr sz="1200" b="1">
                <a:solidFill>
                  <a:srgbClr val="8B9AAF"/>
                </a:solidFill>
              </a:rPr>
              <a:t>IMPORT AND EXPORT</a:t>
            </a:r>
          </a:p>
        </p:txBody>
      </p:sp>
      <p:sp>
        <p:nvSpPr>
          <p:cNvPr id="12" name="stat.Import and export.body">
            <a:extLst xmlns:a="http://schemas.openxmlformats.org/drawingml/2006/main">
              <a:ext uri="{FF2B5EF4-FFF2-40B4-BE49-F238E27FC236}">
                <a16:creationId xmlns:a16="http://schemas.microsoft.com/office/drawing/2014/main" id="{3790D4F4-F5A9-4407-A4C4-1BBEF6CFD00D}"/>
              </a:ext>
            </a:extLst>
          </p:cNvPr>
          <p:cNvSpPr>
            <a:spLocks xmlns:a="http://schemas.openxmlformats.org/drawingml/2006/main" noGrp="1"/>
          </p:cNvSpPr>
          <p:nvPr/>
        </p:nvSpPr>
        <p:spPr>
          <a:xfrm xmlns:a="http://schemas.openxmlformats.org/drawingml/2006/main">
            <a:off x="914400" y="7067550"/>
            <a:ext cx="7962900" cy="8763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12000"/>
              </a:lnSpc>
              <a:buNone/>
              <a:defRPr sz="2550" b="1">
                <a:solidFill>
                  <a:srgbClr val="073763"/>
                </a:solidFill>
              </a:defRPr>
            </a:pPr>
            <a:r>
              <a:rPr sz="2550" b="1">
                <a:solidFill>
                  <a:srgbClr val="073763"/>
                </a:solidFill>
              </a:rPr>
              <a:t>Bulk updates and leadership reporting stay controlled instead of becoming ad hoc spreadsheet side channels.</a:t>
            </a:r>
          </a:p>
        </p:txBody>
      </p:sp>
      <p:sp>
        <p:nvSpPr>
          <p:cNvPr id="13" name="stat.Catalog governance.label">
            <a:extLst xmlns:a="http://schemas.openxmlformats.org/drawingml/2006/main">
              <a:ext uri="{FF2B5EF4-FFF2-40B4-BE49-F238E27FC236}">
                <a16:creationId xmlns:a16="http://schemas.microsoft.com/office/drawing/2014/main" id="{ABA1924A-C5A8-4F3D-A137-F5A517228F16}"/>
              </a:ext>
            </a:extLst>
          </p:cNvPr>
          <p:cNvSpPr>
            <a:spLocks xmlns:a="http://schemas.openxmlformats.org/drawingml/2006/main" noGrp="1"/>
          </p:cNvSpPr>
          <p:nvPr/>
        </p:nvSpPr>
        <p:spPr>
          <a:xfrm xmlns:a="http://schemas.openxmlformats.org/drawingml/2006/main">
            <a:off x="9410700" y="3390900"/>
            <a:ext cx="79629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b="1">
                <a:solidFill>
                  <a:srgbClr val="8B9AAF"/>
                </a:solidFill>
              </a:defRPr>
            </a:pPr>
            <a:r>
              <a:rPr sz="1200" b="1">
                <a:solidFill>
                  <a:srgbClr val="8B9AAF"/>
                </a:solidFill>
              </a:rPr>
              <a:t>CATALOG GOVERNANCE</a:t>
            </a:r>
          </a:p>
        </p:txBody>
      </p:sp>
      <p:sp>
        <p:nvSpPr>
          <p:cNvPr id="14" name="stat.Catalog governance.body">
            <a:extLst xmlns:a="http://schemas.openxmlformats.org/drawingml/2006/main">
              <a:ext uri="{FF2B5EF4-FFF2-40B4-BE49-F238E27FC236}">
                <a16:creationId xmlns:a16="http://schemas.microsoft.com/office/drawing/2014/main" id="{255AA9F5-0F31-421E-9529-FB467888E589}"/>
              </a:ext>
            </a:extLst>
          </p:cNvPr>
          <p:cNvSpPr>
            <a:spLocks xmlns:a="http://schemas.openxmlformats.org/drawingml/2006/main" noGrp="1"/>
          </p:cNvSpPr>
          <p:nvPr/>
        </p:nvSpPr>
        <p:spPr>
          <a:xfrm xmlns:a="http://schemas.openxmlformats.org/drawingml/2006/main">
            <a:off x="9410700" y="3657600"/>
            <a:ext cx="7962900" cy="13144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12000"/>
              </a:lnSpc>
              <a:buNone/>
              <a:defRPr sz="2550" b="1">
                <a:solidFill>
                  <a:srgbClr val="073763"/>
                </a:solidFill>
              </a:defRPr>
            </a:pPr>
            <a:r>
              <a:rPr sz="2550" b="1">
                <a:solidFill>
                  <a:srgbClr val="073763"/>
                </a:solidFill>
              </a:rPr>
              <a:t>Roles, departments, countries, industries, and Country Directors are managed centrally so downstream filters and reports stay clean.</a:t>
            </a:r>
          </a:p>
        </p:txBody>
      </p:sp>
      <p:sp>
        <p:nvSpPr>
          <p:cNvPr id="15" name="">
            <a:extLst xmlns:a="http://schemas.openxmlformats.org/drawingml/2006/main">
              <a:ext uri="{FF2B5EF4-FFF2-40B4-BE49-F238E27FC236}">
                <a16:creationId xmlns:a16="http://schemas.microsoft.com/office/drawing/2014/main" id="{2CE29707-909F-4BC0-ADA9-D36B9A238699}"/>
              </a:ext>
            </a:extLst>
          </p:cNvPr>
          <p:cNvSpPr>
            <a:spLocks xmlns:a="http://schemas.openxmlformats.org/drawingml/2006/main" noGrp="1"/>
          </p:cNvSpPr>
          <p:nvPr/>
        </p:nvSpPr>
        <p:spPr>
          <a:xfrm xmlns:a="http://schemas.openxmlformats.org/drawingml/2006/main">
            <a:off x="9410700" y="5238750"/>
            <a:ext cx="7962900" cy="19050"/>
          </a:xfrm>
          <a:prstGeom xmlns:a="http://schemas.openxmlformats.org/drawingml/2006/main" prst="rect">
            <a:avLst/>
          </a:prstGeom>
          <a:solidFill xmlns:a="http://schemas.openxmlformats.org/drawingml/2006/main">
            <a:srgbClr val="D7DEE7"/>
          </a:solidFill>
          <a:ln xmlns:a="http://schemas.openxmlformats.org/drawingml/2006/main" w="0">
            <a:solidFill>
              <a:srgbClr val="D7DEE7"/>
            </a:solidFill>
            <a:prstDash val="solid"/>
          </a:ln>
        </p:spPr>
      </p:sp>
      <p:sp>
        <p:nvSpPr>
          <p:cNvPr id="16" name="stat.Scoped visibility.label">
            <a:extLst xmlns:a="http://schemas.openxmlformats.org/drawingml/2006/main">
              <a:ext uri="{FF2B5EF4-FFF2-40B4-BE49-F238E27FC236}">
                <a16:creationId xmlns:a16="http://schemas.microsoft.com/office/drawing/2014/main" id="{7431B748-2642-44D6-B674-E4BB3744D681}"/>
              </a:ext>
            </a:extLst>
          </p:cNvPr>
          <p:cNvSpPr>
            <a:spLocks xmlns:a="http://schemas.openxmlformats.org/drawingml/2006/main" noGrp="1"/>
          </p:cNvSpPr>
          <p:nvPr/>
        </p:nvSpPr>
        <p:spPr>
          <a:xfrm xmlns:a="http://schemas.openxmlformats.org/drawingml/2006/main">
            <a:off x="9410700" y="5524500"/>
            <a:ext cx="79629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b="1">
                <a:solidFill>
                  <a:srgbClr val="8B9AAF"/>
                </a:solidFill>
              </a:defRPr>
            </a:pPr>
            <a:r>
              <a:rPr sz="1200" b="1">
                <a:solidFill>
                  <a:srgbClr val="8B9AAF"/>
                </a:solidFill>
              </a:rPr>
              <a:t>SCOPED VISIBILITY</a:t>
            </a:r>
          </a:p>
        </p:txBody>
      </p:sp>
      <p:sp>
        <p:nvSpPr>
          <p:cNvPr id="17" name="stat.Scoped visibility.body">
            <a:extLst xmlns:a="http://schemas.openxmlformats.org/drawingml/2006/main">
              <a:ext uri="{FF2B5EF4-FFF2-40B4-BE49-F238E27FC236}">
                <a16:creationId xmlns:a16="http://schemas.microsoft.com/office/drawing/2014/main" id="{0D27CB3A-DBD7-468D-BD33-E2FAAD541815}"/>
              </a:ext>
            </a:extLst>
          </p:cNvPr>
          <p:cNvSpPr>
            <a:spLocks xmlns:a="http://schemas.openxmlformats.org/drawingml/2006/main" noGrp="1"/>
          </p:cNvSpPr>
          <p:nvPr/>
        </p:nvSpPr>
        <p:spPr>
          <a:xfrm xmlns:a="http://schemas.openxmlformats.org/drawingml/2006/main">
            <a:off x="9410700" y="5810250"/>
            <a:ext cx="7962900" cy="8763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12000"/>
              </a:lnSpc>
              <a:buNone/>
              <a:defRPr sz="2550" b="1">
                <a:solidFill>
                  <a:srgbClr val="073763"/>
                </a:solidFill>
              </a:defRPr>
            </a:pPr>
            <a:r>
              <a:rPr sz="2550" b="1">
                <a:solidFill>
                  <a:srgbClr val="073763"/>
                </a:solidFill>
              </a:rPr>
              <a:t>Country Directors, PMs, HR, Admin, and employees see the right depth of data for their role and decision surface.</a:t>
            </a:r>
          </a:p>
        </p:txBody>
      </p:sp>
      <p:sp>
        <p:nvSpPr>
          <p:cNvPr id="18" name="">
            <a:extLst xmlns:a="http://schemas.openxmlformats.org/drawingml/2006/main">
              <a:ext uri="{FF2B5EF4-FFF2-40B4-BE49-F238E27FC236}">
                <a16:creationId xmlns:a16="http://schemas.microsoft.com/office/drawing/2014/main" id="{1CBD533D-1E21-446F-B9BA-8D46C42B7EC0}"/>
              </a:ext>
            </a:extLst>
          </p:cNvPr>
          <p:cNvSpPr>
            <a:spLocks xmlns:a="http://schemas.openxmlformats.org/drawingml/2006/main" noGrp="1"/>
          </p:cNvSpPr>
          <p:nvPr/>
        </p:nvSpPr>
        <p:spPr>
          <a:xfrm xmlns:a="http://schemas.openxmlformats.org/drawingml/2006/main">
            <a:off x="9410700" y="6934200"/>
            <a:ext cx="7962900" cy="19050"/>
          </a:xfrm>
          <a:prstGeom xmlns:a="http://schemas.openxmlformats.org/drawingml/2006/main" prst="rect">
            <a:avLst/>
          </a:prstGeom>
          <a:solidFill xmlns:a="http://schemas.openxmlformats.org/drawingml/2006/main">
            <a:srgbClr val="D7DEE7"/>
          </a:solidFill>
          <a:ln xmlns:a="http://schemas.openxmlformats.org/drawingml/2006/main" w="0">
            <a:solidFill>
              <a:srgbClr val="D7DEE7"/>
            </a:solidFill>
            <a:prstDash val="solid"/>
          </a:ln>
        </p:spPr>
      </p:sp>
      <p:sp>
        <p:nvSpPr>
          <p:cNvPr id="19" name="stat.Search and drilldown.label">
            <a:extLst xmlns:a="http://schemas.openxmlformats.org/drawingml/2006/main">
              <a:ext uri="{FF2B5EF4-FFF2-40B4-BE49-F238E27FC236}">
                <a16:creationId xmlns:a16="http://schemas.microsoft.com/office/drawing/2014/main" id="{75E6B336-8B2A-4DB6-96FD-3518327CD131}"/>
              </a:ext>
            </a:extLst>
          </p:cNvPr>
          <p:cNvSpPr>
            <a:spLocks xmlns:a="http://schemas.openxmlformats.org/drawingml/2006/main" noGrp="1"/>
          </p:cNvSpPr>
          <p:nvPr/>
        </p:nvSpPr>
        <p:spPr>
          <a:xfrm xmlns:a="http://schemas.openxmlformats.org/drawingml/2006/main">
            <a:off x="9410700" y="7219950"/>
            <a:ext cx="796290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b="1">
                <a:solidFill>
                  <a:srgbClr val="8B9AAF"/>
                </a:solidFill>
              </a:defRPr>
            </a:pPr>
            <a:r>
              <a:rPr sz="1200" b="1">
                <a:solidFill>
                  <a:srgbClr val="8B9AAF"/>
                </a:solidFill>
              </a:rPr>
              <a:t>SEARCH AND DRILLDOWN</a:t>
            </a:r>
          </a:p>
        </p:txBody>
      </p:sp>
      <p:sp>
        <p:nvSpPr>
          <p:cNvPr id="20" name="stat.Search and drilldown.body">
            <a:extLst xmlns:a="http://schemas.openxmlformats.org/drawingml/2006/main">
              <a:ext uri="{FF2B5EF4-FFF2-40B4-BE49-F238E27FC236}">
                <a16:creationId xmlns:a16="http://schemas.microsoft.com/office/drawing/2014/main" id="{C66BB9ED-6157-4778-8BA3-1A4D09985487}"/>
              </a:ext>
            </a:extLst>
          </p:cNvPr>
          <p:cNvSpPr>
            <a:spLocks xmlns:a="http://schemas.openxmlformats.org/drawingml/2006/main" noGrp="1"/>
          </p:cNvSpPr>
          <p:nvPr/>
        </p:nvSpPr>
        <p:spPr>
          <a:xfrm xmlns:a="http://schemas.openxmlformats.org/drawingml/2006/main">
            <a:off x="9410700" y="7505700"/>
            <a:ext cx="7962900" cy="8763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12000"/>
              </a:lnSpc>
              <a:buNone/>
              <a:defRPr sz="2550" b="1">
                <a:solidFill>
                  <a:srgbClr val="073763"/>
                </a:solidFill>
              </a:defRPr>
            </a:pPr>
            <a:r>
              <a:rPr sz="2550" b="1">
                <a:solidFill>
                  <a:srgbClr val="073763"/>
                </a:solidFill>
              </a:rPr>
              <a:t>The fastest path is search or dashboard signal first, then navigation to the owning screen for edits.</a:t>
            </a:r>
          </a:p>
        </p:txBody>
      </p:sp>
    </p:spTree>
    <p:extLst>
      <p:ext uri="{BB962C8B-B14F-4D97-AF65-F5344CB8AC3E}">
        <p14:creationId xmlns:p14="http://schemas.microsoft.com/office/powerpoint/2010/main" val="1304046662"/>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 name="slide-8.title.kicker">
            <a:extLst xmlns:a="http://schemas.openxmlformats.org/drawingml/2006/main">
              <a:ext uri="{FF2B5EF4-FFF2-40B4-BE49-F238E27FC236}">
                <a16:creationId xmlns:a16="http://schemas.microsoft.com/office/drawing/2014/main" id="{892CBB7D-134C-4A20-97F6-F86CE6956511}"/>
              </a:ext>
            </a:extLst>
          </p:cNvPr>
          <p:cNvSpPr>
            <a:spLocks xmlns:a="http://schemas.openxmlformats.org/drawingml/2006/main" noGrp="1"/>
          </p:cNvSpPr>
          <p:nvPr/>
        </p:nvSpPr>
        <p:spPr>
          <a:xfrm xmlns:a="http://schemas.openxmlformats.org/drawingml/2006/main">
            <a:off x="914400" y="762000"/>
            <a:ext cx="1645920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350" b="1">
                <a:solidFill>
                  <a:srgbClr val="EF7D00"/>
                </a:solidFill>
              </a:defRPr>
            </a:pPr>
            <a:r>
              <a:rPr sz="1350" b="1">
                <a:solidFill>
                  <a:srgbClr val="EF7D00"/>
                </a:solidFill>
              </a:rPr>
              <a:t>LEADERSHIP ADOPTION MODEL</a:t>
            </a:r>
          </a:p>
        </p:txBody>
      </p:sp>
      <p:sp>
        <p:nvSpPr>
          <p:cNvPr id="2" name="slide-8.title.title">
            <a:extLst xmlns:a="http://schemas.openxmlformats.org/drawingml/2006/main">
              <a:ext uri="{FF2B5EF4-FFF2-40B4-BE49-F238E27FC236}">
                <a16:creationId xmlns:a16="http://schemas.microsoft.com/office/drawing/2014/main" id="{5C3523C9-6B9F-4839-B9CF-ABD1F5DD9E56}"/>
              </a:ext>
            </a:extLst>
          </p:cNvPr>
          <p:cNvSpPr>
            <a:spLocks xmlns:a="http://schemas.openxmlformats.org/drawingml/2006/main" noGrp="1"/>
          </p:cNvSpPr>
          <p:nvPr/>
        </p:nvSpPr>
        <p:spPr>
          <a:xfrm xmlns:a="http://schemas.openxmlformats.org/drawingml/2006/main">
            <a:off x="914400" y="1123950"/>
            <a:ext cx="14116050" cy="12573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05000"/>
              </a:lnSpc>
              <a:buNone/>
              <a:defRPr sz="3900" b="1">
                <a:solidFill>
                  <a:srgbClr val="073763"/>
                </a:solidFill>
              </a:defRPr>
            </a:pPr>
            <a:r>
              <a:rPr sz="3900" b="1">
                <a:solidFill>
                  <a:srgbClr val="073763"/>
                </a:solidFill>
              </a:rPr>
              <a:t>The tracker becomes useful when the business runs a weekly rhythm around planning, submission, approval, and follow-up.</a:t>
            </a:r>
          </a:p>
        </p:txBody>
      </p:sp>
      <p:sp>
        <p:nvSpPr>
          <p:cNvPr id="3" name="slide-8.title.rule">
            <a:extLst xmlns:a="http://schemas.openxmlformats.org/drawingml/2006/main">
              <a:ext uri="{FF2B5EF4-FFF2-40B4-BE49-F238E27FC236}">
                <a16:creationId xmlns:a16="http://schemas.microsoft.com/office/drawing/2014/main" id="{058A939A-C96F-4DD7-96E7-6AB246E03C43}"/>
              </a:ext>
            </a:extLst>
          </p:cNvPr>
          <p:cNvSpPr>
            <a:spLocks xmlns:a="http://schemas.openxmlformats.org/drawingml/2006/main" noGrp="1"/>
          </p:cNvSpPr>
          <p:nvPr/>
        </p:nvSpPr>
        <p:spPr>
          <a:xfrm xmlns:a="http://schemas.openxmlformats.org/drawingml/2006/main">
            <a:off x="914400" y="2514600"/>
            <a:ext cx="2095500" cy="57150"/>
          </a:xfrm>
          <a:prstGeom xmlns:a="http://schemas.openxmlformats.org/drawingml/2006/main" prst="rect">
            <a:avLst/>
          </a:prstGeom>
          <a:solidFill xmlns:a="http://schemas.openxmlformats.org/drawingml/2006/main">
            <a:srgbClr val="EF7D00"/>
          </a:solidFill>
          <a:ln xmlns:a="http://schemas.openxmlformats.org/drawingml/2006/main" w="0">
            <a:solidFill>
              <a:srgbClr val="EF7D00"/>
            </a:solidFill>
            <a:prstDash val="solid"/>
          </a:ln>
        </p:spPr>
      </p:sp>
      <p:sp>
        <p:nvSpPr>
          <p:cNvPr id="4" name="slide-8.title.subtitle">
            <a:extLst xmlns:a="http://schemas.openxmlformats.org/drawingml/2006/main">
              <a:ext uri="{FF2B5EF4-FFF2-40B4-BE49-F238E27FC236}">
                <a16:creationId xmlns:a16="http://schemas.microsoft.com/office/drawing/2014/main" id="{76D75565-691D-4713-A194-5DC451550A91}"/>
              </a:ext>
            </a:extLst>
          </p:cNvPr>
          <p:cNvSpPr>
            <a:spLocks xmlns:a="http://schemas.openxmlformats.org/drawingml/2006/main" noGrp="1"/>
          </p:cNvSpPr>
          <p:nvPr/>
        </p:nvSpPr>
        <p:spPr>
          <a:xfrm xmlns:a="http://schemas.openxmlformats.org/drawingml/2006/main">
            <a:off x="914400" y="2724150"/>
            <a:ext cx="11334750" cy="6858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22000"/>
              </a:lnSpc>
              <a:buNone/>
              <a:defRPr sz="1800">
                <a:solidFill>
                  <a:srgbClr val="526375"/>
                </a:solidFill>
              </a:defRPr>
            </a:pPr>
            <a:r>
              <a:rPr sz="1800">
                <a:solidFill>
                  <a:srgbClr val="526375"/>
                </a:solidFill>
              </a:rPr>
              <a:t>A successful rollout is less about feature count and more about whether each role updates the right layer at the right time.</a:t>
            </a:r>
          </a:p>
        </p:txBody>
      </p:sp>
      <p:sp>
        <p:nvSpPr>
          <p:cNvPr id="5" name="list.Start of week.title">
            <a:extLst xmlns:a="http://schemas.openxmlformats.org/drawingml/2006/main">
              <a:ext uri="{FF2B5EF4-FFF2-40B4-BE49-F238E27FC236}">
                <a16:creationId xmlns:a16="http://schemas.microsoft.com/office/drawing/2014/main" id="{12C7FAB7-E56D-422C-A2A5-FD00C607E260}"/>
              </a:ext>
            </a:extLst>
          </p:cNvPr>
          <p:cNvSpPr>
            <a:spLocks xmlns:a="http://schemas.openxmlformats.org/drawingml/2006/main" noGrp="1"/>
          </p:cNvSpPr>
          <p:nvPr/>
        </p:nvSpPr>
        <p:spPr>
          <a:xfrm xmlns:a="http://schemas.openxmlformats.org/drawingml/2006/main">
            <a:off x="914400" y="3714750"/>
            <a:ext cx="523875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b="1">
                <a:solidFill>
                  <a:srgbClr val="EF7D00"/>
                </a:solidFill>
              </a:defRPr>
            </a:pPr>
            <a:r>
              <a:rPr sz="1200" b="1">
                <a:solidFill>
                  <a:srgbClr val="EF7D00"/>
                </a:solidFill>
              </a:rPr>
              <a:t>START OF WEEK</a:t>
            </a:r>
          </a:p>
        </p:txBody>
      </p:sp>
      <p:sp>
        <p:nvSpPr>
          <p:cNvPr id="6" name="list.Start of week.item.1">
            <a:extLst xmlns:a="http://schemas.openxmlformats.org/drawingml/2006/main">
              <a:ext uri="{FF2B5EF4-FFF2-40B4-BE49-F238E27FC236}">
                <a16:creationId xmlns:a16="http://schemas.microsoft.com/office/drawing/2014/main" id="{231FAE46-5164-485D-B0CB-1A9F7CF2D5CF}"/>
              </a:ext>
            </a:extLst>
          </p:cNvPr>
          <p:cNvSpPr>
            <a:spLocks xmlns:a="http://schemas.openxmlformats.org/drawingml/2006/main" noGrp="1"/>
          </p:cNvSpPr>
          <p:nvPr/>
        </p:nvSpPr>
        <p:spPr>
          <a:xfrm xmlns:a="http://schemas.openxmlformats.org/drawingml/2006/main">
            <a:off x="914400" y="4038600"/>
            <a:ext cx="4343400" cy="666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20000"/>
              </a:lnSpc>
              <a:buNone/>
              <a:defRPr sz="1800">
                <a:solidFill>
                  <a:srgbClr val="073763"/>
                </a:solidFill>
              </a:defRPr>
            </a:pPr>
            <a:r>
              <a:rPr sz="1800">
                <a:solidFill>
                  <a:srgbClr val="073763"/>
                </a:solidFill>
              </a:rPr>
              <a:t>- Review planned allocations and overload risk.</a:t>
            </a:r>
          </a:p>
        </p:txBody>
      </p:sp>
      <p:sp>
        <p:nvSpPr>
          <p:cNvPr id="7" name="list.Start of week.item.2">
            <a:extLst xmlns:a="http://schemas.openxmlformats.org/drawingml/2006/main">
              <a:ext uri="{FF2B5EF4-FFF2-40B4-BE49-F238E27FC236}">
                <a16:creationId xmlns:a16="http://schemas.microsoft.com/office/drawing/2014/main" id="{E609B0B7-3199-4D24-AFEE-DBFF34BD7779}"/>
              </a:ext>
            </a:extLst>
          </p:cNvPr>
          <p:cNvSpPr>
            <a:spLocks xmlns:a="http://schemas.openxmlformats.org/drawingml/2006/main" noGrp="1"/>
          </p:cNvSpPr>
          <p:nvPr/>
        </p:nvSpPr>
        <p:spPr>
          <a:xfrm xmlns:a="http://schemas.openxmlformats.org/drawingml/2006/main">
            <a:off x="914400" y="4838700"/>
            <a:ext cx="4781550" cy="3429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20000"/>
              </a:lnSpc>
              <a:buNone/>
              <a:defRPr sz="1800">
                <a:solidFill>
                  <a:srgbClr val="073763"/>
                </a:solidFill>
              </a:defRPr>
            </a:pPr>
            <a:r>
              <a:rPr sz="1800">
                <a:solidFill>
                  <a:srgbClr val="073763"/>
                </a:solidFill>
              </a:rPr>
              <a:t>- Check underutilized capacity and forecast roll-offs.</a:t>
            </a:r>
          </a:p>
        </p:txBody>
      </p:sp>
      <p:sp>
        <p:nvSpPr>
          <p:cNvPr id="8" name="list.Start of week.item.3">
            <a:extLst xmlns:a="http://schemas.openxmlformats.org/drawingml/2006/main">
              <a:ext uri="{FF2B5EF4-FFF2-40B4-BE49-F238E27FC236}">
                <a16:creationId xmlns:a16="http://schemas.microsoft.com/office/drawing/2014/main" id="{7FE87A19-9B4D-49C2-A33A-E2E10BFA5FE1}"/>
              </a:ext>
            </a:extLst>
          </p:cNvPr>
          <p:cNvSpPr>
            <a:spLocks xmlns:a="http://schemas.openxmlformats.org/drawingml/2006/main" noGrp="1"/>
          </p:cNvSpPr>
          <p:nvPr/>
        </p:nvSpPr>
        <p:spPr>
          <a:xfrm xmlns:a="http://schemas.openxmlformats.org/drawingml/2006/main">
            <a:off x="914400" y="5295900"/>
            <a:ext cx="4895850" cy="666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20000"/>
              </a:lnSpc>
              <a:buNone/>
              <a:defRPr sz="1800">
                <a:solidFill>
                  <a:srgbClr val="073763"/>
                </a:solidFill>
              </a:defRPr>
            </a:pPr>
            <a:r>
              <a:rPr sz="1800">
                <a:solidFill>
                  <a:srgbClr val="073763"/>
                </a:solidFill>
              </a:rPr>
              <a:t>- Correct employee, client, or project ownership data first.</a:t>
            </a:r>
          </a:p>
        </p:txBody>
      </p:sp>
      <p:sp>
        <p:nvSpPr>
          <p:cNvPr id="9" name="list.Week close.title">
            <a:extLst xmlns:a="http://schemas.openxmlformats.org/drawingml/2006/main">
              <a:ext uri="{FF2B5EF4-FFF2-40B4-BE49-F238E27FC236}">
                <a16:creationId xmlns:a16="http://schemas.microsoft.com/office/drawing/2014/main" id="{2F730F67-CE45-4755-A76F-313B53AF397F}"/>
              </a:ext>
            </a:extLst>
          </p:cNvPr>
          <p:cNvSpPr>
            <a:spLocks xmlns:a="http://schemas.openxmlformats.org/drawingml/2006/main" noGrp="1"/>
          </p:cNvSpPr>
          <p:nvPr/>
        </p:nvSpPr>
        <p:spPr>
          <a:xfrm xmlns:a="http://schemas.openxmlformats.org/drawingml/2006/main">
            <a:off x="6534150" y="3714750"/>
            <a:ext cx="523875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b="1">
                <a:solidFill>
                  <a:srgbClr val="EF7D00"/>
                </a:solidFill>
              </a:defRPr>
            </a:pPr>
            <a:r>
              <a:rPr sz="1200" b="1">
                <a:solidFill>
                  <a:srgbClr val="EF7D00"/>
                </a:solidFill>
              </a:rPr>
              <a:t>WEEK CLOSE</a:t>
            </a:r>
          </a:p>
        </p:txBody>
      </p:sp>
      <p:sp>
        <p:nvSpPr>
          <p:cNvPr id="10" name="list.Week close.item.1">
            <a:extLst xmlns:a="http://schemas.openxmlformats.org/drawingml/2006/main">
              <a:ext uri="{FF2B5EF4-FFF2-40B4-BE49-F238E27FC236}">
                <a16:creationId xmlns:a16="http://schemas.microsoft.com/office/drawing/2014/main" id="{2E018827-AF33-437B-AD0D-5114647FC7AB}"/>
              </a:ext>
            </a:extLst>
          </p:cNvPr>
          <p:cNvSpPr>
            <a:spLocks xmlns:a="http://schemas.openxmlformats.org/drawingml/2006/main" noGrp="1"/>
          </p:cNvSpPr>
          <p:nvPr/>
        </p:nvSpPr>
        <p:spPr>
          <a:xfrm xmlns:a="http://schemas.openxmlformats.org/drawingml/2006/main">
            <a:off x="6534150" y="4038600"/>
            <a:ext cx="5029200" cy="3429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20000"/>
              </a:lnSpc>
              <a:buNone/>
              <a:defRPr sz="1800">
                <a:solidFill>
                  <a:srgbClr val="073763"/>
                </a:solidFill>
              </a:defRPr>
            </a:pPr>
            <a:r>
              <a:rPr sz="1800">
                <a:solidFill>
                  <a:srgbClr val="073763"/>
                </a:solidFill>
              </a:rPr>
              <a:t>- Employees submit timesheets against assigned work.</a:t>
            </a:r>
          </a:p>
        </p:txBody>
      </p:sp>
      <p:sp>
        <p:nvSpPr>
          <p:cNvPr id="11" name="list.Week close.item.2">
            <a:extLst xmlns:a="http://schemas.openxmlformats.org/drawingml/2006/main">
              <a:ext uri="{FF2B5EF4-FFF2-40B4-BE49-F238E27FC236}">
                <a16:creationId xmlns:a16="http://schemas.microsoft.com/office/drawing/2014/main" id="{3DAA2A95-38B8-4992-A78C-2C925687DA15}"/>
              </a:ext>
            </a:extLst>
          </p:cNvPr>
          <p:cNvSpPr>
            <a:spLocks xmlns:a="http://schemas.openxmlformats.org/drawingml/2006/main" noGrp="1"/>
          </p:cNvSpPr>
          <p:nvPr/>
        </p:nvSpPr>
        <p:spPr>
          <a:xfrm xmlns:a="http://schemas.openxmlformats.org/drawingml/2006/main">
            <a:off x="6534150" y="4495800"/>
            <a:ext cx="4438650" cy="666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20000"/>
              </a:lnSpc>
              <a:buNone/>
              <a:defRPr sz="1800">
                <a:solidFill>
                  <a:srgbClr val="073763"/>
                </a:solidFill>
              </a:defRPr>
            </a:pPr>
            <a:r>
              <a:rPr sz="1800">
                <a:solidFill>
                  <a:srgbClr val="073763"/>
                </a:solidFill>
              </a:rPr>
              <a:t>- Approvers clear pending review and send back corrections when needed.</a:t>
            </a:r>
          </a:p>
        </p:txBody>
      </p:sp>
      <p:sp>
        <p:nvSpPr>
          <p:cNvPr id="12" name="list.Week close.item.3">
            <a:extLst xmlns:a="http://schemas.openxmlformats.org/drawingml/2006/main">
              <a:ext uri="{FF2B5EF4-FFF2-40B4-BE49-F238E27FC236}">
                <a16:creationId xmlns:a16="http://schemas.microsoft.com/office/drawing/2014/main" id="{54AAD8EF-A7B8-4297-92D4-030F620ED0ED}"/>
              </a:ext>
            </a:extLst>
          </p:cNvPr>
          <p:cNvSpPr>
            <a:spLocks xmlns:a="http://schemas.openxmlformats.org/drawingml/2006/main" noGrp="1"/>
          </p:cNvSpPr>
          <p:nvPr/>
        </p:nvSpPr>
        <p:spPr>
          <a:xfrm xmlns:a="http://schemas.openxmlformats.org/drawingml/2006/main">
            <a:off x="6534150" y="5295900"/>
            <a:ext cx="4152900" cy="3429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20000"/>
              </a:lnSpc>
              <a:buNone/>
              <a:defRPr sz="1800">
                <a:solidFill>
                  <a:srgbClr val="073763"/>
                </a:solidFill>
              </a:defRPr>
            </a:pPr>
            <a:r>
              <a:rPr sz="1800">
                <a:solidFill>
                  <a:srgbClr val="073763"/>
                </a:solidFill>
              </a:rPr>
              <a:t>- Operations watch missing logs and backlog.</a:t>
            </a:r>
          </a:p>
        </p:txBody>
      </p:sp>
      <p:sp>
        <p:nvSpPr>
          <p:cNvPr id="13" name="list.Next week leadership review.title">
            <a:extLst xmlns:a="http://schemas.openxmlformats.org/drawingml/2006/main">
              <a:ext uri="{FF2B5EF4-FFF2-40B4-BE49-F238E27FC236}">
                <a16:creationId xmlns:a16="http://schemas.microsoft.com/office/drawing/2014/main" id="{D23702EB-427B-41EC-BAF2-53D30566F8A8}"/>
              </a:ext>
            </a:extLst>
          </p:cNvPr>
          <p:cNvSpPr>
            <a:spLocks xmlns:a="http://schemas.openxmlformats.org/drawingml/2006/main" noGrp="1"/>
          </p:cNvSpPr>
          <p:nvPr/>
        </p:nvSpPr>
        <p:spPr>
          <a:xfrm xmlns:a="http://schemas.openxmlformats.org/drawingml/2006/main">
            <a:off x="12134850" y="3714750"/>
            <a:ext cx="5238750" cy="1905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200" b="1">
                <a:solidFill>
                  <a:srgbClr val="EF7D00"/>
                </a:solidFill>
              </a:defRPr>
            </a:pPr>
            <a:r>
              <a:rPr sz="1200" b="1">
                <a:solidFill>
                  <a:srgbClr val="EF7D00"/>
                </a:solidFill>
              </a:rPr>
              <a:t>NEXT WEEK LEADERSHIP REVIEW</a:t>
            </a:r>
          </a:p>
        </p:txBody>
      </p:sp>
      <p:sp>
        <p:nvSpPr>
          <p:cNvPr id="14" name="list.Next week leadership review.item.1">
            <a:extLst xmlns:a="http://schemas.openxmlformats.org/drawingml/2006/main">
              <a:ext uri="{FF2B5EF4-FFF2-40B4-BE49-F238E27FC236}">
                <a16:creationId xmlns:a16="http://schemas.microsoft.com/office/drawing/2014/main" id="{42CFD77B-FD8F-4C34-B40D-053DA5887D5D}"/>
              </a:ext>
            </a:extLst>
          </p:cNvPr>
          <p:cNvSpPr>
            <a:spLocks xmlns:a="http://schemas.openxmlformats.org/drawingml/2006/main" noGrp="1"/>
          </p:cNvSpPr>
          <p:nvPr/>
        </p:nvSpPr>
        <p:spPr>
          <a:xfrm xmlns:a="http://schemas.openxmlformats.org/drawingml/2006/main">
            <a:off x="12134850" y="4038600"/>
            <a:ext cx="3657600" cy="666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20000"/>
              </a:lnSpc>
              <a:buNone/>
              <a:defRPr sz="1800">
                <a:solidFill>
                  <a:srgbClr val="073763"/>
                </a:solidFill>
              </a:defRPr>
            </a:pPr>
            <a:r>
              <a:rPr sz="1800">
                <a:solidFill>
                  <a:srgbClr val="073763"/>
                </a:solidFill>
              </a:rPr>
              <a:t>- Compare planned vs actual utilization.</a:t>
            </a:r>
          </a:p>
        </p:txBody>
      </p:sp>
      <p:sp>
        <p:nvSpPr>
          <p:cNvPr id="15" name="list.Next week leadership review.item.2">
            <a:extLst xmlns:a="http://schemas.openxmlformats.org/drawingml/2006/main">
              <a:ext uri="{FF2B5EF4-FFF2-40B4-BE49-F238E27FC236}">
                <a16:creationId xmlns:a16="http://schemas.microsoft.com/office/drawing/2014/main" id="{0F7E781F-9F59-4941-8E51-BCB873F6DEC2}"/>
              </a:ext>
            </a:extLst>
          </p:cNvPr>
          <p:cNvSpPr>
            <a:spLocks xmlns:a="http://schemas.openxmlformats.org/drawingml/2006/main" noGrp="1"/>
          </p:cNvSpPr>
          <p:nvPr/>
        </p:nvSpPr>
        <p:spPr>
          <a:xfrm xmlns:a="http://schemas.openxmlformats.org/drawingml/2006/main">
            <a:off x="12134850" y="4838700"/>
            <a:ext cx="5276850" cy="666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20000"/>
              </a:lnSpc>
              <a:buNone/>
              <a:defRPr sz="1800">
                <a:solidFill>
                  <a:srgbClr val="073763"/>
                </a:solidFill>
              </a:defRPr>
            </a:pPr>
            <a:r>
              <a:rPr sz="1800">
                <a:solidFill>
                  <a:srgbClr val="073763"/>
                </a:solidFill>
              </a:rPr>
              <a:t>- Use forecast for redeployment, hiring, or client demand planning.</a:t>
            </a:r>
          </a:p>
        </p:txBody>
      </p:sp>
      <p:sp>
        <p:nvSpPr>
          <p:cNvPr id="16" name="list.Next week leadership review.item.3">
            <a:extLst xmlns:a="http://schemas.openxmlformats.org/drawingml/2006/main">
              <a:ext uri="{FF2B5EF4-FFF2-40B4-BE49-F238E27FC236}">
                <a16:creationId xmlns:a16="http://schemas.microsoft.com/office/drawing/2014/main" id="{30FA07FF-C7EE-45E0-95CF-86915713E234}"/>
              </a:ext>
            </a:extLst>
          </p:cNvPr>
          <p:cNvSpPr>
            <a:spLocks xmlns:a="http://schemas.openxmlformats.org/drawingml/2006/main" noGrp="1"/>
          </p:cNvSpPr>
          <p:nvPr/>
        </p:nvSpPr>
        <p:spPr>
          <a:xfrm xmlns:a="http://schemas.openxmlformats.org/drawingml/2006/main">
            <a:off x="12134850" y="5619750"/>
            <a:ext cx="4533900" cy="6667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20000"/>
              </a:lnSpc>
              <a:buNone/>
              <a:defRPr sz="1800">
                <a:solidFill>
                  <a:srgbClr val="073763"/>
                </a:solidFill>
              </a:defRPr>
            </a:pPr>
            <a:r>
              <a:rPr sz="1800">
                <a:solidFill>
                  <a:srgbClr val="073763"/>
                </a:solidFill>
              </a:rPr>
              <a:t>- Use audit and exports for evidence, not manual reconstruction.</a:t>
            </a:r>
          </a:p>
        </p:txBody>
      </p:sp>
      <p:sp>
        <p:nvSpPr>
          <p:cNvPr id="17" name="">
            <a:extLst xmlns:a="http://schemas.openxmlformats.org/drawingml/2006/main">
              <a:ext uri="{FF2B5EF4-FFF2-40B4-BE49-F238E27FC236}">
                <a16:creationId xmlns:a16="http://schemas.microsoft.com/office/drawing/2014/main" id="{06C8A77A-B995-45BC-9126-93FD89505CA8}"/>
              </a:ext>
            </a:extLst>
          </p:cNvPr>
          <p:cNvSpPr>
            <a:spLocks xmlns:a="http://schemas.openxmlformats.org/drawingml/2006/main" noGrp="1"/>
          </p:cNvSpPr>
          <p:nvPr/>
        </p:nvSpPr>
        <p:spPr>
          <a:xfrm xmlns:a="http://schemas.openxmlformats.org/drawingml/2006/main">
            <a:off x="914400" y="6610350"/>
            <a:ext cx="16459200" cy="19050"/>
          </a:xfrm>
          <a:prstGeom xmlns:a="http://schemas.openxmlformats.org/drawingml/2006/main" prst="rect">
            <a:avLst/>
          </a:prstGeom>
          <a:solidFill xmlns:a="http://schemas.openxmlformats.org/drawingml/2006/main">
            <a:srgbClr val="D7DEE7"/>
          </a:solidFill>
          <a:ln xmlns:a="http://schemas.openxmlformats.org/drawingml/2006/main" w="0">
            <a:solidFill>
              <a:srgbClr val="D7DEE7"/>
            </a:solidFill>
            <a:prstDash val="solid"/>
          </a:ln>
        </p:spPr>
      </p:sp>
      <p:sp>
        <p:nvSpPr>
          <p:cNvPr id="18" name="slide-8.close">
            <a:extLst xmlns:a="http://schemas.openxmlformats.org/drawingml/2006/main">
              <a:ext uri="{FF2B5EF4-FFF2-40B4-BE49-F238E27FC236}">
                <a16:creationId xmlns:a16="http://schemas.microsoft.com/office/drawing/2014/main" id="{7DF40A9D-32CC-46E4-916D-171CBB2420F0}"/>
              </a:ext>
            </a:extLst>
          </p:cNvPr>
          <p:cNvSpPr>
            <a:spLocks xmlns:a="http://schemas.openxmlformats.org/drawingml/2006/main" noGrp="1"/>
          </p:cNvSpPr>
          <p:nvPr/>
        </p:nvSpPr>
        <p:spPr>
          <a:xfrm xmlns:a="http://schemas.openxmlformats.org/drawingml/2006/main">
            <a:off x="914400" y="6953250"/>
            <a:ext cx="15373350" cy="7620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lnSpc>
                <a:spcPct val="118000"/>
              </a:lnSpc>
              <a:buNone/>
              <a:defRPr sz="2100" b="1">
                <a:solidFill>
                  <a:srgbClr val="073763"/>
                </a:solidFill>
              </a:defRPr>
            </a:pPr>
            <a:r>
              <a:rPr sz="2100" b="1">
                <a:solidFill>
                  <a:srgbClr val="073763"/>
                </a:solidFill>
              </a:rPr>
              <a:t>Recommended close: run the live demo in the same order as the business flow. Dashboard for signal, drilldowns for explanation, Allocation Control and Timesheet Governance for transaction logic, then utilization pages plus audit for leadership confidence.</a:t>
            </a:r>
          </a:p>
        </p:txBody>
      </p:sp>
    </p:spTree>
    <p:extLst>
      <p:ext uri="{BB962C8B-B14F-4D97-AF65-F5344CB8AC3E}">
        <p14:creationId xmlns:p14="http://schemas.microsoft.com/office/powerpoint/2010/main" val="79466099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2026-05-07T05:05:13.6690000Z</dcterms:created>
  <dcterms:modified xsi:type="dcterms:W3CDTF">2026-05-07T05:05:13.6690000Z</dcterms:modified>
</coreProperties>
</file>